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3" r:id="rId2"/>
    <p:sldId id="832" r:id="rId3"/>
    <p:sldId id="301" r:id="rId4"/>
    <p:sldId id="833" r:id="rId5"/>
    <p:sldId id="834" r:id="rId6"/>
    <p:sldId id="823" r:id="rId7"/>
    <p:sldId id="835" r:id="rId8"/>
    <p:sldId id="305" r:id="rId9"/>
    <p:sldId id="842" r:id="rId10"/>
    <p:sldId id="264" r:id="rId11"/>
    <p:sldId id="307" r:id="rId12"/>
    <p:sldId id="836" r:id="rId13"/>
    <p:sldId id="256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6D58"/>
    <a:srgbClr val="657928"/>
    <a:srgbClr val="DCD3AD"/>
    <a:srgbClr val="83BBB7"/>
    <a:srgbClr val="69A6AD"/>
    <a:srgbClr val="006600"/>
    <a:srgbClr val="008000"/>
    <a:srgbClr val="FCE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94660"/>
  </p:normalViewPr>
  <p:slideViewPr>
    <p:cSldViewPr>
      <p:cViewPr varScale="1">
        <p:scale>
          <a:sx n="101" d="100"/>
          <a:sy n="101" d="100"/>
        </p:scale>
        <p:origin x="35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26A6CA-A9F2-4810-8317-BB6E5791D83F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</dgm:pt>
    <dgm:pt modelId="{C605E810-9995-4B9C-9ED3-286E278C76A5}">
      <dgm:prSet phldrT="[Text]" custT="1"/>
      <dgm:spPr/>
      <dgm:t>
        <a:bodyPr/>
        <a:lstStyle/>
        <a:p>
          <a:pPr algn="r"/>
          <a:r>
            <a:rPr lang="en-US" sz="1000" b="1" dirty="0">
              <a:latin typeface="Vagabond" pitchFamily="2" charset="0"/>
            </a:rPr>
            <a:t>RAWAT</a:t>
          </a:r>
        </a:p>
      </dgm:t>
    </dgm:pt>
    <dgm:pt modelId="{9BC06D47-F4B2-4269-96CA-11424E4EDAF5}" type="parTrans" cxnId="{C3C496FA-48EF-432C-B7B1-27A07FB8098E}">
      <dgm:prSet/>
      <dgm:spPr/>
      <dgm:t>
        <a:bodyPr/>
        <a:lstStyle/>
        <a:p>
          <a:endParaRPr lang="en-US" sz="2000"/>
        </a:p>
      </dgm:t>
    </dgm:pt>
    <dgm:pt modelId="{08894A45-4E50-407D-935B-CBFEB49A2B55}" type="sibTrans" cxnId="{C3C496FA-48EF-432C-B7B1-27A07FB8098E}">
      <dgm:prSet/>
      <dgm:spPr/>
      <dgm:t>
        <a:bodyPr/>
        <a:lstStyle/>
        <a:p>
          <a:endParaRPr lang="en-US" sz="2000"/>
        </a:p>
      </dgm:t>
    </dgm:pt>
    <dgm:pt modelId="{3F4B5A3C-D74E-4A98-923C-5F7E5865BF24}">
      <dgm:prSet phldrT="[Text]" custT="1"/>
      <dgm:spPr/>
      <dgm:t>
        <a:bodyPr/>
        <a:lstStyle/>
        <a:p>
          <a:pPr algn="r"/>
          <a:r>
            <a:rPr lang="en-US" sz="1000" b="1" dirty="0">
              <a:latin typeface="Vagabond" pitchFamily="2" charset="0"/>
            </a:rPr>
            <a:t>PANEN</a:t>
          </a:r>
        </a:p>
      </dgm:t>
    </dgm:pt>
    <dgm:pt modelId="{CA7F2B06-CC9D-4AD3-B94F-5901D63A45C8}" type="parTrans" cxnId="{9CB2652A-A9C6-4392-9933-C38274C9871B}">
      <dgm:prSet/>
      <dgm:spPr/>
      <dgm:t>
        <a:bodyPr/>
        <a:lstStyle/>
        <a:p>
          <a:endParaRPr lang="en-US" sz="2000"/>
        </a:p>
      </dgm:t>
    </dgm:pt>
    <dgm:pt modelId="{B7920C79-B690-4FCA-8637-91267A4A1F28}" type="sibTrans" cxnId="{9CB2652A-A9C6-4392-9933-C38274C9871B}">
      <dgm:prSet/>
      <dgm:spPr/>
      <dgm:t>
        <a:bodyPr/>
        <a:lstStyle/>
        <a:p>
          <a:endParaRPr lang="en-US" sz="2000"/>
        </a:p>
      </dgm:t>
    </dgm:pt>
    <dgm:pt modelId="{B7361DF7-2D72-47C6-AAEF-B4C4E233F087}">
      <dgm:prSet phldrT="[Text]" custT="1"/>
      <dgm:spPr/>
      <dgm:t>
        <a:bodyPr/>
        <a:lstStyle/>
        <a:p>
          <a:pPr algn="r"/>
          <a:r>
            <a:rPr lang="en-US" sz="1000" b="1" dirty="0">
              <a:latin typeface="Vagabond" pitchFamily="2" charset="0"/>
            </a:rPr>
            <a:t>ANGKUT</a:t>
          </a:r>
        </a:p>
      </dgm:t>
    </dgm:pt>
    <dgm:pt modelId="{C7BB572F-A4A8-4BD1-AE26-63E7ABE7C190}" type="parTrans" cxnId="{90D571E5-1028-4E20-A104-E8AE0E98C395}">
      <dgm:prSet/>
      <dgm:spPr/>
      <dgm:t>
        <a:bodyPr/>
        <a:lstStyle/>
        <a:p>
          <a:endParaRPr lang="en-US" sz="2000"/>
        </a:p>
      </dgm:t>
    </dgm:pt>
    <dgm:pt modelId="{A322FFBF-9B82-42B2-A3A2-44C576BC5841}" type="sibTrans" cxnId="{90D571E5-1028-4E20-A104-E8AE0E98C395}">
      <dgm:prSet/>
      <dgm:spPr/>
      <dgm:t>
        <a:bodyPr/>
        <a:lstStyle/>
        <a:p>
          <a:endParaRPr lang="en-US" sz="2000"/>
        </a:p>
      </dgm:t>
    </dgm:pt>
    <dgm:pt modelId="{76D2AD69-BAEE-4391-90E5-F2D068EA0F63}">
      <dgm:prSet phldrT="[Text]" custT="1"/>
      <dgm:spPr/>
      <dgm:t>
        <a:bodyPr/>
        <a:lstStyle/>
        <a:p>
          <a:pPr algn="r"/>
          <a:r>
            <a:rPr lang="en-US" sz="1000" b="1" dirty="0">
              <a:latin typeface="Vagabond" pitchFamily="2" charset="0"/>
            </a:rPr>
            <a:t>OLAH</a:t>
          </a:r>
        </a:p>
      </dgm:t>
    </dgm:pt>
    <dgm:pt modelId="{438FDF67-9390-4034-AD89-41DDED9363ED}" type="parTrans" cxnId="{D74CE44B-5EB1-4119-9128-4D3E1898854A}">
      <dgm:prSet/>
      <dgm:spPr/>
      <dgm:t>
        <a:bodyPr/>
        <a:lstStyle/>
        <a:p>
          <a:endParaRPr lang="en-US" sz="2000"/>
        </a:p>
      </dgm:t>
    </dgm:pt>
    <dgm:pt modelId="{5B0D4B6F-FFF0-4DF8-8EF8-83C69F74D8D9}" type="sibTrans" cxnId="{D74CE44B-5EB1-4119-9128-4D3E1898854A}">
      <dgm:prSet/>
      <dgm:spPr/>
      <dgm:t>
        <a:bodyPr/>
        <a:lstStyle/>
        <a:p>
          <a:endParaRPr lang="en-US" sz="2000"/>
        </a:p>
      </dgm:t>
    </dgm:pt>
    <dgm:pt modelId="{E051D9BA-21CE-4533-B5C1-5D401110BCD2}">
      <dgm:prSet phldrT="[Text]" custT="1"/>
      <dgm:spPr/>
      <dgm:t>
        <a:bodyPr/>
        <a:lstStyle/>
        <a:p>
          <a:pPr algn="r"/>
          <a:r>
            <a:rPr lang="en-US" sz="1000" b="1" dirty="0">
              <a:latin typeface="Vagabond" pitchFamily="2" charset="0"/>
            </a:rPr>
            <a:t>CPO</a:t>
          </a:r>
        </a:p>
      </dgm:t>
    </dgm:pt>
    <dgm:pt modelId="{05CCFC68-8698-454C-B6B2-DEE4CA062C49}" type="parTrans" cxnId="{03A259D0-42BD-48E1-84C4-93BF6C5F879C}">
      <dgm:prSet/>
      <dgm:spPr/>
      <dgm:t>
        <a:bodyPr/>
        <a:lstStyle/>
        <a:p>
          <a:endParaRPr lang="en-US" sz="2000"/>
        </a:p>
      </dgm:t>
    </dgm:pt>
    <dgm:pt modelId="{7027FB6D-09FC-4B4F-8CB0-5BACEB608D7F}" type="sibTrans" cxnId="{03A259D0-42BD-48E1-84C4-93BF6C5F879C}">
      <dgm:prSet/>
      <dgm:spPr/>
      <dgm:t>
        <a:bodyPr/>
        <a:lstStyle/>
        <a:p>
          <a:endParaRPr lang="en-US" sz="2000"/>
        </a:p>
      </dgm:t>
    </dgm:pt>
    <dgm:pt modelId="{66F859A8-5597-4BBB-BBE9-B716E050CFD1}" type="pres">
      <dgm:prSet presAssocID="{BC26A6CA-A9F2-4810-8317-BB6E5791D83F}" presName="Name0" presStyleCnt="0">
        <dgm:presLayoutVars>
          <dgm:dir/>
          <dgm:animLvl val="lvl"/>
          <dgm:resizeHandles val="exact"/>
        </dgm:presLayoutVars>
      </dgm:prSet>
      <dgm:spPr/>
    </dgm:pt>
    <dgm:pt modelId="{3E077E6A-450B-40EB-9453-CFAB9B7F6261}" type="pres">
      <dgm:prSet presAssocID="{C605E810-9995-4B9C-9ED3-286E278C76A5}" presName="parTxOnly" presStyleLbl="node1" presStyleIdx="0" presStyleCnt="5" custScaleX="114667" custScaleY="130659">
        <dgm:presLayoutVars>
          <dgm:chMax val="0"/>
          <dgm:chPref val="0"/>
          <dgm:bulletEnabled val="1"/>
        </dgm:presLayoutVars>
      </dgm:prSet>
      <dgm:spPr/>
    </dgm:pt>
    <dgm:pt modelId="{F15F9B33-70FB-4835-AF87-9C6050553F3D}" type="pres">
      <dgm:prSet presAssocID="{08894A45-4E50-407D-935B-CBFEB49A2B55}" presName="parTxOnlySpace" presStyleCnt="0"/>
      <dgm:spPr/>
    </dgm:pt>
    <dgm:pt modelId="{7CBA6265-F01C-4C0C-9FD6-1BA5B29058AD}" type="pres">
      <dgm:prSet presAssocID="{3F4B5A3C-D74E-4A98-923C-5F7E5865BF24}" presName="parTxOnly" presStyleLbl="node1" presStyleIdx="1" presStyleCnt="5" custScaleY="130659">
        <dgm:presLayoutVars>
          <dgm:chMax val="0"/>
          <dgm:chPref val="0"/>
          <dgm:bulletEnabled val="1"/>
        </dgm:presLayoutVars>
      </dgm:prSet>
      <dgm:spPr/>
    </dgm:pt>
    <dgm:pt modelId="{A28C5DAE-5324-4ADA-8439-DE1377664545}" type="pres">
      <dgm:prSet presAssocID="{B7920C79-B690-4FCA-8637-91267A4A1F28}" presName="parTxOnlySpace" presStyleCnt="0"/>
      <dgm:spPr/>
    </dgm:pt>
    <dgm:pt modelId="{20400C10-4A86-4FC0-95C3-86CA5C3B58F1}" type="pres">
      <dgm:prSet presAssocID="{B7361DF7-2D72-47C6-AAEF-B4C4E233F087}" presName="parTxOnly" presStyleLbl="node1" presStyleIdx="2" presStyleCnt="5" custScaleX="109471" custScaleY="130659">
        <dgm:presLayoutVars>
          <dgm:chMax val="0"/>
          <dgm:chPref val="0"/>
          <dgm:bulletEnabled val="1"/>
        </dgm:presLayoutVars>
      </dgm:prSet>
      <dgm:spPr/>
    </dgm:pt>
    <dgm:pt modelId="{E0267ED8-D41D-4A24-B9B1-000761DB9216}" type="pres">
      <dgm:prSet presAssocID="{A322FFBF-9B82-42B2-A3A2-44C576BC5841}" presName="parTxOnlySpace" presStyleCnt="0"/>
      <dgm:spPr/>
    </dgm:pt>
    <dgm:pt modelId="{EDD14CBC-E2CE-4C89-BC05-E8055965A3AD}" type="pres">
      <dgm:prSet presAssocID="{76D2AD69-BAEE-4391-90E5-F2D068EA0F63}" presName="parTxOnly" presStyleLbl="node1" presStyleIdx="3" presStyleCnt="5" custScaleY="130659">
        <dgm:presLayoutVars>
          <dgm:chMax val="0"/>
          <dgm:chPref val="0"/>
          <dgm:bulletEnabled val="1"/>
        </dgm:presLayoutVars>
      </dgm:prSet>
      <dgm:spPr/>
    </dgm:pt>
    <dgm:pt modelId="{748F9972-0B07-4031-BCF2-A7A34F249902}" type="pres">
      <dgm:prSet presAssocID="{5B0D4B6F-FFF0-4DF8-8EF8-83C69F74D8D9}" presName="parTxOnlySpace" presStyleCnt="0"/>
      <dgm:spPr/>
    </dgm:pt>
    <dgm:pt modelId="{DDD3EA39-0BC0-4CE2-9FFD-6B19C9A22BCE}" type="pres">
      <dgm:prSet presAssocID="{E051D9BA-21CE-4533-B5C1-5D401110BCD2}" presName="parTxOnly" presStyleLbl="node1" presStyleIdx="4" presStyleCnt="5" custScaleY="130659">
        <dgm:presLayoutVars>
          <dgm:chMax val="0"/>
          <dgm:chPref val="0"/>
          <dgm:bulletEnabled val="1"/>
        </dgm:presLayoutVars>
      </dgm:prSet>
      <dgm:spPr/>
    </dgm:pt>
  </dgm:ptLst>
  <dgm:cxnLst>
    <dgm:cxn modelId="{664BFF0B-169D-407E-B673-DC862EFC4B92}" type="presOf" srcId="{76D2AD69-BAEE-4391-90E5-F2D068EA0F63}" destId="{EDD14CBC-E2CE-4C89-BC05-E8055965A3AD}" srcOrd="0" destOrd="0" presId="urn:microsoft.com/office/officeart/2005/8/layout/chevron1"/>
    <dgm:cxn modelId="{9CB2652A-A9C6-4392-9933-C38274C9871B}" srcId="{BC26A6CA-A9F2-4810-8317-BB6E5791D83F}" destId="{3F4B5A3C-D74E-4A98-923C-5F7E5865BF24}" srcOrd="1" destOrd="0" parTransId="{CA7F2B06-CC9D-4AD3-B94F-5901D63A45C8}" sibTransId="{B7920C79-B690-4FCA-8637-91267A4A1F28}"/>
    <dgm:cxn modelId="{384D582D-6130-48A8-A8F9-2ECCFBB170DA}" type="presOf" srcId="{C605E810-9995-4B9C-9ED3-286E278C76A5}" destId="{3E077E6A-450B-40EB-9453-CFAB9B7F6261}" srcOrd="0" destOrd="0" presId="urn:microsoft.com/office/officeart/2005/8/layout/chevron1"/>
    <dgm:cxn modelId="{D74CE44B-5EB1-4119-9128-4D3E1898854A}" srcId="{BC26A6CA-A9F2-4810-8317-BB6E5791D83F}" destId="{76D2AD69-BAEE-4391-90E5-F2D068EA0F63}" srcOrd="3" destOrd="0" parTransId="{438FDF67-9390-4034-AD89-41DDED9363ED}" sibTransId="{5B0D4B6F-FFF0-4DF8-8EF8-83C69F74D8D9}"/>
    <dgm:cxn modelId="{62B1E350-079F-441E-B99E-664830D8C84B}" type="presOf" srcId="{3F4B5A3C-D74E-4A98-923C-5F7E5865BF24}" destId="{7CBA6265-F01C-4C0C-9FD6-1BA5B29058AD}" srcOrd="0" destOrd="0" presId="urn:microsoft.com/office/officeart/2005/8/layout/chevron1"/>
    <dgm:cxn modelId="{DAA00B75-74BC-4F0E-BCB4-AF8F810992BD}" type="presOf" srcId="{B7361DF7-2D72-47C6-AAEF-B4C4E233F087}" destId="{20400C10-4A86-4FC0-95C3-86CA5C3B58F1}" srcOrd="0" destOrd="0" presId="urn:microsoft.com/office/officeart/2005/8/layout/chevron1"/>
    <dgm:cxn modelId="{79EB8776-DD6A-4D3B-912B-CA661426AF45}" type="presOf" srcId="{E051D9BA-21CE-4533-B5C1-5D401110BCD2}" destId="{DDD3EA39-0BC0-4CE2-9FFD-6B19C9A22BCE}" srcOrd="0" destOrd="0" presId="urn:microsoft.com/office/officeart/2005/8/layout/chevron1"/>
    <dgm:cxn modelId="{B58B635A-A759-4202-8529-59EACF18094A}" type="presOf" srcId="{BC26A6CA-A9F2-4810-8317-BB6E5791D83F}" destId="{66F859A8-5597-4BBB-BBE9-B716E050CFD1}" srcOrd="0" destOrd="0" presId="urn:microsoft.com/office/officeart/2005/8/layout/chevron1"/>
    <dgm:cxn modelId="{03A259D0-42BD-48E1-84C4-93BF6C5F879C}" srcId="{BC26A6CA-A9F2-4810-8317-BB6E5791D83F}" destId="{E051D9BA-21CE-4533-B5C1-5D401110BCD2}" srcOrd="4" destOrd="0" parTransId="{05CCFC68-8698-454C-B6B2-DEE4CA062C49}" sibTransId="{7027FB6D-09FC-4B4F-8CB0-5BACEB608D7F}"/>
    <dgm:cxn modelId="{90D571E5-1028-4E20-A104-E8AE0E98C395}" srcId="{BC26A6CA-A9F2-4810-8317-BB6E5791D83F}" destId="{B7361DF7-2D72-47C6-AAEF-B4C4E233F087}" srcOrd="2" destOrd="0" parTransId="{C7BB572F-A4A8-4BD1-AE26-63E7ABE7C190}" sibTransId="{A322FFBF-9B82-42B2-A3A2-44C576BC5841}"/>
    <dgm:cxn modelId="{C3C496FA-48EF-432C-B7B1-27A07FB8098E}" srcId="{BC26A6CA-A9F2-4810-8317-BB6E5791D83F}" destId="{C605E810-9995-4B9C-9ED3-286E278C76A5}" srcOrd="0" destOrd="0" parTransId="{9BC06D47-F4B2-4269-96CA-11424E4EDAF5}" sibTransId="{08894A45-4E50-407D-935B-CBFEB49A2B55}"/>
    <dgm:cxn modelId="{CF2C79F5-6CBE-44DE-A5E1-D0C55AFD835D}" type="presParOf" srcId="{66F859A8-5597-4BBB-BBE9-B716E050CFD1}" destId="{3E077E6A-450B-40EB-9453-CFAB9B7F6261}" srcOrd="0" destOrd="0" presId="urn:microsoft.com/office/officeart/2005/8/layout/chevron1"/>
    <dgm:cxn modelId="{7479391D-6847-4C55-9595-415CEC40DCA6}" type="presParOf" srcId="{66F859A8-5597-4BBB-BBE9-B716E050CFD1}" destId="{F15F9B33-70FB-4835-AF87-9C6050553F3D}" srcOrd="1" destOrd="0" presId="urn:microsoft.com/office/officeart/2005/8/layout/chevron1"/>
    <dgm:cxn modelId="{A9A29BD1-0AAF-49B0-8932-87EDBD47D83E}" type="presParOf" srcId="{66F859A8-5597-4BBB-BBE9-B716E050CFD1}" destId="{7CBA6265-F01C-4C0C-9FD6-1BA5B29058AD}" srcOrd="2" destOrd="0" presId="urn:microsoft.com/office/officeart/2005/8/layout/chevron1"/>
    <dgm:cxn modelId="{30433965-55F8-42C9-A3E5-003CB32819E4}" type="presParOf" srcId="{66F859A8-5597-4BBB-BBE9-B716E050CFD1}" destId="{A28C5DAE-5324-4ADA-8439-DE1377664545}" srcOrd="3" destOrd="0" presId="urn:microsoft.com/office/officeart/2005/8/layout/chevron1"/>
    <dgm:cxn modelId="{7737AE13-1FAE-4E68-AEEF-73B3DA219A8B}" type="presParOf" srcId="{66F859A8-5597-4BBB-BBE9-B716E050CFD1}" destId="{20400C10-4A86-4FC0-95C3-86CA5C3B58F1}" srcOrd="4" destOrd="0" presId="urn:microsoft.com/office/officeart/2005/8/layout/chevron1"/>
    <dgm:cxn modelId="{A5FB06FE-AA9E-402C-B9C8-68496943AFCD}" type="presParOf" srcId="{66F859A8-5597-4BBB-BBE9-B716E050CFD1}" destId="{E0267ED8-D41D-4A24-B9B1-000761DB9216}" srcOrd="5" destOrd="0" presId="urn:microsoft.com/office/officeart/2005/8/layout/chevron1"/>
    <dgm:cxn modelId="{74627314-C028-4BDF-B309-0EEDD2137353}" type="presParOf" srcId="{66F859A8-5597-4BBB-BBE9-B716E050CFD1}" destId="{EDD14CBC-E2CE-4C89-BC05-E8055965A3AD}" srcOrd="6" destOrd="0" presId="urn:microsoft.com/office/officeart/2005/8/layout/chevron1"/>
    <dgm:cxn modelId="{987FEDBC-089A-4781-8161-678E5B8CB318}" type="presParOf" srcId="{66F859A8-5597-4BBB-BBE9-B716E050CFD1}" destId="{748F9972-0B07-4031-BCF2-A7A34F249902}" srcOrd="7" destOrd="0" presId="urn:microsoft.com/office/officeart/2005/8/layout/chevron1"/>
    <dgm:cxn modelId="{1D120A40-193D-4FFC-9B88-EFF7B45AEA78}" type="presParOf" srcId="{66F859A8-5597-4BBB-BBE9-B716E050CFD1}" destId="{DDD3EA39-0BC0-4CE2-9FFD-6B19C9A22BC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77E6A-450B-40EB-9453-CFAB9B7F6261}">
      <dsp:nvSpPr>
        <dsp:cNvPr id="0" name=""/>
        <dsp:cNvSpPr/>
      </dsp:nvSpPr>
      <dsp:spPr>
        <a:xfrm>
          <a:off x="115" y="280736"/>
          <a:ext cx="1159685" cy="52856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Vagabond" pitchFamily="2" charset="0"/>
            </a:rPr>
            <a:t>RAWAT</a:t>
          </a:r>
        </a:p>
      </dsp:txBody>
      <dsp:txXfrm>
        <a:off x="264399" y="280736"/>
        <a:ext cx="631117" cy="528568"/>
      </dsp:txXfrm>
    </dsp:sp>
    <dsp:sp modelId="{7CBA6265-F01C-4C0C-9FD6-1BA5B29058AD}">
      <dsp:nvSpPr>
        <dsp:cNvPr id="0" name=""/>
        <dsp:cNvSpPr/>
      </dsp:nvSpPr>
      <dsp:spPr>
        <a:xfrm>
          <a:off x="1058665" y="280736"/>
          <a:ext cx="1011351" cy="52856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Vagabond" pitchFamily="2" charset="0"/>
            </a:rPr>
            <a:t>PANEN</a:t>
          </a:r>
        </a:p>
      </dsp:txBody>
      <dsp:txXfrm>
        <a:off x="1322949" y="280736"/>
        <a:ext cx="482783" cy="528568"/>
      </dsp:txXfrm>
    </dsp:sp>
    <dsp:sp modelId="{20400C10-4A86-4FC0-95C3-86CA5C3B58F1}">
      <dsp:nvSpPr>
        <dsp:cNvPr id="0" name=""/>
        <dsp:cNvSpPr/>
      </dsp:nvSpPr>
      <dsp:spPr>
        <a:xfrm>
          <a:off x="1968881" y="280736"/>
          <a:ext cx="1107136" cy="52856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Vagabond" pitchFamily="2" charset="0"/>
            </a:rPr>
            <a:t>ANGKUT</a:t>
          </a:r>
        </a:p>
      </dsp:txBody>
      <dsp:txXfrm>
        <a:off x="2233165" y="280736"/>
        <a:ext cx="578568" cy="528568"/>
      </dsp:txXfrm>
    </dsp:sp>
    <dsp:sp modelId="{EDD14CBC-E2CE-4C89-BC05-E8055965A3AD}">
      <dsp:nvSpPr>
        <dsp:cNvPr id="0" name=""/>
        <dsp:cNvSpPr/>
      </dsp:nvSpPr>
      <dsp:spPr>
        <a:xfrm>
          <a:off x="2974882" y="280736"/>
          <a:ext cx="1011351" cy="52856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Vagabond" pitchFamily="2" charset="0"/>
            </a:rPr>
            <a:t>OLAH</a:t>
          </a:r>
        </a:p>
      </dsp:txBody>
      <dsp:txXfrm>
        <a:off x="3239166" y="280736"/>
        <a:ext cx="482783" cy="528568"/>
      </dsp:txXfrm>
    </dsp:sp>
    <dsp:sp modelId="{DDD3EA39-0BC0-4CE2-9FFD-6B19C9A22BCE}">
      <dsp:nvSpPr>
        <dsp:cNvPr id="0" name=""/>
        <dsp:cNvSpPr/>
      </dsp:nvSpPr>
      <dsp:spPr>
        <a:xfrm>
          <a:off x="3885098" y="280736"/>
          <a:ext cx="1011351" cy="52856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Vagabond" pitchFamily="2" charset="0"/>
            </a:rPr>
            <a:t>CPO</a:t>
          </a:r>
        </a:p>
      </dsp:txBody>
      <dsp:txXfrm>
        <a:off x="4149382" y="280736"/>
        <a:ext cx="482783" cy="528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44788-0D72-461D-8489-595FCF84407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7A4C5-A309-495A-89FB-0A9708832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7A4C5-A309-495A-89FB-0A97088321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54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7A4C5-A309-495A-89FB-0A97088321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9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7A4C5-A309-495A-89FB-0A97088321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94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7A4C5-A309-495A-89FB-0A97088321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75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96544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5909" y="372109"/>
            <a:ext cx="2296160" cy="2321560"/>
          </a:xfrm>
          <a:custGeom>
            <a:avLst/>
            <a:gdLst/>
            <a:ahLst/>
            <a:cxnLst/>
            <a:rect l="l" t="t" r="r" b="b"/>
            <a:pathLst>
              <a:path w="2296160" h="2321560">
                <a:moveTo>
                  <a:pt x="2296160" y="0"/>
                </a:moveTo>
                <a:lnTo>
                  <a:pt x="0" y="2321560"/>
                </a:lnTo>
                <a:lnTo>
                  <a:pt x="0" y="0"/>
                </a:lnTo>
                <a:lnTo>
                  <a:pt x="2296160" y="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69459" y="0"/>
            <a:ext cx="3395979" cy="6858000"/>
          </a:xfrm>
          <a:custGeom>
            <a:avLst/>
            <a:gdLst/>
            <a:ahLst/>
            <a:cxnLst/>
            <a:rect l="l" t="t" r="r" b="b"/>
            <a:pathLst>
              <a:path w="3395979" h="6858000">
                <a:moveTo>
                  <a:pt x="3395980" y="0"/>
                </a:moveTo>
                <a:lnTo>
                  <a:pt x="0" y="0"/>
                </a:lnTo>
                <a:lnTo>
                  <a:pt x="3395980" y="6858000"/>
                </a:lnTo>
                <a:lnTo>
                  <a:pt x="33959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5100" y="0"/>
            <a:ext cx="6944359" cy="13639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971540" y="0"/>
            <a:ext cx="6217920" cy="1389380"/>
          </a:xfrm>
          <a:custGeom>
            <a:avLst/>
            <a:gdLst/>
            <a:ahLst/>
            <a:cxnLst/>
            <a:rect l="l" t="t" r="r" b="b"/>
            <a:pathLst>
              <a:path w="6217920" h="1389380">
                <a:moveTo>
                  <a:pt x="1813560" y="5080"/>
                </a:moveTo>
                <a:lnTo>
                  <a:pt x="0" y="5080"/>
                </a:lnTo>
                <a:lnTo>
                  <a:pt x="906780" y="1389380"/>
                </a:lnTo>
                <a:lnTo>
                  <a:pt x="1813560" y="5080"/>
                </a:lnTo>
                <a:close/>
              </a:path>
              <a:path w="6217920" h="1389380">
                <a:moveTo>
                  <a:pt x="3263900" y="1371600"/>
                </a:moveTo>
                <a:lnTo>
                  <a:pt x="2365438" y="0"/>
                </a:lnTo>
                <a:lnTo>
                  <a:pt x="2348788" y="0"/>
                </a:lnTo>
                <a:lnTo>
                  <a:pt x="1450340" y="1371600"/>
                </a:lnTo>
                <a:lnTo>
                  <a:pt x="3263900" y="1371600"/>
                </a:lnTo>
                <a:close/>
              </a:path>
              <a:path w="6217920" h="1389380">
                <a:moveTo>
                  <a:pt x="4704270" y="0"/>
                </a:moveTo>
                <a:lnTo>
                  <a:pt x="2910636" y="0"/>
                </a:lnTo>
                <a:lnTo>
                  <a:pt x="3807460" y="1371600"/>
                </a:lnTo>
                <a:lnTo>
                  <a:pt x="4704270" y="0"/>
                </a:lnTo>
                <a:close/>
              </a:path>
              <a:path w="6217920" h="1389380">
                <a:moveTo>
                  <a:pt x="6217907" y="1361300"/>
                </a:moveTo>
                <a:lnTo>
                  <a:pt x="5327840" y="0"/>
                </a:lnTo>
                <a:lnTo>
                  <a:pt x="5304587" y="0"/>
                </a:lnTo>
                <a:lnTo>
                  <a:pt x="4409440" y="1369060"/>
                </a:lnTo>
                <a:lnTo>
                  <a:pt x="6217907" y="1369060"/>
                </a:lnTo>
                <a:lnTo>
                  <a:pt x="6217907" y="1361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546090" y="377190"/>
            <a:ext cx="876300" cy="812800"/>
          </a:xfrm>
          <a:custGeom>
            <a:avLst/>
            <a:gdLst/>
            <a:ahLst/>
            <a:cxnLst/>
            <a:rect l="l" t="t" r="r" b="b"/>
            <a:pathLst>
              <a:path w="876300" h="812800">
                <a:moveTo>
                  <a:pt x="0" y="812800"/>
                </a:moveTo>
                <a:lnTo>
                  <a:pt x="438150" y="0"/>
                </a:lnTo>
                <a:lnTo>
                  <a:pt x="876300" y="812800"/>
                </a:lnTo>
                <a:lnTo>
                  <a:pt x="0" y="8128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548880" y="3886200"/>
            <a:ext cx="1685289" cy="0"/>
          </a:xfrm>
          <a:custGeom>
            <a:avLst/>
            <a:gdLst/>
            <a:ahLst/>
            <a:cxnLst/>
            <a:rect l="l" t="t" r="r" b="b"/>
            <a:pathLst>
              <a:path w="1685290">
                <a:moveTo>
                  <a:pt x="0" y="0"/>
                </a:moveTo>
                <a:lnTo>
                  <a:pt x="1685290" y="0"/>
                </a:lnTo>
              </a:path>
            </a:pathLst>
          </a:custGeom>
          <a:ln w="20320">
            <a:solidFill>
              <a:srgbClr val="176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54594" y="2536190"/>
            <a:ext cx="4081145" cy="1306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D3C00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D3C00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D3C00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D3C00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820866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2732813"/>
            <a:ext cx="5181600" cy="205121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3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217" y="96773"/>
            <a:ext cx="806132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D3C00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3840" y="2109470"/>
            <a:ext cx="8069580" cy="4623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microsoft.com/office/2007/relationships/diagramDrawing" Target="../diagrams/drawing1.xml"/><Relationship Id="rId3" Type="http://schemas.openxmlformats.org/officeDocument/2006/relationships/image" Target="../media/image6.png"/><Relationship Id="rId21" Type="http://schemas.openxmlformats.org/officeDocument/2006/relationships/image" Target="../media/image18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6" Type="http://schemas.openxmlformats.org/officeDocument/2006/relationships/diagramQuickStyle" Target="../diagrams/quickStyle1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diagramLayout" Target="../diagrams/layout1.xml"/><Relationship Id="rId10" Type="http://schemas.openxmlformats.org/officeDocument/2006/relationships/image" Target="../media/image13.png"/><Relationship Id="rId19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diagramData" Target="../diagrams/data1.xml"/><Relationship Id="rId22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Relationship Id="rId9" Type="http://schemas.openxmlformats.org/officeDocument/2006/relationships/image" Target="../media/image3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A455A0-61A5-FF0A-C93B-F5C693661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10287000" cy="6858000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F0AB47C4-DB14-E86A-2C8F-923057018849}"/>
              </a:ext>
            </a:extLst>
          </p:cNvPr>
          <p:cNvSpPr/>
          <p:nvPr/>
        </p:nvSpPr>
        <p:spPr>
          <a:xfrm>
            <a:off x="-1870933" y="0"/>
            <a:ext cx="7566883" cy="7162800"/>
          </a:xfrm>
          <a:prstGeom prst="parallelogram">
            <a:avLst/>
          </a:prstGeom>
          <a:solidFill>
            <a:srgbClr val="5D6D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ject 11">
            <a:extLst>
              <a:ext uri="{FF2B5EF4-FFF2-40B4-BE49-F238E27FC236}">
                <a16:creationId xmlns:a16="http://schemas.microsoft.com/office/drawing/2014/main" id="{D2898C25-2017-09F7-1737-F3537921F1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271074"/>
            <a:ext cx="1401633" cy="13399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69EA4D-F572-3BA6-184D-EE4BDF1D8A91}"/>
              </a:ext>
            </a:extLst>
          </p:cNvPr>
          <p:cNvSpPr/>
          <p:nvPr/>
        </p:nvSpPr>
        <p:spPr>
          <a:xfrm>
            <a:off x="-476250" y="1524000"/>
            <a:ext cx="5829300" cy="2280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HERBI Sense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1C2E1CB-5841-F2AC-1E00-AA19F629FBDD}"/>
              </a:ext>
            </a:extLst>
          </p:cNvPr>
          <p:cNvSpPr/>
          <p:nvPr/>
        </p:nvSpPr>
        <p:spPr>
          <a:xfrm>
            <a:off x="5029200" y="5465618"/>
            <a:ext cx="2133600" cy="304800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pPr algn="ctr"/>
            <a:r>
              <a:rPr lang="en-US" sz="2000" b="1" dirty="0"/>
              <a:t>ANAK SAWIT</a:t>
            </a:r>
            <a:endParaRPr sz="2000" b="1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FFEE730-E883-8705-F6BD-15D0DC9F5995}"/>
              </a:ext>
            </a:extLst>
          </p:cNvPr>
          <p:cNvSpPr/>
          <p:nvPr/>
        </p:nvSpPr>
        <p:spPr>
          <a:xfrm>
            <a:off x="3467100" y="5868554"/>
            <a:ext cx="5257800" cy="304800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pPr algn="ctr"/>
            <a:r>
              <a:rPr lang="en-US" sz="2000" b="1" dirty="0"/>
              <a:t>PT. GUNUNG SEJAHTERA PUTI PESONA</a:t>
            </a:r>
            <a:endParaRPr sz="2000" b="1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DE1C36C-7BBC-2901-4A64-F5398FD78E98}"/>
              </a:ext>
            </a:extLst>
          </p:cNvPr>
          <p:cNvSpPr/>
          <p:nvPr/>
        </p:nvSpPr>
        <p:spPr>
          <a:xfrm>
            <a:off x="563432" y="3124199"/>
            <a:ext cx="4008567" cy="551037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pPr algn="ctr"/>
            <a:r>
              <a:rPr lang="en-US" sz="2000" b="1" dirty="0"/>
              <a:t>Integrasi Proses Rawat Chemist </a:t>
            </a:r>
            <a:r>
              <a:rPr lang="en-US" sz="2000" b="1" dirty="0" err="1"/>
              <a:t>dengan</a:t>
            </a:r>
            <a:r>
              <a:rPr lang="en-US" sz="2000" b="1" dirty="0"/>
              <a:t> </a:t>
            </a:r>
            <a:r>
              <a:rPr lang="en-US" sz="2000" b="1" dirty="0" err="1"/>
              <a:t>memanfaatkan</a:t>
            </a:r>
            <a:r>
              <a:rPr lang="en-US" sz="2000" b="1" dirty="0"/>
              <a:t> AI</a:t>
            </a:r>
            <a:endParaRPr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9D60B-602C-C66A-CFCF-67DBD88C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8B1DDB-E73D-F883-0AFC-97C8E7B5D3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rgbClr val="205868"/>
                </a:solidFill>
                <a:latin typeface="MgOpen Modata" panose="00000400000000000000" pitchFamily="2" charset="0"/>
              </a:rPr>
              <a:t>PROFILE TEAM </a:t>
            </a:r>
            <a:endParaRPr spc="-10" dirty="0">
              <a:solidFill>
                <a:srgbClr val="FFC000"/>
              </a:solidFill>
              <a:latin typeface="MgOpen Modata" panose="00000400000000000000" pitchFamily="2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4EA6A0F-541D-F9C1-A90D-D31C48D39B29}"/>
              </a:ext>
            </a:extLst>
          </p:cNvPr>
          <p:cNvGrpSpPr/>
          <p:nvPr/>
        </p:nvGrpSpPr>
        <p:grpSpPr>
          <a:xfrm>
            <a:off x="227329" y="629919"/>
            <a:ext cx="10821670" cy="58419"/>
            <a:chOff x="227329" y="629919"/>
            <a:chExt cx="10821670" cy="58419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4CD6696-0A13-70B2-FF6A-9D659F3BC9B1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gOpen Modata" panose="00000400000000000000" pitchFamily="2" charset="0"/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F355E6-DA68-DB1A-998B-F07E4C5330EE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gOpen Modata" panose="00000400000000000000" pitchFamily="2" charset="0"/>
              </a:endParaRPr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9E53B3E8-29D0-85AB-932E-437940C1E530}"/>
              </a:ext>
            </a:extLst>
          </p:cNvPr>
          <p:cNvSpPr/>
          <p:nvPr/>
        </p:nvSpPr>
        <p:spPr>
          <a:xfrm>
            <a:off x="5637639" y="659128"/>
            <a:ext cx="6572867" cy="6231821"/>
          </a:xfrm>
          <a:prstGeom prst="rect">
            <a:avLst/>
          </a:prstGeom>
          <a:solidFill>
            <a:srgbClr val="FCE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gOpen Modata" panose="00000400000000000000" pitchFamily="2" charset="0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47A2E15D-553D-AFC4-C589-C23B4AAD8F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6846" y="76200"/>
            <a:ext cx="654627" cy="685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B7022-6C19-2A59-C299-CBF93C8AF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50" t="36105" r="19297" b="13534"/>
          <a:stretch>
            <a:fillRect/>
          </a:stretch>
        </p:blipFill>
        <p:spPr>
          <a:xfrm>
            <a:off x="9478243" y="617940"/>
            <a:ext cx="1200743" cy="1719869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67B808D3-9DC3-2220-3814-EDAB17F8962D}"/>
              </a:ext>
            </a:extLst>
          </p:cNvPr>
          <p:cNvSpPr/>
          <p:nvPr/>
        </p:nvSpPr>
        <p:spPr>
          <a:xfrm>
            <a:off x="9303671" y="2264008"/>
            <a:ext cx="1549886" cy="368300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gOpen Modata" panose="00000400000000000000" pitchFamily="2" charset="0"/>
              </a:rPr>
              <a:t>FASILITATOR</a:t>
            </a:r>
            <a:endParaRPr b="1" dirty="0">
              <a:solidFill>
                <a:schemeClr val="bg1"/>
              </a:solidFill>
              <a:latin typeface="MgOpen Modata" panose="000004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1D30C4-ED9E-E349-7AAF-5091E9A25DC5}"/>
              </a:ext>
            </a:extLst>
          </p:cNvPr>
          <p:cNvSpPr txBox="1"/>
          <p:nvPr/>
        </p:nvSpPr>
        <p:spPr>
          <a:xfrm>
            <a:off x="9090622" y="2353016"/>
            <a:ext cx="20926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600" dirty="0">
              <a:latin typeface="MgOpen Modata" panose="00000400000000000000" pitchFamily="2" charset="0"/>
            </a:endParaRPr>
          </a:p>
          <a:p>
            <a:pPr algn="ctr">
              <a:defRPr sz="1600" b="1">
                <a:solidFill>
                  <a:srgbClr val="006600"/>
                </a:solidFill>
              </a:defRPr>
            </a:pPr>
            <a:r>
              <a:rPr lang="en-US" sz="1400" dirty="0">
                <a:latin typeface="MgOpen Modata" panose="00000400000000000000" pitchFamily="2" charset="0"/>
              </a:rPr>
              <a:t>Iwan </a:t>
            </a:r>
            <a:r>
              <a:rPr lang="en-US" sz="1400" dirty="0" err="1">
                <a:latin typeface="MgOpen Modata" panose="00000400000000000000" pitchFamily="2" charset="0"/>
              </a:rPr>
              <a:t>Sukamto</a:t>
            </a:r>
            <a:endParaRPr lang="en-US" sz="1400" dirty="0">
              <a:latin typeface="MgOpen Modata" panose="00000400000000000000" pitchFamily="2" charset="0"/>
            </a:endParaRPr>
          </a:p>
          <a:p>
            <a:pPr algn="ctr">
              <a:defRPr sz="1600" b="1">
                <a:solidFill>
                  <a:srgbClr val="006600"/>
                </a:solidFill>
              </a:defRPr>
            </a:pPr>
            <a:r>
              <a:rPr lang="en-US" sz="1400" dirty="0" err="1">
                <a:latin typeface="MgOpen Modata" panose="00000400000000000000" pitchFamily="2" charset="0"/>
              </a:rPr>
              <a:t>Kepala</a:t>
            </a:r>
            <a:r>
              <a:rPr lang="en-US" sz="1400" dirty="0">
                <a:latin typeface="MgOpen Modata" panose="00000400000000000000" pitchFamily="2" charset="0"/>
              </a:rPr>
              <a:t> Kebun Ry 2</a:t>
            </a:r>
            <a:endParaRPr sz="1400" dirty="0">
              <a:latin typeface="MgOpen Modata" panose="00000400000000000000" pitchFamily="2" charset="0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4530E995-B346-D91F-4E9F-0B64A3E25C0E}"/>
              </a:ext>
            </a:extLst>
          </p:cNvPr>
          <p:cNvSpPr txBox="1"/>
          <p:nvPr/>
        </p:nvSpPr>
        <p:spPr>
          <a:xfrm>
            <a:off x="319218" y="3014056"/>
            <a:ext cx="11079565" cy="11439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746490" algn="just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latin typeface="MgOpen Modata" panose="00000400000000000000" pitchFamily="2" charset="0"/>
                <a:cs typeface="Calibri"/>
              </a:rPr>
              <a:t>PT</a:t>
            </a:r>
            <a:r>
              <a:rPr sz="1050" b="1" spc="145" dirty="0">
                <a:latin typeface="MgOpen Modata" panose="00000400000000000000" pitchFamily="2" charset="0"/>
                <a:cs typeface="Calibri"/>
              </a:rPr>
              <a:t> </a:t>
            </a:r>
            <a:r>
              <a:rPr lang="en-US" sz="1050" b="1" spc="145" dirty="0">
                <a:latin typeface="MgOpen Modata" panose="00000400000000000000" pitchFamily="2" charset="0"/>
                <a:cs typeface="Calibri"/>
              </a:rPr>
              <a:t>GUNUNG SEJAHTERA PUTI PESONA</a:t>
            </a:r>
            <a:r>
              <a:rPr sz="1050" b="1" spc="150" dirty="0">
                <a:latin typeface="MgOpen Modata" panose="00000400000000000000" pitchFamily="2" charset="0"/>
                <a:cs typeface="Calibri"/>
              </a:rPr>
              <a:t> </a:t>
            </a:r>
            <a:r>
              <a:rPr lang="en-US" sz="1050" b="1" spc="150" dirty="0">
                <a:latin typeface="MgOpen Modata" panose="00000400000000000000" pitchFamily="2" charset="0"/>
                <a:cs typeface="Calibri"/>
              </a:rPr>
              <a:t> (GSPP) </a:t>
            </a:r>
            <a:r>
              <a:rPr sz="1050" dirty="0" err="1">
                <a:latin typeface="MgOpen Modata" panose="00000400000000000000" pitchFamily="2" charset="0"/>
                <a:cs typeface="Calibri"/>
              </a:rPr>
              <a:t>Merupakan</a:t>
            </a:r>
            <a:r>
              <a:rPr sz="1050" spc="145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spc="-20" dirty="0">
                <a:latin typeface="MgOpen Modata" panose="00000400000000000000" pitchFamily="2" charset="0"/>
                <a:cs typeface="Calibri"/>
              </a:rPr>
              <a:t>anak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usaha</a:t>
            </a:r>
            <a:r>
              <a:rPr sz="1050" spc="19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dari</a:t>
            </a:r>
            <a:r>
              <a:rPr sz="1050" spc="185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PT</a:t>
            </a:r>
            <a:r>
              <a:rPr sz="1050" spc="20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Astra</a:t>
            </a:r>
            <a:r>
              <a:rPr sz="1050" spc="204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Agro</a:t>
            </a:r>
            <a:r>
              <a:rPr sz="1050" spc="21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Lestari</a:t>
            </a:r>
            <a:r>
              <a:rPr sz="1050" spc="204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Tbk.</a:t>
            </a:r>
            <a:r>
              <a:rPr sz="1050" spc="18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spc="-10" dirty="0">
                <a:latin typeface="MgOpen Modata" panose="00000400000000000000" pitchFamily="2" charset="0"/>
                <a:cs typeface="Calibri"/>
              </a:rPr>
              <a:t>Berdiri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sejak</a:t>
            </a:r>
            <a:r>
              <a:rPr sz="1050" spc="215" dirty="0">
                <a:latin typeface="MgOpen Modata" panose="00000400000000000000" pitchFamily="2" charset="0"/>
                <a:cs typeface="Calibri"/>
              </a:rPr>
              <a:t> 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Tahun</a:t>
            </a:r>
            <a:r>
              <a:rPr sz="1050" spc="210" dirty="0">
                <a:latin typeface="MgOpen Modata" panose="00000400000000000000" pitchFamily="2" charset="0"/>
                <a:cs typeface="Calibri"/>
              </a:rPr>
              <a:t> 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199</a:t>
            </a:r>
            <a:r>
              <a:rPr lang="en-US" sz="1050" dirty="0">
                <a:latin typeface="MgOpen Modata" panose="00000400000000000000" pitchFamily="2" charset="0"/>
                <a:cs typeface="Calibri"/>
              </a:rPr>
              <a:t>5</a:t>
            </a:r>
            <a:r>
              <a:rPr sz="1050" spc="204" dirty="0">
                <a:latin typeface="MgOpen Modata" panose="00000400000000000000" pitchFamily="2" charset="0"/>
                <a:cs typeface="Calibri"/>
              </a:rPr>
              <a:t> 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dan</a:t>
            </a:r>
            <a:r>
              <a:rPr sz="1050" spc="215" dirty="0">
                <a:latin typeface="MgOpen Modata" panose="00000400000000000000" pitchFamily="2" charset="0"/>
                <a:cs typeface="Calibri"/>
              </a:rPr>
              <a:t> 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terletak</a:t>
            </a:r>
            <a:r>
              <a:rPr sz="1050" spc="204" dirty="0">
                <a:latin typeface="MgOpen Modata" panose="00000400000000000000" pitchFamily="2" charset="0"/>
                <a:cs typeface="Calibri"/>
              </a:rPr>
              <a:t>  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di</a:t>
            </a:r>
            <a:r>
              <a:rPr sz="1050" spc="200" dirty="0">
                <a:latin typeface="MgOpen Modata" panose="00000400000000000000" pitchFamily="2" charset="0"/>
                <a:cs typeface="Calibri"/>
              </a:rPr>
              <a:t>  </a:t>
            </a:r>
            <a:r>
              <a:rPr sz="1050" spc="-20" dirty="0" err="1">
                <a:latin typeface="MgOpen Modata" panose="00000400000000000000" pitchFamily="2" charset="0"/>
                <a:cs typeface="Calibri"/>
              </a:rPr>
              <a:t>Desa</a:t>
            </a:r>
            <a:r>
              <a:rPr lang="en-US" sz="1050" spc="-20" dirty="0">
                <a:latin typeface="MgOpen Modata" panose="00000400000000000000" pitchFamily="2" charset="0"/>
                <a:cs typeface="Calibri"/>
              </a:rPr>
              <a:t> </a:t>
            </a:r>
            <a:r>
              <a:rPr lang="en-US" sz="1050" spc="-20" dirty="0" err="1">
                <a:latin typeface="MgOpen Modata" panose="00000400000000000000" pitchFamily="2" charset="0"/>
                <a:cs typeface="Calibri"/>
              </a:rPr>
              <a:t>Arga</a:t>
            </a:r>
            <a:r>
              <a:rPr lang="en-US" sz="1050" spc="-20" dirty="0">
                <a:latin typeface="MgOpen Modata" panose="00000400000000000000" pitchFamily="2" charset="0"/>
                <a:cs typeface="Calibri"/>
              </a:rPr>
              <a:t> Mulya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,</a:t>
            </a:r>
            <a:r>
              <a:rPr lang="en-US" sz="1050" spc="50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dirty="0" err="1">
                <a:latin typeface="MgOpen Modata" panose="00000400000000000000" pitchFamily="2" charset="0"/>
                <a:cs typeface="Calibri"/>
              </a:rPr>
              <a:t>Kabupaten</a:t>
            </a:r>
            <a:r>
              <a:rPr sz="1050" spc="405" dirty="0">
                <a:latin typeface="MgOpen Modata" panose="00000400000000000000" pitchFamily="2" charset="0"/>
                <a:cs typeface="Calibri"/>
              </a:rPr>
              <a:t>  </a:t>
            </a:r>
            <a:r>
              <a:rPr lang="en-US" sz="1050" spc="405" dirty="0" err="1">
                <a:latin typeface="MgOpen Modata" panose="00000400000000000000" pitchFamily="2" charset="0"/>
                <a:cs typeface="Calibri"/>
              </a:rPr>
              <a:t>Kotawaringin</a:t>
            </a:r>
            <a:r>
              <a:rPr lang="en-US" sz="1050" spc="405" dirty="0">
                <a:latin typeface="MgOpen Modata" panose="00000400000000000000" pitchFamily="2" charset="0"/>
                <a:cs typeface="Calibri"/>
              </a:rPr>
              <a:t> Barat, </a:t>
            </a:r>
            <a:r>
              <a:rPr sz="1050" dirty="0" err="1">
                <a:latin typeface="MgOpen Modata" panose="00000400000000000000" pitchFamily="2" charset="0"/>
                <a:cs typeface="Calibri"/>
              </a:rPr>
              <a:t>Provinsi</a:t>
            </a:r>
            <a:r>
              <a:rPr sz="1050" spc="5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50" spc="-10" dirty="0">
                <a:latin typeface="MgOpen Modata" panose="00000400000000000000" pitchFamily="2" charset="0"/>
                <a:cs typeface="Calibri"/>
              </a:rPr>
              <a:t>Kalimantan</a:t>
            </a:r>
            <a:r>
              <a:rPr sz="1050" dirty="0">
                <a:latin typeface="MgOpen Modata" panose="00000400000000000000" pitchFamily="2" charset="0"/>
                <a:cs typeface="Calibri"/>
              </a:rPr>
              <a:t> </a:t>
            </a:r>
            <a:r>
              <a:rPr lang="en-US" sz="1050" spc="-10" dirty="0">
                <a:latin typeface="MgOpen Modata" panose="00000400000000000000" pitchFamily="2" charset="0"/>
                <a:cs typeface="Calibri"/>
              </a:rPr>
              <a:t>Tengah</a:t>
            </a:r>
            <a:endParaRPr sz="1050" dirty="0">
              <a:latin typeface="MgOpen Modata" panose="00000400000000000000" pitchFamily="2" charset="0"/>
              <a:cs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DCBD43-8121-066D-452A-74F08F8F3E92}"/>
              </a:ext>
            </a:extLst>
          </p:cNvPr>
          <p:cNvGrpSpPr/>
          <p:nvPr/>
        </p:nvGrpSpPr>
        <p:grpSpPr>
          <a:xfrm>
            <a:off x="214655" y="1181340"/>
            <a:ext cx="2758943" cy="1851299"/>
            <a:chOff x="213533" y="1481958"/>
            <a:chExt cx="3073400" cy="1504949"/>
          </a:xfrm>
        </p:grpSpPr>
        <p:pic>
          <p:nvPicPr>
            <p:cNvPr id="17" name="object 56">
              <a:extLst>
                <a:ext uri="{FF2B5EF4-FFF2-40B4-BE49-F238E27FC236}">
                  <a16:creationId xmlns:a16="http://schemas.microsoft.com/office/drawing/2014/main" id="{A9FF797A-9013-08D6-322F-BBCAB34D0F6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059" y="1524876"/>
              <a:ext cx="71119" cy="62752"/>
            </a:xfrm>
            <a:prstGeom prst="rect">
              <a:avLst/>
            </a:prstGeom>
          </p:spPr>
        </p:pic>
        <p:grpSp>
          <p:nvGrpSpPr>
            <p:cNvPr id="18" name="object 6">
              <a:extLst>
                <a:ext uri="{FF2B5EF4-FFF2-40B4-BE49-F238E27FC236}">
                  <a16:creationId xmlns:a16="http://schemas.microsoft.com/office/drawing/2014/main" id="{AC44BF0E-CC6B-E718-D4EF-5E4066DF71BB}"/>
                </a:ext>
              </a:extLst>
            </p:cNvPr>
            <p:cNvGrpSpPr/>
            <p:nvPr/>
          </p:nvGrpSpPr>
          <p:grpSpPr>
            <a:xfrm>
              <a:off x="213533" y="1688332"/>
              <a:ext cx="3073400" cy="1298575"/>
              <a:chOff x="226059" y="993139"/>
              <a:chExt cx="3073400" cy="1298575"/>
            </a:xfrm>
          </p:grpSpPr>
          <p:pic>
            <p:nvPicPr>
              <p:cNvPr id="49" name="object 7">
                <a:extLst>
                  <a:ext uri="{FF2B5EF4-FFF2-40B4-BE49-F238E27FC236}">
                    <a16:creationId xmlns:a16="http://schemas.microsoft.com/office/drawing/2014/main" id="{68AF5695-9F74-7A38-A377-E3644D46A773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26059" y="993139"/>
                <a:ext cx="3073400" cy="1145539"/>
              </a:xfrm>
              <a:prstGeom prst="rect">
                <a:avLst/>
              </a:prstGeom>
            </p:spPr>
          </p:pic>
          <p:sp>
            <p:nvSpPr>
              <p:cNvPr id="50" name="object 8">
                <a:extLst>
                  <a:ext uri="{FF2B5EF4-FFF2-40B4-BE49-F238E27FC236}">
                    <a16:creationId xmlns:a16="http://schemas.microsoft.com/office/drawing/2014/main" id="{0D14DBE3-A4C2-F67B-0337-B7E3DFE98EA3}"/>
                  </a:ext>
                </a:extLst>
              </p:cNvPr>
              <p:cNvSpPr/>
              <p:nvPr/>
            </p:nvSpPr>
            <p:spPr>
              <a:xfrm>
                <a:off x="340956" y="1615439"/>
                <a:ext cx="1228090" cy="676275"/>
              </a:xfrm>
              <a:custGeom>
                <a:avLst/>
                <a:gdLst/>
                <a:ahLst/>
                <a:cxnLst/>
                <a:rect l="l" t="t" r="r" b="b"/>
                <a:pathLst>
                  <a:path w="1228090" h="676275">
                    <a:moveTo>
                      <a:pt x="31861" y="599555"/>
                    </a:moveTo>
                    <a:lnTo>
                      <a:pt x="0" y="599821"/>
                    </a:lnTo>
                    <a:lnTo>
                      <a:pt x="38773" y="675767"/>
                    </a:lnTo>
                    <a:lnTo>
                      <a:pt x="69807" y="612267"/>
                    </a:lnTo>
                    <a:lnTo>
                      <a:pt x="31864" y="612267"/>
                    </a:lnTo>
                    <a:lnTo>
                      <a:pt x="31861" y="599555"/>
                    </a:lnTo>
                    <a:close/>
                  </a:path>
                  <a:path w="1228090" h="676275">
                    <a:moveTo>
                      <a:pt x="44561" y="599449"/>
                    </a:moveTo>
                    <a:lnTo>
                      <a:pt x="31861" y="599555"/>
                    </a:lnTo>
                    <a:lnTo>
                      <a:pt x="31864" y="612267"/>
                    </a:lnTo>
                    <a:lnTo>
                      <a:pt x="44564" y="612267"/>
                    </a:lnTo>
                    <a:lnTo>
                      <a:pt x="44561" y="599449"/>
                    </a:lnTo>
                    <a:close/>
                  </a:path>
                  <a:path w="1228090" h="676275">
                    <a:moveTo>
                      <a:pt x="76200" y="599186"/>
                    </a:moveTo>
                    <a:lnTo>
                      <a:pt x="44561" y="599449"/>
                    </a:lnTo>
                    <a:lnTo>
                      <a:pt x="44564" y="612267"/>
                    </a:lnTo>
                    <a:lnTo>
                      <a:pt x="69807" y="612267"/>
                    </a:lnTo>
                    <a:lnTo>
                      <a:pt x="76200" y="599186"/>
                    </a:lnTo>
                    <a:close/>
                  </a:path>
                  <a:path w="1228090" h="676275">
                    <a:moveTo>
                      <a:pt x="1228001" y="0"/>
                    </a:moveTo>
                    <a:lnTo>
                      <a:pt x="31750" y="0"/>
                    </a:lnTo>
                    <a:lnTo>
                      <a:pt x="31861" y="599555"/>
                    </a:lnTo>
                    <a:lnTo>
                      <a:pt x="44561" y="599449"/>
                    </a:lnTo>
                    <a:lnTo>
                      <a:pt x="44451" y="12700"/>
                    </a:lnTo>
                    <a:lnTo>
                      <a:pt x="38100" y="12700"/>
                    </a:lnTo>
                    <a:lnTo>
                      <a:pt x="44450" y="6350"/>
                    </a:lnTo>
                    <a:lnTo>
                      <a:pt x="1228001" y="6350"/>
                    </a:lnTo>
                    <a:lnTo>
                      <a:pt x="1228001" y="0"/>
                    </a:lnTo>
                    <a:close/>
                  </a:path>
                  <a:path w="1228090" h="676275">
                    <a:moveTo>
                      <a:pt x="44450" y="6350"/>
                    </a:moveTo>
                    <a:lnTo>
                      <a:pt x="38100" y="12700"/>
                    </a:lnTo>
                    <a:lnTo>
                      <a:pt x="44451" y="12700"/>
                    </a:lnTo>
                    <a:lnTo>
                      <a:pt x="44450" y="6350"/>
                    </a:lnTo>
                    <a:close/>
                  </a:path>
                  <a:path w="1228090" h="676275">
                    <a:moveTo>
                      <a:pt x="1228001" y="6350"/>
                    </a:moveTo>
                    <a:lnTo>
                      <a:pt x="44450" y="6350"/>
                    </a:lnTo>
                    <a:lnTo>
                      <a:pt x="44451" y="12700"/>
                    </a:lnTo>
                    <a:lnTo>
                      <a:pt x="1228001" y="12700"/>
                    </a:lnTo>
                    <a:lnTo>
                      <a:pt x="1228001" y="63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MgOpen Modata" panose="00000400000000000000" pitchFamily="2" charset="0"/>
                </a:endParaRPr>
              </a:p>
            </p:txBody>
          </p:sp>
        </p:grpSp>
        <p:grpSp>
          <p:nvGrpSpPr>
            <p:cNvPr id="19" name="object 33">
              <a:extLst>
                <a:ext uri="{FF2B5EF4-FFF2-40B4-BE49-F238E27FC236}">
                  <a16:creationId xmlns:a16="http://schemas.microsoft.com/office/drawing/2014/main" id="{D9F2FEB1-EC28-A049-8F80-19275B96F821}"/>
                </a:ext>
              </a:extLst>
            </p:cNvPr>
            <p:cNvGrpSpPr/>
            <p:nvPr/>
          </p:nvGrpSpPr>
          <p:grpSpPr>
            <a:xfrm>
              <a:off x="226059" y="1698493"/>
              <a:ext cx="1859280" cy="657860"/>
              <a:chOff x="226059" y="1003300"/>
              <a:chExt cx="1859280" cy="657860"/>
            </a:xfrm>
          </p:grpSpPr>
          <p:pic>
            <p:nvPicPr>
              <p:cNvPr id="21" name="object 34">
                <a:extLst>
                  <a:ext uri="{FF2B5EF4-FFF2-40B4-BE49-F238E27FC236}">
                    <a16:creationId xmlns:a16="http://schemas.microsoft.com/office/drawing/2014/main" id="{005B4EB0-60B7-8584-2901-42339EA589CA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255352" y="1406151"/>
                <a:ext cx="233680" cy="236220"/>
              </a:xfrm>
              <a:prstGeom prst="rect">
                <a:avLst/>
              </a:prstGeom>
            </p:spPr>
          </p:pic>
          <p:pic>
            <p:nvPicPr>
              <p:cNvPr id="22" name="object 35">
                <a:extLst>
                  <a:ext uri="{FF2B5EF4-FFF2-40B4-BE49-F238E27FC236}">
                    <a16:creationId xmlns:a16="http://schemas.microsoft.com/office/drawing/2014/main" id="{EBD44546-6855-AE40-62A0-F55ED9D6B51F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6059" y="1003300"/>
                <a:ext cx="71119" cy="71120"/>
              </a:xfrm>
              <a:prstGeom prst="rect">
                <a:avLst/>
              </a:prstGeom>
            </p:spPr>
          </p:pic>
          <p:pic>
            <p:nvPicPr>
              <p:cNvPr id="23" name="object 36">
                <a:extLst>
                  <a:ext uri="{FF2B5EF4-FFF2-40B4-BE49-F238E27FC236}">
                    <a16:creationId xmlns:a16="http://schemas.microsoft.com/office/drawing/2014/main" id="{390BF510-2BF8-F03D-8B86-922CBA839FFC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07339" y="1031240"/>
                <a:ext cx="71119" cy="71120"/>
              </a:xfrm>
              <a:prstGeom prst="rect">
                <a:avLst/>
              </a:prstGeom>
            </p:spPr>
          </p:pic>
          <p:pic>
            <p:nvPicPr>
              <p:cNvPr id="24" name="object 37">
                <a:extLst>
                  <a:ext uri="{FF2B5EF4-FFF2-40B4-BE49-F238E27FC236}">
                    <a16:creationId xmlns:a16="http://schemas.microsoft.com/office/drawing/2014/main" id="{945732F5-67C0-1C4C-FC1B-751A78FDE5DE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6059" y="1074419"/>
                <a:ext cx="71119" cy="71120"/>
              </a:xfrm>
              <a:prstGeom prst="rect">
                <a:avLst/>
              </a:prstGeom>
            </p:spPr>
          </p:pic>
          <p:pic>
            <p:nvPicPr>
              <p:cNvPr id="25" name="object 38">
                <a:extLst>
                  <a:ext uri="{FF2B5EF4-FFF2-40B4-BE49-F238E27FC236}">
                    <a16:creationId xmlns:a16="http://schemas.microsoft.com/office/drawing/2014/main" id="{7578D194-D164-CEE5-5E7F-907887F656DE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12139" y="1272540"/>
                <a:ext cx="71120" cy="68579"/>
              </a:xfrm>
              <a:prstGeom prst="rect">
                <a:avLst/>
              </a:prstGeom>
            </p:spPr>
          </p:pic>
          <p:pic>
            <p:nvPicPr>
              <p:cNvPr id="26" name="object 39">
                <a:extLst>
                  <a:ext uri="{FF2B5EF4-FFF2-40B4-BE49-F238E27FC236}">
                    <a16:creationId xmlns:a16="http://schemas.microsoft.com/office/drawing/2014/main" id="{44A2CB58-5298-8DCF-33E0-15ADF73AF1D3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88340" y="1287779"/>
                <a:ext cx="71120" cy="71120"/>
              </a:xfrm>
              <a:prstGeom prst="rect">
                <a:avLst/>
              </a:prstGeom>
            </p:spPr>
          </p:pic>
          <p:pic>
            <p:nvPicPr>
              <p:cNvPr id="27" name="object 40">
                <a:extLst>
                  <a:ext uri="{FF2B5EF4-FFF2-40B4-BE49-F238E27FC236}">
                    <a16:creationId xmlns:a16="http://schemas.microsoft.com/office/drawing/2014/main" id="{D071F6AF-6BD6-EB17-5E9B-5B424566DA88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27379" y="1333500"/>
                <a:ext cx="71120" cy="71120"/>
              </a:xfrm>
              <a:prstGeom prst="rect">
                <a:avLst/>
              </a:prstGeom>
            </p:spPr>
          </p:pic>
          <p:pic>
            <p:nvPicPr>
              <p:cNvPr id="28" name="object 41">
                <a:extLst>
                  <a:ext uri="{FF2B5EF4-FFF2-40B4-BE49-F238E27FC236}">
                    <a16:creationId xmlns:a16="http://schemas.microsoft.com/office/drawing/2014/main" id="{2D6CA406-209E-79EA-9073-320841186781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08659" y="1346200"/>
                <a:ext cx="68579" cy="71120"/>
              </a:xfrm>
              <a:prstGeom prst="rect">
                <a:avLst/>
              </a:prstGeom>
            </p:spPr>
          </p:pic>
          <p:pic>
            <p:nvPicPr>
              <p:cNvPr id="29" name="object 42">
                <a:extLst>
                  <a:ext uri="{FF2B5EF4-FFF2-40B4-BE49-F238E27FC236}">
                    <a16:creationId xmlns:a16="http://schemas.microsoft.com/office/drawing/2014/main" id="{C9D6B369-A476-2E62-8C48-75B52D8592CD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47700" y="1394459"/>
                <a:ext cx="71120" cy="68579"/>
              </a:xfrm>
              <a:prstGeom prst="rect">
                <a:avLst/>
              </a:prstGeom>
            </p:spPr>
          </p:pic>
          <p:pic>
            <p:nvPicPr>
              <p:cNvPr id="31" name="object 43">
                <a:extLst>
                  <a:ext uri="{FF2B5EF4-FFF2-40B4-BE49-F238E27FC236}">
                    <a16:creationId xmlns:a16="http://schemas.microsoft.com/office/drawing/2014/main" id="{86713BB0-E5D3-3948-B414-E22266A43A3A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87400" y="1483359"/>
                <a:ext cx="71119" cy="71120"/>
              </a:xfrm>
              <a:prstGeom prst="rect">
                <a:avLst/>
              </a:prstGeom>
            </p:spPr>
          </p:pic>
          <p:pic>
            <p:nvPicPr>
              <p:cNvPr id="34" name="object 44">
                <a:extLst>
                  <a:ext uri="{FF2B5EF4-FFF2-40B4-BE49-F238E27FC236}">
                    <a16:creationId xmlns:a16="http://schemas.microsoft.com/office/drawing/2014/main" id="{3E018237-5ED3-190E-3FB9-61D40E1623A4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26440" y="1531619"/>
                <a:ext cx="71120" cy="68579"/>
              </a:xfrm>
              <a:prstGeom prst="rect">
                <a:avLst/>
              </a:prstGeom>
            </p:spPr>
          </p:pic>
          <p:pic>
            <p:nvPicPr>
              <p:cNvPr id="36" name="object 45">
                <a:extLst>
                  <a:ext uri="{FF2B5EF4-FFF2-40B4-BE49-F238E27FC236}">
                    <a16:creationId xmlns:a16="http://schemas.microsoft.com/office/drawing/2014/main" id="{DAE19687-11C6-9C7F-723C-170A07D4AC55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308099" y="1442719"/>
                <a:ext cx="71119" cy="71120"/>
              </a:xfrm>
              <a:prstGeom prst="rect">
                <a:avLst/>
              </a:prstGeom>
            </p:spPr>
          </p:pic>
          <p:pic>
            <p:nvPicPr>
              <p:cNvPr id="37" name="object 46">
                <a:extLst>
                  <a:ext uri="{FF2B5EF4-FFF2-40B4-BE49-F238E27FC236}">
                    <a16:creationId xmlns:a16="http://schemas.microsoft.com/office/drawing/2014/main" id="{B9F69571-1238-BB2E-B82E-C9264A36B58E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247140" y="1488440"/>
                <a:ext cx="71119" cy="71120"/>
              </a:xfrm>
              <a:prstGeom prst="rect">
                <a:avLst/>
              </a:prstGeom>
            </p:spPr>
          </p:pic>
          <p:pic>
            <p:nvPicPr>
              <p:cNvPr id="39" name="object 47">
                <a:extLst>
                  <a:ext uri="{FF2B5EF4-FFF2-40B4-BE49-F238E27FC236}">
                    <a16:creationId xmlns:a16="http://schemas.microsoft.com/office/drawing/2014/main" id="{2C866698-261A-A8A5-3FDC-930633D5C186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396999" y="1478280"/>
                <a:ext cx="68580" cy="71120"/>
              </a:xfrm>
              <a:prstGeom prst="rect">
                <a:avLst/>
              </a:prstGeom>
            </p:spPr>
          </p:pic>
          <p:pic>
            <p:nvPicPr>
              <p:cNvPr id="40" name="object 48">
                <a:extLst>
                  <a:ext uri="{FF2B5EF4-FFF2-40B4-BE49-F238E27FC236}">
                    <a16:creationId xmlns:a16="http://schemas.microsoft.com/office/drawing/2014/main" id="{B89B97CD-8C3D-6ADF-4D17-B84A4B43F13C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336040" y="1524000"/>
                <a:ext cx="71119" cy="71120"/>
              </a:xfrm>
              <a:prstGeom prst="rect">
                <a:avLst/>
              </a:prstGeom>
            </p:spPr>
          </p:pic>
          <p:pic>
            <p:nvPicPr>
              <p:cNvPr id="41" name="object 49">
                <a:extLst>
                  <a:ext uri="{FF2B5EF4-FFF2-40B4-BE49-F238E27FC236}">
                    <a16:creationId xmlns:a16="http://schemas.microsoft.com/office/drawing/2014/main" id="{CDD3D00B-B07F-BCDA-7D1A-39A98E8FED16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681479" y="1310640"/>
                <a:ext cx="71119" cy="71120"/>
              </a:xfrm>
              <a:prstGeom prst="rect">
                <a:avLst/>
              </a:prstGeom>
            </p:spPr>
          </p:pic>
          <p:pic>
            <p:nvPicPr>
              <p:cNvPr id="42" name="object 50">
                <a:extLst>
                  <a:ext uri="{FF2B5EF4-FFF2-40B4-BE49-F238E27FC236}">
                    <a16:creationId xmlns:a16="http://schemas.microsoft.com/office/drawing/2014/main" id="{E73564C4-BF3C-1C7B-A008-6E510CD8D941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620520" y="1356359"/>
                <a:ext cx="71119" cy="71120"/>
              </a:xfrm>
              <a:prstGeom prst="rect">
                <a:avLst/>
              </a:prstGeom>
            </p:spPr>
          </p:pic>
          <p:pic>
            <p:nvPicPr>
              <p:cNvPr id="43" name="object 51">
                <a:extLst>
                  <a:ext uri="{FF2B5EF4-FFF2-40B4-BE49-F238E27FC236}">
                    <a16:creationId xmlns:a16="http://schemas.microsoft.com/office/drawing/2014/main" id="{FFFCDC12-455A-A8D4-952E-2B5B7537A0FD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831340" y="1544319"/>
                <a:ext cx="71119" cy="71120"/>
              </a:xfrm>
              <a:prstGeom prst="rect">
                <a:avLst/>
              </a:prstGeom>
            </p:spPr>
          </p:pic>
          <p:pic>
            <p:nvPicPr>
              <p:cNvPr id="45" name="object 52">
                <a:extLst>
                  <a:ext uri="{FF2B5EF4-FFF2-40B4-BE49-F238E27FC236}">
                    <a16:creationId xmlns:a16="http://schemas.microsoft.com/office/drawing/2014/main" id="{74866262-CA7D-CCD7-2BEC-F765BADAB5E5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770379" y="1590040"/>
                <a:ext cx="71119" cy="71120"/>
              </a:xfrm>
              <a:prstGeom prst="rect">
                <a:avLst/>
              </a:prstGeom>
            </p:spPr>
          </p:pic>
          <p:pic>
            <p:nvPicPr>
              <p:cNvPr id="46" name="object 53">
                <a:extLst>
                  <a:ext uri="{FF2B5EF4-FFF2-40B4-BE49-F238E27FC236}">
                    <a16:creationId xmlns:a16="http://schemas.microsoft.com/office/drawing/2014/main" id="{1815534B-EDD0-E6AE-819C-B7F9A1A4D943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963420" y="1524000"/>
                <a:ext cx="71119" cy="71120"/>
              </a:xfrm>
              <a:prstGeom prst="rect">
                <a:avLst/>
              </a:prstGeom>
            </p:spPr>
          </p:pic>
          <p:pic>
            <p:nvPicPr>
              <p:cNvPr id="47" name="object 54">
                <a:extLst>
                  <a:ext uri="{FF2B5EF4-FFF2-40B4-BE49-F238E27FC236}">
                    <a16:creationId xmlns:a16="http://schemas.microsoft.com/office/drawing/2014/main" id="{5883C143-FF88-C408-FED4-58E410050409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887220" y="1506219"/>
                <a:ext cx="71119" cy="68579"/>
              </a:xfrm>
              <a:prstGeom prst="rect">
                <a:avLst/>
              </a:prstGeom>
            </p:spPr>
          </p:pic>
          <p:pic>
            <p:nvPicPr>
              <p:cNvPr id="48" name="object 55">
                <a:extLst>
                  <a:ext uri="{FF2B5EF4-FFF2-40B4-BE49-F238E27FC236}">
                    <a16:creationId xmlns:a16="http://schemas.microsoft.com/office/drawing/2014/main" id="{FA391BCB-2E51-E5F8-68BC-68335D4958FD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014220" y="1577340"/>
                <a:ext cx="71119" cy="71120"/>
              </a:xfrm>
              <a:prstGeom prst="rect">
                <a:avLst/>
              </a:prstGeom>
            </p:spPr>
          </p:pic>
        </p:grpSp>
        <p:sp>
          <p:nvSpPr>
            <p:cNvPr id="20" name="object 57">
              <a:extLst>
                <a:ext uri="{FF2B5EF4-FFF2-40B4-BE49-F238E27FC236}">
                  <a16:creationId xmlns:a16="http://schemas.microsoft.com/office/drawing/2014/main" id="{3235823A-35A4-3BD5-8A1C-486134ADA5ED}"/>
                </a:ext>
              </a:extLst>
            </p:cNvPr>
            <p:cNvSpPr txBox="1"/>
            <p:nvPr/>
          </p:nvSpPr>
          <p:spPr>
            <a:xfrm>
              <a:off x="300990" y="1481958"/>
              <a:ext cx="1348740" cy="18556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00" dirty="0">
                  <a:latin typeface="MgOpen Modata" panose="00000400000000000000" pitchFamily="2" charset="0"/>
                  <a:cs typeface="Calibri"/>
                </a:rPr>
                <a:t>=</a:t>
              </a:r>
              <a:r>
                <a:rPr sz="700" spc="-5" dirty="0">
                  <a:latin typeface="MgOpen Modata" panose="00000400000000000000" pitchFamily="2" charset="0"/>
                  <a:cs typeface="Calibri"/>
                </a:rPr>
                <a:t> </a:t>
              </a:r>
              <a:r>
                <a:rPr lang="en-US" sz="700" spc="-5" dirty="0">
                  <a:latin typeface="MgOpen Modata" panose="00000400000000000000" pitchFamily="2" charset="0"/>
                  <a:cs typeface="Calibri"/>
                </a:rPr>
                <a:t>KEBUN</a:t>
              </a:r>
              <a:r>
                <a:rPr sz="700" spc="-35" dirty="0">
                  <a:latin typeface="MgOpen Modata" panose="00000400000000000000" pitchFamily="2" charset="0"/>
                  <a:cs typeface="Calibri"/>
                </a:rPr>
                <a:t> </a:t>
              </a:r>
              <a:r>
                <a:rPr sz="700" dirty="0">
                  <a:latin typeface="MgOpen Modata" panose="00000400000000000000" pitchFamily="2" charset="0"/>
                  <a:cs typeface="Calibri"/>
                </a:rPr>
                <a:t>KELAPA</a:t>
              </a:r>
              <a:r>
                <a:rPr sz="700" spc="-5" dirty="0">
                  <a:latin typeface="MgOpen Modata" panose="00000400000000000000" pitchFamily="2" charset="0"/>
                  <a:cs typeface="Calibri"/>
                </a:rPr>
                <a:t> </a:t>
              </a:r>
              <a:r>
                <a:rPr sz="700" dirty="0">
                  <a:latin typeface="MgOpen Modata" panose="00000400000000000000" pitchFamily="2" charset="0"/>
                  <a:cs typeface="Calibri"/>
                </a:rPr>
                <a:t>SAWIT</a:t>
              </a:r>
              <a:r>
                <a:rPr sz="700" spc="-20" dirty="0">
                  <a:latin typeface="MgOpen Modata" panose="00000400000000000000" pitchFamily="2" charset="0"/>
                  <a:cs typeface="Calibri"/>
                </a:rPr>
                <a:t> </a:t>
              </a:r>
              <a:r>
                <a:rPr sz="700" dirty="0">
                  <a:latin typeface="MgOpen Modata" panose="00000400000000000000" pitchFamily="2" charset="0"/>
                  <a:cs typeface="Calibri"/>
                </a:rPr>
                <a:t>AAL</a:t>
              </a:r>
              <a:r>
                <a:rPr sz="700" spc="-5" dirty="0">
                  <a:latin typeface="MgOpen Modata" panose="00000400000000000000" pitchFamily="2" charset="0"/>
                  <a:cs typeface="Calibri"/>
                </a:rPr>
                <a:t> </a:t>
              </a:r>
              <a:r>
                <a:rPr sz="700" spc="-20" dirty="0">
                  <a:latin typeface="MgOpen Modata" panose="00000400000000000000" pitchFamily="2" charset="0"/>
                  <a:cs typeface="Calibri"/>
                </a:rPr>
                <a:t>GROUP</a:t>
              </a:r>
              <a:endParaRPr sz="700" dirty="0">
                <a:latin typeface="MgOpen Modata" panose="00000400000000000000" pitchFamily="2" charset="0"/>
                <a:cs typeface="Calibri"/>
              </a:endParaRPr>
            </a:p>
          </p:txBody>
        </p:sp>
      </p:grpSp>
      <p:pic>
        <p:nvPicPr>
          <p:cNvPr id="52" name="object 18">
            <a:extLst>
              <a:ext uri="{FF2B5EF4-FFF2-40B4-BE49-F238E27FC236}">
                <a16:creationId xmlns:a16="http://schemas.microsoft.com/office/drawing/2014/main" id="{F0066192-C37D-8F66-E698-BB784CC2F00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73598" y="906892"/>
            <a:ext cx="722604" cy="724814"/>
          </a:xfrm>
          <a:prstGeom prst="rect">
            <a:avLst/>
          </a:prstGeom>
        </p:spPr>
      </p:pic>
      <p:sp>
        <p:nvSpPr>
          <p:cNvPr id="53" name="object 19">
            <a:extLst>
              <a:ext uri="{FF2B5EF4-FFF2-40B4-BE49-F238E27FC236}">
                <a16:creationId xmlns:a16="http://schemas.microsoft.com/office/drawing/2014/main" id="{221188A5-DD62-4DC8-5C13-0E0AB02F11E7}"/>
              </a:ext>
            </a:extLst>
          </p:cNvPr>
          <p:cNvSpPr txBox="1"/>
          <p:nvPr/>
        </p:nvSpPr>
        <p:spPr>
          <a:xfrm>
            <a:off x="3835680" y="828803"/>
            <a:ext cx="1666875" cy="1025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85"/>
              </a:lnSpc>
              <a:spcBef>
                <a:spcPts val="100"/>
              </a:spcBef>
            </a:pPr>
            <a:r>
              <a:rPr sz="1600" b="1" spc="-30" dirty="0">
                <a:latin typeface="MgOpen Modata" panose="00000400000000000000" pitchFamily="2" charset="0"/>
                <a:cs typeface="Calibri"/>
              </a:rPr>
              <a:t>TOTAL</a:t>
            </a:r>
            <a:r>
              <a:rPr sz="1600" b="1" spc="-55" dirty="0">
                <a:latin typeface="MgOpen Modata" panose="00000400000000000000" pitchFamily="2" charset="0"/>
                <a:cs typeface="Calibri"/>
              </a:rPr>
              <a:t> </a:t>
            </a:r>
            <a:r>
              <a:rPr sz="1600" b="1" spc="-10" dirty="0">
                <a:latin typeface="MgOpen Modata" panose="00000400000000000000" pitchFamily="2" charset="0"/>
                <a:cs typeface="Calibri"/>
              </a:rPr>
              <a:t>LUASAN</a:t>
            </a:r>
            <a:endParaRPr sz="1600" dirty="0">
              <a:latin typeface="MgOpen Modata" panose="00000400000000000000" pitchFamily="2" charset="0"/>
              <a:cs typeface="Calibri"/>
            </a:endParaRPr>
          </a:p>
          <a:p>
            <a:pPr marL="12700">
              <a:lnSpc>
                <a:spcPts val="3604"/>
              </a:lnSpc>
            </a:pPr>
            <a:r>
              <a:rPr lang="en-US" sz="3200" b="1" spc="-10" dirty="0">
                <a:latin typeface="MgOpen Modata" panose="00000400000000000000" pitchFamily="2" charset="0"/>
                <a:cs typeface="Calibri"/>
              </a:rPr>
              <a:t>9.074</a:t>
            </a:r>
            <a:r>
              <a:rPr sz="3200" b="1" spc="-30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600" b="1" spc="-25" dirty="0">
                <a:latin typeface="MgOpen Modata" panose="00000400000000000000" pitchFamily="2" charset="0"/>
                <a:cs typeface="Calibri"/>
              </a:rPr>
              <a:t>ha</a:t>
            </a:r>
            <a:endParaRPr sz="1600" dirty="0">
              <a:latin typeface="MgOpen Modata" panose="00000400000000000000" pitchFamily="2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00" i="1" dirty="0">
                <a:latin typeface="MgOpen Modata" panose="00000400000000000000" pitchFamily="2" charset="0"/>
                <a:cs typeface="Calibri"/>
              </a:rPr>
              <a:t>*Setara</a:t>
            </a:r>
            <a:r>
              <a:rPr sz="1000" i="1" spc="1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00" i="1" dirty="0">
                <a:latin typeface="MgOpen Modata" panose="00000400000000000000" pitchFamily="2" charset="0"/>
                <a:cs typeface="Calibri"/>
              </a:rPr>
              <a:t>dengan</a:t>
            </a:r>
            <a:r>
              <a:rPr sz="1000" i="1" spc="-20" dirty="0">
                <a:latin typeface="MgOpen Modata" panose="00000400000000000000" pitchFamily="2" charset="0"/>
                <a:cs typeface="Calibri"/>
              </a:rPr>
              <a:t> </a:t>
            </a:r>
            <a:r>
              <a:rPr lang="en-US" sz="1000" i="1" spc="-20" dirty="0">
                <a:latin typeface="MgOpen Modata" panose="00000400000000000000" pitchFamily="2" charset="0"/>
                <a:cs typeface="Calibri"/>
              </a:rPr>
              <a:t>3 kali </a:t>
            </a:r>
            <a:r>
              <a:rPr lang="en-US" sz="1000" i="1" spc="-20" dirty="0" err="1">
                <a:latin typeface="MgOpen Modata" panose="00000400000000000000" pitchFamily="2" charset="0"/>
                <a:cs typeface="Calibri"/>
              </a:rPr>
              <a:t>luas</a:t>
            </a:r>
            <a:r>
              <a:rPr lang="en-US" sz="1000" i="1" spc="-20" dirty="0">
                <a:latin typeface="MgOpen Modata" panose="00000400000000000000" pitchFamily="2" charset="0"/>
                <a:cs typeface="Calibri"/>
              </a:rPr>
              <a:t> Kota Yogyakarta</a:t>
            </a:r>
            <a:endParaRPr sz="1000" i="1" dirty="0">
              <a:latin typeface="MgOpen Modata" panose="00000400000000000000" pitchFamily="2" charset="0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33090" y="2045546"/>
            <a:ext cx="2206625" cy="1025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05"/>
              </a:lnSpc>
              <a:spcBef>
                <a:spcPts val="100"/>
              </a:spcBef>
            </a:pPr>
            <a:r>
              <a:rPr sz="1600" b="1" dirty="0">
                <a:latin typeface="MgOpen Modata" panose="00000400000000000000" pitchFamily="2" charset="0"/>
                <a:cs typeface="Calibri"/>
              </a:rPr>
              <a:t>PRODUKSI</a:t>
            </a:r>
            <a:r>
              <a:rPr sz="1600" b="1" spc="-3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600" b="1" spc="-25" dirty="0">
                <a:latin typeface="MgOpen Modata" panose="00000400000000000000" pitchFamily="2" charset="0"/>
                <a:cs typeface="Calibri"/>
              </a:rPr>
              <a:t>CPO</a:t>
            </a:r>
            <a:endParaRPr sz="1600" dirty="0">
              <a:latin typeface="MgOpen Modata" panose="00000400000000000000" pitchFamily="2" charset="0"/>
              <a:cs typeface="Calibri"/>
            </a:endParaRPr>
          </a:p>
          <a:p>
            <a:pPr marL="12700">
              <a:lnSpc>
                <a:spcPts val="3625"/>
              </a:lnSpc>
            </a:pPr>
            <a:r>
              <a:rPr lang="en-US" sz="3200" b="1" spc="-25" dirty="0">
                <a:latin typeface="MgOpen Modata" panose="00000400000000000000" pitchFamily="2" charset="0"/>
                <a:cs typeface="Calibri"/>
              </a:rPr>
              <a:t>105</a:t>
            </a:r>
            <a:r>
              <a:rPr sz="3200" b="1" spc="-25" dirty="0">
                <a:latin typeface="MgOpen Modata" panose="00000400000000000000" pitchFamily="2" charset="0"/>
                <a:cs typeface="Calibri"/>
              </a:rPr>
              <a:t> </a:t>
            </a:r>
            <a:r>
              <a:rPr sz="1600" b="1" spc="-25" dirty="0">
                <a:latin typeface="MgOpen Modata" panose="00000400000000000000" pitchFamily="2" charset="0"/>
                <a:cs typeface="Calibri"/>
              </a:rPr>
              <a:t>Ton</a:t>
            </a:r>
            <a:r>
              <a:rPr sz="1600" b="1" spc="-2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600" b="1" dirty="0">
                <a:latin typeface="MgOpen Modata" panose="00000400000000000000" pitchFamily="2" charset="0"/>
                <a:cs typeface="Calibri"/>
              </a:rPr>
              <a:t>/</a:t>
            </a:r>
            <a:r>
              <a:rPr sz="1600" b="1" spc="-20" dirty="0">
                <a:latin typeface="MgOpen Modata" panose="00000400000000000000" pitchFamily="2" charset="0"/>
                <a:cs typeface="Calibri"/>
              </a:rPr>
              <a:t> hari</a:t>
            </a:r>
            <a:endParaRPr sz="1600" dirty="0">
              <a:latin typeface="MgOpen Modata" panose="00000400000000000000" pitchFamily="2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00" i="1" dirty="0">
                <a:latin typeface="MgOpen Modata" panose="00000400000000000000" pitchFamily="2" charset="0"/>
                <a:cs typeface="Calibri"/>
              </a:rPr>
              <a:t>*Dapat</a:t>
            </a:r>
            <a:r>
              <a:rPr sz="1000" i="1" spc="1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00" i="1" dirty="0">
                <a:latin typeface="MgOpen Modata" panose="00000400000000000000" pitchFamily="2" charset="0"/>
                <a:cs typeface="Calibri"/>
              </a:rPr>
              <a:t>diolah </a:t>
            </a:r>
            <a:r>
              <a:rPr sz="1000" i="1" dirty="0" err="1">
                <a:latin typeface="MgOpen Modata" panose="00000400000000000000" pitchFamily="2" charset="0"/>
                <a:cs typeface="Calibri"/>
              </a:rPr>
              <a:t>menjadi</a:t>
            </a:r>
            <a:r>
              <a:rPr sz="1000" i="1" spc="-15" dirty="0">
                <a:latin typeface="MgOpen Modata" panose="00000400000000000000" pitchFamily="2" charset="0"/>
                <a:cs typeface="Calibri"/>
              </a:rPr>
              <a:t> </a:t>
            </a:r>
            <a:r>
              <a:rPr lang="en-US" sz="1000" i="1" spc="-15" dirty="0">
                <a:latin typeface="MgOpen Modata" panose="00000400000000000000" pitchFamily="2" charset="0"/>
                <a:cs typeface="Calibri"/>
              </a:rPr>
              <a:t>56</a:t>
            </a:r>
            <a:r>
              <a:rPr sz="1000" i="1" dirty="0">
                <a:latin typeface="MgOpen Modata" panose="00000400000000000000" pitchFamily="2" charset="0"/>
                <a:cs typeface="Calibri"/>
              </a:rPr>
              <a:t> ribu</a:t>
            </a:r>
            <a:r>
              <a:rPr sz="1000" i="1" spc="-25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00" i="1" dirty="0">
                <a:latin typeface="MgOpen Modata" panose="00000400000000000000" pitchFamily="2" charset="0"/>
                <a:cs typeface="Calibri"/>
              </a:rPr>
              <a:t>pouch</a:t>
            </a:r>
            <a:r>
              <a:rPr sz="1000" i="1" spc="-2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00" i="1" dirty="0">
                <a:latin typeface="MgOpen Modata" panose="00000400000000000000" pitchFamily="2" charset="0"/>
                <a:cs typeface="Calibri"/>
              </a:rPr>
              <a:t>minyak</a:t>
            </a:r>
            <a:r>
              <a:rPr sz="1000" i="1" spc="20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00" i="1" dirty="0">
                <a:latin typeface="MgOpen Modata" panose="00000400000000000000" pitchFamily="2" charset="0"/>
                <a:cs typeface="Calibri"/>
              </a:rPr>
              <a:t>goreng</a:t>
            </a:r>
            <a:r>
              <a:rPr sz="1000" i="1" spc="-15" dirty="0">
                <a:latin typeface="MgOpen Modata" panose="00000400000000000000" pitchFamily="2" charset="0"/>
                <a:cs typeface="Calibri"/>
              </a:rPr>
              <a:t> </a:t>
            </a:r>
            <a:r>
              <a:rPr sz="1000" i="1" dirty="0">
                <a:latin typeface="MgOpen Modata" panose="00000400000000000000" pitchFamily="2" charset="0"/>
                <a:cs typeface="Calibri"/>
              </a:rPr>
              <a:t>2 </a:t>
            </a:r>
            <a:r>
              <a:rPr sz="1000" i="1" spc="-20" dirty="0">
                <a:latin typeface="MgOpen Modata" panose="00000400000000000000" pitchFamily="2" charset="0"/>
                <a:cs typeface="Calibri"/>
              </a:rPr>
              <a:t>liter</a:t>
            </a:r>
            <a:endParaRPr sz="1000" i="1" dirty="0">
              <a:latin typeface="MgOpen Modata" panose="00000400000000000000" pitchFamily="2" charset="0"/>
              <a:cs typeface="Calibri"/>
            </a:endParaRPr>
          </a:p>
        </p:txBody>
      </p:sp>
      <p:pic>
        <p:nvPicPr>
          <p:cNvPr id="63" name="object 6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04664" y="2062281"/>
            <a:ext cx="743208" cy="744219"/>
          </a:xfrm>
          <a:prstGeom prst="rect">
            <a:avLst/>
          </a:prstGeom>
        </p:spPr>
      </p:pic>
      <p:sp>
        <p:nvSpPr>
          <p:cNvPr id="54" name="object 20"/>
          <p:cNvSpPr txBox="1"/>
          <p:nvPr/>
        </p:nvSpPr>
        <p:spPr>
          <a:xfrm>
            <a:off x="3833090" y="3225392"/>
            <a:ext cx="1804549" cy="1025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85"/>
              </a:lnSpc>
              <a:spcBef>
                <a:spcPts val="100"/>
              </a:spcBef>
            </a:pPr>
            <a:r>
              <a:rPr lang="en-US" sz="1600" b="1" spc="-20" dirty="0">
                <a:latin typeface="MgOpen Modata" panose="00000400000000000000" pitchFamily="2" charset="0"/>
                <a:cs typeface="Calibri"/>
              </a:rPr>
              <a:t>JUMLAH KARYAWAN</a:t>
            </a:r>
            <a:endParaRPr lang="en-US" sz="1600" dirty="0">
              <a:latin typeface="MgOpen Modata" panose="00000400000000000000" pitchFamily="2" charset="0"/>
              <a:cs typeface="Calibri"/>
            </a:endParaRPr>
          </a:p>
          <a:p>
            <a:pPr marL="12700">
              <a:lnSpc>
                <a:spcPts val="3604"/>
              </a:lnSpc>
            </a:pPr>
            <a:r>
              <a:rPr lang="en-US" sz="3200" b="1" spc="-10" dirty="0">
                <a:latin typeface="MgOpen Modata" panose="00000400000000000000" pitchFamily="2" charset="0"/>
                <a:cs typeface="Calibri"/>
              </a:rPr>
              <a:t>1.020</a:t>
            </a:r>
            <a:r>
              <a:rPr lang="en-US" sz="3200" b="1" spc="-355" dirty="0">
                <a:latin typeface="MgOpen Modata" panose="00000400000000000000" pitchFamily="2" charset="0"/>
                <a:cs typeface="Calibri"/>
              </a:rPr>
              <a:t> </a:t>
            </a:r>
            <a:r>
              <a:rPr lang="en-US" sz="1600" b="1" spc="-25" dirty="0">
                <a:latin typeface="MgOpen Modata" panose="00000400000000000000" pitchFamily="2" charset="0"/>
                <a:cs typeface="Calibri"/>
              </a:rPr>
              <a:t>Orang</a:t>
            </a:r>
            <a:endParaRPr lang="en-US" sz="1600" dirty="0">
              <a:latin typeface="MgOpen Modata" panose="00000400000000000000" pitchFamily="2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lang="en-US" sz="1000" i="1" dirty="0">
                <a:latin typeface="MgOpen Modata" panose="00000400000000000000" pitchFamily="2" charset="0"/>
                <a:cs typeface="Calibri"/>
              </a:rPr>
              <a:t>*</a:t>
            </a:r>
            <a:r>
              <a:rPr lang="en-US" sz="1000" i="1" dirty="0" err="1">
                <a:latin typeface="MgOpen Modata" panose="00000400000000000000" pitchFamily="2" charset="0"/>
                <a:cs typeface="Calibri"/>
              </a:rPr>
              <a:t>Setara</a:t>
            </a:r>
            <a:r>
              <a:rPr lang="en-US" sz="1000" i="1" spc="5" dirty="0">
                <a:latin typeface="MgOpen Modata" panose="00000400000000000000" pitchFamily="2" charset="0"/>
                <a:cs typeface="Calibri"/>
              </a:rPr>
              <a:t> </a:t>
            </a:r>
            <a:r>
              <a:rPr lang="en-US" sz="1000" i="1" dirty="0">
                <a:latin typeface="MgOpen Modata" panose="00000400000000000000" pitchFamily="2" charset="0"/>
                <a:cs typeface="Calibri"/>
              </a:rPr>
              <a:t>dengan</a:t>
            </a:r>
            <a:r>
              <a:rPr lang="en-US" sz="1000" i="1" spc="-20" dirty="0">
                <a:latin typeface="MgOpen Modata" panose="00000400000000000000" pitchFamily="2" charset="0"/>
                <a:cs typeface="Calibri"/>
              </a:rPr>
              <a:t> ½  </a:t>
            </a:r>
            <a:r>
              <a:rPr lang="en-US" sz="1000" i="1" spc="-20" dirty="0" err="1">
                <a:latin typeface="MgOpen Modata" panose="00000400000000000000" pitchFamily="2" charset="0"/>
                <a:cs typeface="Calibri"/>
              </a:rPr>
              <a:t>kapasitas</a:t>
            </a:r>
            <a:r>
              <a:rPr lang="en-US" sz="1000" i="1" spc="-20" dirty="0">
                <a:latin typeface="MgOpen Modata" panose="00000400000000000000" pitchFamily="2" charset="0"/>
                <a:cs typeface="Calibri"/>
              </a:rPr>
              <a:t> velodrome </a:t>
            </a:r>
            <a:r>
              <a:rPr lang="en-US" sz="1000" i="1" spc="-20" dirty="0" err="1">
                <a:latin typeface="MgOpen Modata" panose="00000400000000000000" pitchFamily="2" charset="0"/>
                <a:cs typeface="Calibri"/>
              </a:rPr>
              <a:t>Rawamangun</a:t>
            </a:r>
            <a:r>
              <a:rPr lang="en-US" sz="1000" i="1" spc="-20" dirty="0">
                <a:latin typeface="MgOpen Modata" panose="00000400000000000000" pitchFamily="2" charset="0"/>
                <a:cs typeface="Calibri"/>
              </a:rPr>
              <a:t> Jakarta</a:t>
            </a:r>
            <a:endParaRPr lang="en-US" sz="1000" i="1" dirty="0">
              <a:latin typeface="MgOpen Modata" panose="00000400000000000000" pitchFamily="2" charset="0"/>
              <a:cs typeface="Calibri"/>
            </a:endParaRPr>
          </a:p>
        </p:txBody>
      </p:sp>
      <p:grpSp>
        <p:nvGrpSpPr>
          <p:cNvPr id="117" name="object 30">
            <a:extLst>
              <a:ext uri="{FF2B5EF4-FFF2-40B4-BE49-F238E27FC236}">
                <a16:creationId xmlns:a16="http://schemas.microsoft.com/office/drawing/2014/main" id="{0AD51DDF-8447-9C1F-2FAC-251146F989BF}"/>
              </a:ext>
            </a:extLst>
          </p:cNvPr>
          <p:cNvGrpSpPr/>
          <p:nvPr/>
        </p:nvGrpSpPr>
        <p:grpSpPr>
          <a:xfrm>
            <a:off x="3036150" y="3270421"/>
            <a:ext cx="741680" cy="741680"/>
            <a:chOff x="3439159" y="1254760"/>
            <a:chExt cx="741680" cy="741680"/>
          </a:xfrm>
        </p:grpSpPr>
        <p:sp>
          <p:nvSpPr>
            <p:cNvPr id="118" name="object 31">
              <a:extLst>
                <a:ext uri="{FF2B5EF4-FFF2-40B4-BE49-F238E27FC236}">
                  <a16:creationId xmlns:a16="http://schemas.microsoft.com/office/drawing/2014/main" id="{EBBADF8D-8E36-3922-0C0F-28E114962B33}"/>
                </a:ext>
              </a:extLst>
            </p:cNvPr>
            <p:cNvSpPr/>
            <p:nvPr/>
          </p:nvSpPr>
          <p:spPr>
            <a:xfrm>
              <a:off x="3439159" y="1254760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80">
                  <a:moveTo>
                    <a:pt x="370839" y="0"/>
                  </a:moveTo>
                  <a:lnTo>
                    <a:pt x="324314" y="2888"/>
                  </a:lnTo>
                  <a:lnTo>
                    <a:pt x="279515" y="11323"/>
                  </a:lnTo>
                  <a:lnTo>
                    <a:pt x="236791" y="24956"/>
                  </a:lnTo>
                  <a:lnTo>
                    <a:pt x="196487" y="43441"/>
                  </a:lnTo>
                  <a:lnTo>
                    <a:pt x="158952" y="66430"/>
                  </a:lnTo>
                  <a:lnTo>
                    <a:pt x="124533" y="93577"/>
                  </a:lnTo>
                  <a:lnTo>
                    <a:pt x="93577" y="124533"/>
                  </a:lnTo>
                  <a:lnTo>
                    <a:pt x="66430" y="158952"/>
                  </a:lnTo>
                  <a:lnTo>
                    <a:pt x="43441" y="196487"/>
                  </a:lnTo>
                  <a:lnTo>
                    <a:pt x="24956" y="236791"/>
                  </a:lnTo>
                  <a:lnTo>
                    <a:pt x="11323" y="279515"/>
                  </a:lnTo>
                  <a:lnTo>
                    <a:pt x="2888" y="324314"/>
                  </a:lnTo>
                  <a:lnTo>
                    <a:pt x="0" y="370839"/>
                  </a:lnTo>
                  <a:lnTo>
                    <a:pt x="2888" y="417365"/>
                  </a:lnTo>
                  <a:lnTo>
                    <a:pt x="11323" y="462164"/>
                  </a:lnTo>
                  <a:lnTo>
                    <a:pt x="24956" y="504888"/>
                  </a:lnTo>
                  <a:lnTo>
                    <a:pt x="43441" y="545192"/>
                  </a:lnTo>
                  <a:lnTo>
                    <a:pt x="66430" y="582727"/>
                  </a:lnTo>
                  <a:lnTo>
                    <a:pt x="93577" y="617146"/>
                  </a:lnTo>
                  <a:lnTo>
                    <a:pt x="124533" y="648102"/>
                  </a:lnTo>
                  <a:lnTo>
                    <a:pt x="158952" y="675249"/>
                  </a:lnTo>
                  <a:lnTo>
                    <a:pt x="196487" y="698238"/>
                  </a:lnTo>
                  <a:lnTo>
                    <a:pt x="236791" y="716723"/>
                  </a:lnTo>
                  <a:lnTo>
                    <a:pt x="279515" y="730356"/>
                  </a:lnTo>
                  <a:lnTo>
                    <a:pt x="324314" y="738791"/>
                  </a:lnTo>
                  <a:lnTo>
                    <a:pt x="370839" y="741679"/>
                  </a:lnTo>
                  <a:lnTo>
                    <a:pt x="417365" y="738791"/>
                  </a:lnTo>
                  <a:lnTo>
                    <a:pt x="462164" y="730356"/>
                  </a:lnTo>
                  <a:lnTo>
                    <a:pt x="504888" y="716723"/>
                  </a:lnTo>
                  <a:lnTo>
                    <a:pt x="545192" y="698238"/>
                  </a:lnTo>
                  <a:lnTo>
                    <a:pt x="582727" y="675249"/>
                  </a:lnTo>
                  <a:lnTo>
                    <a:pt x="617146" y="648102"/>
                  </a:lnTo>
                  <a:lnTo>
                    <a:pt x="648102" y="617146"/>
                  </a:lnTo>
                  <a:lnTo>
                    <a:pt x="675249" y="582727"/>
                  </a:lnTo>
                  <a:lnTo>
                    <a:pt x="698238" y="545192"/>
                  </a:lnTo>
                  <a:lnTo>
                    <a:pt x="716723" y="504888"/>
                  </a:lnTo>
                  <a:lnTo>
                    <a:pt x="730356" y="462164"/>
                  </a:lnTo>
                  <a:lnTo>
                    <a:pt x="738791" y="417365"/>
                  </a:lnTo>
                  <a:lnTo>
                    <a:pt x="741679" y="370839"/>
                  </a:lnTo>
                  <a:lnTo>
                    <a:pt x="738791" y="324314"/>
                  </a:lnTo>
                  <a:lnTo>
                    <a:pt x="730356" y="279515"/>
                  </a:lnTo>
                  <a:lnTo>
                    <a:pt x="716723" y="236791"/>
                  </a:lnTo>
                  <a:lnTo>
                    <a:pt x="698238" y="196487"/>
                  </a:lnTo>
                  <a:lnTo>
                    <a:pt x="675249" y="158952"/>
                  </a:lnTo>
                  <a:lnTo>
                    <a:pt x="648102" y="124533"/>
                  </a:lnTo>
                  <a:lnTo>
                    <a:pt x="617146" y="93577"/>
                  </a:lnTo>
                  <a:lnTo>
                    <a:pt x="582727" y="66430"/>
                  </a:lnTo>
                  <a:lnTo>
                    <a:pt x="545192" y="43441"/>
                  </a:lnTo>
                  <a:lnTo>
                    <a:pt x="504888" y="24956"/>
                  </a:lnTo>
                  <a:lnTo>
                    <a:pt x="462164" y="11323"/>
                  </a:lnTo>
                  <a:lnTo>
                    <a:pt x="417365" y="2888"/>
                  </a:lnTo>
                  <a:lnTo>
                    <a:pt x="370839" y="0"/>
                  </a:lnTo>
                  <a:close/>
                </a:path>
              </a:pathLst>
            </a:custGeom>
            <a:solidFill>
              <a:srgbClr val="12818D"/>
            </a:solidFill>
          </p:spPr>
          <p:txBody>
            <a:bodyPr wrap="square" lIns="0" tIns="0" rIns="0" bIns="0" rtlCol="0"/>
            <a:lstStyle/>
            <a:p>
              <a:endParaRPr>
                <a:latin typeface="MgOpen Modata" panose="00000400000000000000" pitchFamily="2" charset="0"/>
              </a:endParaRPr>
            </a:p>
          </p:txBody>
        </p:sp>
        <p:pic>
          <p:nvPicPr>
            <p:cNvPr id="119" name="object 32">
              <a:extLst>
                <a:ext uri="{FF2B5EF4-FFF2-40B4-BE49-F238E27FC236}">
                  <a16:creationId xmlns:a16="http://schemas.microsoft.com/office/drawing/2014/main" id="{31CD8DE0-D957-651D-6C22-C7796933FA8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58539" y="1308100"/>
              <a:ext cx="518160" cy="518160"/>
            </a:xfrm>
            <a:prstGeom prst="rect">
              <a:avLst/>
            </a:prstGeom>
          </p:spPr>
        </p:pic>
      </p:grpSp>
      <p:grpSp>
        <p:nvGrpSpPr>
          <p:cNvPr id="55" name="object 10">
            <a:extLst>
              <a:ext uri="{FF2B5EF4-FFF2-40B4-BE49-F238E27FC236}">
                <a16:creationId xmlns:a16="http://schemas.microsoft.com/office/drawing/2014/main" id="{9198372F-03E3-7558-AC60-6ECA534DEF18}"/>
              </a:ext>
            </a:extLst>
          </p:cNvPr>
          <p:cNvGrpSpPr/>
          <p:nvPr/>
        </p:nvGrpSpPr>
        <p:grpSpPr>
          <a:xfrm>
            <a:off x="131624" y="820094"/>
            <a:ext cx="195580" cy="195580"/>
            <a:chOff x="190500" y="3454400"/>
            <a:chExt cx="195580" cy="195580"/>
          </a:xfrm>
        </p:grpSpPr>
        <p:sp>
          <p:nvSpPr>
            <p:cNvPr id="56" name="object 11">
              <a:extLst>
                <a:ext uri="{FF2B5EF4-FFF2-40B4-BE49-F238E27FC236}">
                  <a16:creationId xmlns:a16="http://schemas.microsoft.com/office/drawing/2014/main" id="{61C94D8A-FB83-3BD7-BF37-72064194EC9B}"/>
                </a:ext>
              </a:extLst>
            </p:cNvPr>
            <p:cNvSpPr/>
            <p:nvPr/>
          </p:nvSpPr>
          <p:spPr>
            <a:xfrm>
              <a:off x="196850" y="346075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MgOpen Modata" panose="00000400000000000000" pitchFamily="2" charset="0"/>
              </a:endParaRPr>
            </a:p>
          </p:txBody>
        </p:sp>
        <p:sp>
          <p:nvSpPr>
            <p:cNvPr id="57" name="object 12">
              <a:extLst>
                <a:ext uri="{FF2B5EF4-FFF2-40B4-BE49-F238E27FC236}">
                  <a16:creationId xmlns:a16="http://schemas.microsoft.com/office/drawing/2014/main" id="{EF9182A3-BE24-AA5B-37E6-9A6C44595992}"/>
                </a:ext>
              </a:extLst>
            </p:cNvPr>
            <p:cNvSpPr/>
            <p:nvPr/>
          </p:nvSpPr>
          <p:spPr>
            <a:xfrm>
              <a:off x="196850" y="346075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gOpen Modata" panose="00000400000000000000" pitchFamily="2" charset="0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93317C1-A4A3-FAA1-1C67-489D5DAEA4CE}"/>
              </a:ext>
            </a:extLst>
          </p:cNvPr>
          <p:cNvSpPr txBox="1"/>
          <p:nvPr/>
        </p:nvSpPr>
        <p:spPr>
          <a:xfrm>
            <a:off x="5272072" y="5064100"/>
            <a:ext cx="2197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Fiba </a:t>
            </a:r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Granza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A</a:t>
            </a:r>
          </a:p>
          <a:p>
            <a:pPr algn="ctr"/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Asisten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Afdeling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OB</a:t>
            </a:r>
            <a:endParaRPr sz="1200" b="1" dirty="0">
              <a:solidFill>
                <a:srgbClr val="008000"/>
              </a:solidFill>
              <a:latin typeface="MgOpen Modata" panose="00000400000000000000" pitchFamily="2" charset="0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ED1043B3-2E0F-A1C6-014D-4EBA052D454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337" y="2937708"/>
            <a:ext cx="1493692" cy="199043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2EA8230-E33D-0572-EE15-F7586FDA7BD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0" t="27568"/>
          <a:stretch>
            <a:fillRect/>
          </a:stretch>
        </p:blipFill>
        <p:spPr>
          <a:xfrm flipH="1">
            <a:off x="7671764" y="2312012"/>
            <a:ext cx="1917560" cy="1762713"/>
          </a:xfrm>
          <a:prstGeom prst="rect">
            <a:avLst/>
          </a:prstGeom>
        </p:spPr>
      </p:pic>
      <p:sp>
        <p:nvSpPr>
          <p:cNvPr id="79" name="object 7">
            <a:extLst>
              <a:ext uri="{FF2B5EF4-FFF2-40B4-BE49-F238E27FC236}">
                <a16:creationId xmlns:a16="http://schemas.microsoft.com/office/drawing/2014/main" id="{39851D95-06CC-0043-4EA6-014D7DD73A2E}"/>
              </a:ext>
            </a:extLst>
          </p:cNvPr>
          <p:cNvSpPr/>
          <p:nvPr/>
        </p:nvSpPr>
        <p:spPr>
          <a:xfrm>
            <a:off x="6756896" y="2264008"/>
            <a:ext cx="1216512" cy="368300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 lIns="0" tIns="0" rIns="0" bIns="0" rtlCol="0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gOpen Modata" panose="00000400000000000000" pitchFamily="2" charset="0"/>
              </a:rPr>
              <a:t>ADVISOR</a:t>
            </a:r>
            <a:endParaRPr b="1" dirty="0">
              <a:solidFill>
                <a:schemeClr val="bg1"/>
              </a:solidFill>
              <a:latin typeface="MgOpen Modata" panose="00000400000000000000" pitchFamily="2" charset="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E586CE6-C941-0626-8AB6-2647E5D91BD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9" b="10006"/>
          <a:stretch>
            <a:fillRect/>
          </a:stretch>
        </p:blipFill>
        <p:spPr>
          <a:xfrm>
            <a:off x="6354614" y="367296"/>
            <a:ext cx="1872363" cy="190327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3D19B79-36E6-9C4A-F1E9-FE3D2CADD0E2}"/>
              </a:ext>
            </a:extLst>
          </p:cNvPr>
          <p:cNvSpPr txBox="1"/>
          <p:nvPr/>
        </p:nvSpPr>
        <p:spPr>
          <a:xfrm>
            <a:off x="6215237" y="2572730"/>
            <a:ext cx="2341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8000"/>
                </a:solidFill>
                <a:latin typeface="MgOpen Modata" panose="00000400000000000000" pitchFamily="2" charset="0"/>
              </a:rPr>
              <a:t>Azizul Husni Reza</a:t>
            </a:r>
          </a:p>
          <a:p>
            <a:pPr algn="ctr"/>
            <a:r>
              <a:rPr lang="en-US" sz="14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Administratur</a:t>
            </a:r>
            <a:r>
              <a:rPr lang="en-US" sz="1400" b="1" dirty="0">
                <a:solidFill>
                  <a:srgbClr val="008000"/>
                </a:solidFill>
                <a:latin typeface="MgOpen Modata" panose="00000400000000000000" pitchFamily="2" charset="0"/>
              </a:rPr>
              <a:t> GSPP</a:t>
            </a:r>
            <a:endParaRPr sz="1400" b="1" dirty="0">
              <a:solidFill>
                <a:srgbClr val="008000"/>
              </a:solidFill>
              <a:latin typeface="MgOpen Modata" panose="00000400000000000000" pitchFamily="2" charset="0"/>
            </a:endParaRPr>
          </a:p>
        </p:txBody>
      </p:sp>
      <p:sp>
        <p:nvSpPr>
          <p:cNvPr id="81" name="object 7">
            <a:extLst>
              <a:ext uri="{FF2B5EF4-FFF2-40B4-BE49-F238E27FC236}">
                <a16:creationId xmlns:a16="http://schemas.microsoft.com/office/drawing/2014/main" id="{BC633157-B86F-47B5-890E-DF226DEEFFE7}"/>
              </a:ext>
            </a:extLst>
          </p:cNvPr>
          <p:cNvSpPr/>
          <p:nvPr/>
        </p:nvSpPr>
        <p:spPr>
          <a:xfrm>
            <a:off x="5614985" y="4800676"/>
            <a:ext cx="1486141" cy="266246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gOpen Modata" panose="00000400000000000000" pitchFamily="2" charset="0"/>
              </a:rPr>
              <a:t>PIC DATA COLLECT</a:t>
            </a:r>
            <a:endParaRPr sz="1400" b="1" dirty="0">
              <a:solidFill>
                <a:schemeClr val="bg1"/>
              </a:solidFill>
              <a:latin typeface="MgOpen Modata" panose="00000400000000000000" pitchFamily="2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1711E06-09EE-94D5-F7E2-5096DE3A02DC}"/>
              </a:ext>
            </a:extLst>
          </p:cNvPr>
          <p:cNvSpPr txBox="1"/>
          <p:nvPr/>
        </p:nvSpPr>
        <p:spPr>
          <a:xfrm>
            <a:off x="7671764" y="4278462"/>
            <a:ext cx="2197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Hanifah Ainur </a:t>
            </a:r>
          </a:p>
          <a:p>
            <a:pPr algn="ctr"/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Asisten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Afdeling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OF</a:t>
            </a:r>
            <a:endParaRPr sz="1200" b="1" dirty="0">
              <a:solidFill>
                <a:srgbClr val="008000"/>
              </a:solidFill>
              <a:latin typeface="MgOpen Modata" panose="00000400000000000000" pitchFamily="2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EC0FC0B-C2C7-B85B-C3CB-5764FD67B9D5}"/>
              </a:ext>
            </a:extLst>
          </p:cNvPr>
          <p:cNvSpPr txBox="1"/>
          <p:nvPr/>
        </p:nvSpPr>
        <p:spPr>
          <a:xfrm>
            <a:off x="10368693" y="5107016"/>
            <a:ext cx="2197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Anang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Bagus</a:t>
            </a:r>
            <a:endParaRPr lang="en-US" sz="1200" b="1" dirty="0">
              <a:solidFill>
                <a:srgbClr val="008000"/>
              </a:solidFill>
              <a:latin typeface="MgOpen Modata" panose="00000400000000000000" pitchFamily="2" charset="0"/>
            </a:endParaRPr>
          </a:p>
          <a:p>
            <a:pPr algn="ctr"/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Asisten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Afdeling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OH</a:t>
            </a:r>
            <a:endParaRPr sz="1200" b="1" dirty="0">
              <a:solidFill>
                <a:srgbClr val="008000"/>
              </a:solidFill>
              <a:latin typeface="MgOpen Modata" panose="00000400000000000000" pitchFamily="2" charset="0"/>
            </a:endParaRPr>
          </a:p>
        </p:txBody>
      </p:sp>
      <p:sp>
        <p:nvSpPr>
          <p:cNvPr id="84" name="object 7">
            <a:extLst>
              <a:ext uri="{FF2B5EF4-FFF2-40B4-BE49-F238E27FC236}">
                <a16:creationId xmlns:a16="http://schemas.microsoft.com/office/drawing/2014/main" id="{E2768A57-8904-D397-9A84-D751D1A0A4F8}"/>
              </a:ext>
            </a:extLst>
          </p:cNvPr>
          <p:cNvSpPr/>
          <p:nvPr/>
        </p:nvSpPr>
        <p:spPr>
          <a:xfrm>
            <a:off x="10724365" y="4874793"/>
            <a:ext cx="1486141" cy="266246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gOpen Modata" panose="00000400000000000000" pitchFamily="2" charset="0"/>
              </a:rPr>
              <a:t>PIC CHEMIST</a:t>
            </a:r>
            <a:endParaRPr sz="1400" b="1" dirty="0">
              <a:solidFill>
                <a:schemeClr val="bg1"/>
              </a:solidFill>
              <a:latin typeface="MgOpen Modata" panose="00000400000000000000" pitchFamily="2" charset="0"/>
            </a:endParaRPr>
          </a:p>
        </p:txBody>
      </p:sp>
      <p:sp>
        <p:nvSpPr>
          <p:cNvPr id="85" name="object 64"/>
          <p:cNvSpPr txBox="1"/>
          <p:nvPr/>
        </p:nvSpPr>
        <p:spPr>
          <a:xfrm>
            <a:off x="543915" y="4319245"/>
            <a:ext cx="538622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>
                <a:latin typeface="MgOpen Modata" panose="00000400000000000000" pitchFamily="2" charset="0"/>
                <a:cs typeface="Calibri"/>
              </a:rPr>
              <a:t>PROSES OPERASIONAL BISNIS</a:t>
            </a:r>
            <a:endParaRPr sz="1600" dirty="0">
              <a:latin typeface="MgOpen Modata" panose="00000400000000000000" pitchFamily="2" charset="0"/>
              <a:cs typeface="Calibri"/>
            </a:endParaRPr>
          </a:p>
        </p:txBody>
      </p:sp>
      <p:grpSp>
        <p:nvGrpSpPr>
          <p:cNvPr id="86" name="object 65"/>
          <p:cNvGrpSpPr/>
          <p:nvPr/>
        </p:nvGrpSpPr>
        <p:grpSpPr>
          <a:xfrm>
            <a:off x="276579" y="4365219"/>
            <a:ext cx="246811" cy="195580"/>
            <a:chOff x="7051040" y="4323079"/>
            <a:chExt cx="195580" cy="195580"/>
          </a:xfrm>
        </p:grpSpPr>
        <p:sp>
          <p:nvSpPr>
            <p:cNvPr id="87" name="object 66"/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MgOpen Modata" panose="00000400000000000000" pitchFamily="2" charset="0"/>
              </a:endParaRPr>
            </a:p>
          </p:txBody>
        </p:sp>
        <p:sp>
          <p:nvSpPr>
            <p:cNvPr id="88" name="object 67"/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MgOpen Modata" panose="00000400000000000000" pitchFamily="2" charset="0"/>
              </a:endParaRPr>
            </a:p>
          </p:txBody>
        </p:sp>
      </p:grpSp>
      <p:sp>
        <p:nvSpPr>
          <p:cNvPr id="89" name="object 64">
            <a:extLst>
              <a:ext uri="{FF2B5EF4-FFF2-40B4-BE49-F238E27FC236}">
                <a16:creationId xmlns:a16="http://schemas.microsoft.com/office/drawing/2014/main" id="{01DDDE48-E898-2292-1F2A-6CA3926B129C}"/>
              </a:ext>
            </a:extLst>
          </p:cNvPr>
          <p:cNvSpPr txBox="1"/>
          <p:nvPr/>
        </p:nvSpPr>
        <p:spPr>
          <a:xfrm>
            <a:off x="412539" y="803802"/>
            <a:ext cx="538622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>
                <a:latin typeface="MgOpen Modata" panose="00000400000000000000" pitchFamily="2" charset="0"/>
                <a:cs typeface="Calibri"/>
              </a:rPr>
              <a:t>PROFIL PERUSAHAAN</a:t>
            </a:r>
            <a:endParaRPr sz="1600" dirty="0">
              <a:latin typeface="MgOpen Modata" panose="00000400000000000000" pitchFamily="2" charset="0"/>
              <a:cs typeface="Calibri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0D3F0F7-B14C-BA0D-DD91-A18E214EAC79}"/>
              </a:ext>
            </a:extLst>
          </p:cNvPr>
          <p:cNvSpPr/>
          <p:nvPr/>
        </p:nvSpPr>
        <p:spPr>
          <a:xfrm>
            <a:off x="412749" y="6081635"/>
            <a:ext cx="351054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1100" dirty="0">
                <a:latin typeface="MgOpen Modata" panose="00000400000000000000" pitchFamily="2" charset="0"/>
                <a:cs typeface="Poppins" panose="00000500000000000000" pitchFamily="2" charset="0"/>
              </a:rPr>
              <a:t>Cost operation yang meningkat setiap tahun. Salah satu penyumbang cost operasional yang tinggi adalah tenaga (fixed cost) dan material (undirect cost). </a:t>
            </a:r>
            <a:endParaRPr kumimoji="0" lang="fi-FI" sz="11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gOpen Modata" panose="000004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95" name="Diagram 94">
            <a:extLst>
              <a:ext uri="{FF2B5EF4-FFF2-40B4-BE49-F238E27FC236}">
                <a16:creationId xmlns:a16="http://schemas.microsoft.com/office/drawing/2014/main" id="{55C1CC60-BB54-D8A3-5AFE-4646497DB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6566880"/>
              </p:ext>
            </p:extLst>
          </p:nvPr>
        </p:nvGraphicFramePr>
        <p:xfrm>
          <a:off x="429052" y="4574776"/>
          <a:ext cx="4896565" cy="1090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ED6E15F-8108-A749-BA52-1BED6150B89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8015" b="89885" l="9897" r="89897">
                        <a14:foregroundMark x1="42062" y1="11832" x2="50928" y2="80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813" y="4278462"/>
            <a:ext cx="2019819" cy="2182237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E97BDA8F-6D31-1AD8-4D6F-7B5E13B24572}"/>
              </a:ext>
            </a:extLst>
          </p:cNvPr>
          <p:cNvSpPr/>
          <p:nvPr/>
        </p:nvSpPr>
        <p:spPr>
          <a:xfrm>
            <a:off x="738926" y="4757218"/>
            <a:ext cx="791146" cy="699596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gOpen Modata" panose="00000400000000000000" pitchFamily="2" charset="0"/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51D09D0-7770-E164-1838-0564429E0382}"/>
              </a:ext>
            </a:extLst>
          </p:cNvPr>
          <p:cNvCxnSpPr/>
          <p:nvPr/>
        </p:nvCxnSpPr>
        <p:spPr>
          <a:xfrm>
            <a:off x="1134499" y="5488862"/>
            <a:ext cx="0" cy="1596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45CADDE-190B-4BB9-8FD0-BF55B77F0C63}"/>
              </a:ext>
            </a:extLst>
          </p:cNvPr>
          <p:cNvSpPr txBox="1"/>
          <p:nvPr/>
        </p:nvSpPr>
        <p:spPr>
          <a:xfrm>
            <a:off x="6665855" y="6396335"/>
            <a:ext cx="2197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Dito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A</a:t>
            </a:r>
          </a:p>
          <a:p>
            <a:pPr algn="ctr"/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Asisten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PDCA </a:t>
            </a:r>
            <a:endParaRPr sz="1200" b="1" dirty="0">
              <a:solidFill>
                <a:srgbClr val="008000"/>
              </a:solidFill>
              <a:latin typeface="MgOpen Modata" panose="00000400000000000000" pitchFamily="2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7CA624-9E00-48D3-839D-F64A2E0D28B3}"/>
              </a:ext>
            </a:extLst>
          </p:cNvPr>
          <p:cNvSpPr txBox="1"/>
          <p:nvPr/>
        </p:nvSpPr>
        <p:spPr>
          <a:xfrm>
            <a:off x="8736402" y="6363385"/>
            <a:ext cx="2197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Sugeng</a:t>
            </a:r>
            <a:endParaRPr lang="en-US" sz="1200" b="1" dirty="0">
              <a:solidFill>
                <a:srgbClr val="008000"/>
              </a:solidFill>
              <a:latin typeface="MgOpen Modata" panose="00000400000000000000" pitchFamily="2" charset="0"/>
            </a:endParaRPr>
          </a:p>
          <a:p>
            <a:pPr algn="ctr"/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Krani</a:t>
            </a:r>
            <a:r>
              <a:rPr lang="en-US" sz="1200" b="1" dirty="0">
                <a:solidFill>
                  <a:srgbClr val="008000"/>
                </a:solidFill>
                <a:latin typeface="MgOpen Modata" panose="00000400000000000000" pitchFamily="2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latin typeface="MgOpen Modata" panose="00000400000000000000" pitchFamily="2" charset="0"/>
              </a:rPr>
              <a:t>Teknologi</a:t>
            </a:r>
            <a:endParaRPr lang="en-US" sz="1200" b="1" dirty="0">
              <a:solidFill>
                <a:srgbClr val="008000"/>
              </a:solidFill>
              <a:latin typeface="MgOpen Modata" panose="00000400000000000000" pitchFamily="2" charset="0"/>
            </a:endParaRPr>
          </a:p>
        </p:txBody>
      </p:sp>
      <p:sp>
        <p:nvSpPr>
          <p:cNvPr id="92" name="object 7">
            <a:extLst>
              <a:ext uri="{FF2B5EF4-FFF2-40B4-BE49-F238E27FC236}">
                <a16:creationId xmlns:a16="http://schemas.microsoft.com/office/drawing/2014/main" id="{82ECCCD6-1ABD-400D-B01E-1CCF81FEAC1C}"/>
              </a:ext>
            </a:extLst>
          </p:cNvPr>
          <p:cNvSpPr/>
          <p:nvPr/>
        </p:nvSpPr>
        <p:spPr>
          <a:xfrm>
            <a:off x="7001955" y="6171304"/>
            <a:ext cx="1486141" cy="266246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gOpen Modata" panose="00000400000000000000" pitchFamily="2" charset="0"/>
              </a:rPr>
              <a:t>DATA ANALIST</a:t>
            </a:r>
            <a:endParaRPr sz="1400" b="1" dirty="0">
              <a:solidFill>
                <a:schemeClr val="bg1"/>
              </a:solidFill>
              <a:latin typeface="MgOpen Modata" panose="00000400000000000000" pitchFamily="2" charset="0"/>
            </a:endParaRPr>
          </a:p>
        </p:txBody>
      </p:sp>
      <p:sp>
        <p:nvSpPr>
          <p:cNvPr id="51" name="object 7">
            <a:extLst>
              <a:ext uri="{FF2B5EF4-FFF2-40B4-BE49-F238E27FC236}">
                <a16:creationId xmlns:a16="http://schemas.microsoft.com/office/drawing/2014/main" id="{CB71B70E-F05D-A47D-CD4D-879446F28BC4}"/>
              </a:ext>
            </a:extLst>
          </p:cNvPr>
          <p:cNvSpPr/>
          <p:nvPr/>
        </p:nvSpPr>
        <p:spPr>
          <a:xfrm>
            <a:off x="8040827" y="4029505"/>
            <a:ext cx="1486141" cy="266246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gOpen Modata" panose="00000400000000000000" pitchFamily="2" charset="0"/>
              </a:rPr>
              <a:t>TEAM LEADER</a:t>
            </a:r>
            <a:endParaRPr sz="1400" b="1" dirty="0">
              <a:solidFill>
                <a:schemeClr val="bg1"/>
              </a:solidFill>
              <a:latin typeface="MgOpen Modata" panose="00000400000000000000" pitchFamily="2" charset="0"/>
            </a:endParaRPr>
          </a:p>
        </p:txBody>
      </p:sp>
      <p:sp>
        <p:nvSpPr>
          <p:cNvPr id="93" name="object 7">
            <a:extLst>
              <a:ext uri="{FF2B5EF4-FFF2-40B4-BE49-F238E27FC236}">
                <a16:creationId xmlns:a16="http://schemas.microsoft.com/office/drawing/2014/main" id="{0CC20C82-8F3D-421E-A4F5-47C49965BCE7}"/>
              </a:ext>
            </a:extLst>
          </p:cNvPr>
          <p:cNvSpPr/>
          <p:nvPr/>
        </p:nvSpPr>
        <p:spPr>
          <a:xfrm>
            <a:off x="9109341" y="6165186"/>
            <a:ext cx="1486141" cy="266246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gOpen Modata" panose="00000400000000000000" pitchFamily="2" charset="0"/>
              </a:rPr>
              <a:t>PIC TEKNOLOGI</a:t>
            </a:r>
            <a:endParaRPr sz="1400" b="1" dirty="0">
              <a:solidFill>
                <a:schemeClr val="bg1"/>
              </a:solidFill>
              <a:latin typeface="MgOpen Modata" panose="00000400000000000000" pitchFamily="2" charset="0"/>
            </a:endParaRPr>
          </a:p>
        </p:txBody>
      </p:sp>
      <p:pic>
        <p:nvPicPr>
          <p:cNvPr id="8" name="Picture 7" descr="A person standing in front of a white wall&#10;&#10;AI-generated content may be incorrect.">
            <a:extLst>
              <a:ext uri="{FF2B5EF4-FFF2-40B4-BE49-F238E27FC236}">
                <a16:creationId xmlns:a16="http://schemas.microsoft.com/office/drawing/2014/main" id="{542F8045-FC38-B34C-CACB-F17D9C56992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34053" b="82465" l="27811" r="78836">
                        <a14:foregroundMark x1="55093" y1="36830" x2="39583" y2="78175"/>
                        <a14:foregroundMark x1="39583" y1="78175" x2="63922" y2="63318"/>
                        <a14:foregroundMark x1="63922" y1="63318" x2="72090" y2="82490"/>
                        <a14:foregroundMark x1="39286" y1="59524" x2="62302" y2="61979"/>
                        <a14:foregroundMark x1="62302" y1="61979" x2="51852" y2="79067"/>
                        <a14:foregroundMark x1="51852" y1="79067" x2="35020" y2="67758"/>
                        <a14:foregroundMark x1="35020" y1="67758" x2="60747" y2="64013"/>
                        <a14:foregroundMark x1="60747" y1="64013" x2="70933" y2="76612"/>
                        <a14:foregroundMark x1="70933" y1="76612" x2="70933" y2="78001"/>
                        <a14:foregroundMark x1="70536" y1="65402" x2="54563" y2="56548"/>
                        <a14:foregroundMark x1="54563" y1="56548" x2="35714" y2="63442"/>
                        <a14:foregroundMark x1="35714" y1="63442" x2="39815" y2="80357"/>
                        <a14:foregroundMark x1="39815" y1="80357" x2="62070" y2="78274"/>
                        <a14:foregroundMark x1="62831" y1="60913" x2="63591" y2="55605"/>
                        <a14:foregroundMark x1="67063" y1="57292" x2="76554" y2="74752"/>
                        <a14:foregroundMark x1="76554" y1="74752" x2="72487" y2="81374"/>
                        <a14:foregroundMark x1="50860" y1="38244" x2="52943" y2="59251"/>
                        <a14:foregroundMark x1="52943" y1="59251" x2="45238" y2="77381"/>
                        <a14:foregroundMark x1="45238" y1="77381" x2="61276" y2="81076"/>
                        <a14:foregroundMark x1="33862" y1="70734" x2="36574" y2="80804"/>
                        <a14:foregroundMark x1="50099" y1="34053" x2="50099" y2="34053"/>
                        <a14:foregroundMark x1="54729" y1="35169" x2="50463" y2="40749"/>
                        <a14:backgroundMark x1="61673" y1="43552" x2="61673" y2="44395"/>
                        <a14:backgroundMark x1="61276" y1="44965" x2="71329" y2="480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432" t="29584" r="14730" b="27663"/>
          <a:stretch/>
        </p:blipFill>
        <p:spPr>
          <a:xfrm>
            <a:off x="10563618" y="3150317"/>
            <a:ext cx="1869770" cy="172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73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DDB4-3F23-63A2-5230-48C119AA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/>
          <p:cNvSpPr txBox="1"/>
          <p:nvPr/>
        </p:nvSpPr>
        <p:spPr>
          <a:xfrm>
            <a:off x="6319390" y="808623"/>
            <a:ext cx="3086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Vagabond" pitchFamily="2" charset="0"/>
                <a:cs typeface="Arial" panose="020B0604020202020204" pitchFamily="34" charset="0"/>
              </a:rPr>
              <a:t>PERAWATAN CIRCLE DAN GAWANGAN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64A307B-A531-141A-9186-A8CD2614755A}"/>
              </a:ext>
            </a:extLst>
          </p:cNvPr>
          <p:cNvSpPr txBox="1"/>
          <p:nvPr/>
        </p:nvSpPr>
        <p:spPr>
          <a:xfrm>
            <a:off x="6167995" y="1694605"/>
            <a:ext cx="1338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Perawatan</a:t>
            </a:r>
            <a:r>
              <a:rPr lang="en-US" sz="12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200" kern="1200" dirty="0" err="1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dengan</a:t>
            </a:r>
            <a:r>
              <a:rPr lang="en-US" sz="12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200" kern="1200" dirty="0" err="1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cara</a:t>
            </a:r>
            <a:r>
              <a:rPr lang="en-US" sz="12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200" kern="1200" dirty="0" err="1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mekanis</a:t>
            </a:r>
            <a:endParaRPr kumimoji="0" lang="en-US" sz="1200" b="0" i="0" u="none" strike="noStrike" kern="1200" cap="none" spc="0" normalizeH="0" baseline="0" noProof="0" dirty="0"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FFBA42F-52A9-8956-5CF3-3CEBE164C252}"/>
              </a:ext>
            </a:extLst>
          </p:cNvPr>
          <p:cNvSpPr txBox="1"/>
          <p:nvPr/>
        </p:nvSpPr>
        <p:spPr>
          <a:xfrm>
            <a:off x="6304420" y="1191439"/>
            <a:ext cx="962123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MANUAL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613F3DF-C48B-6B0B-75F2-3E8E7486B9FF}"/>
              </a:ext>
            </a:extLst>
          </p:cNvPr>
          <p:cNvSpPr txBox="1"/>
          <p:nvPr/>
        </p:nvSpPr>
        <p:spPr>
          <a:xfrm>
            <a:off x="6184209" y="2515829"/>
            <a:ext cx="133817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Cangdos</a:t>
            </a: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parang,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garukan</a:t>
            </a:r>
            <a:endParaRPr kumimoji="0" lang="en-US" sz="1200" b="0" i="0" u="none" strike="noStrike" kern="1200" cap="none" spc="0" normalizeH="0" baseline="0" noProof="0" dirty="0"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B4005FD-EB82-8FBC-34DC-2E0DEC839F6C}"/>
              </a:ext>
            </a:extLst>
          </p:cNvPr>
          <p:cNvSpPr txBox="1"/>
          <p:nvPr/>
        </p:nvSpPr>
        <p:spPr>
          <a:xfrm>
            <a:off x="8431831" y="1208483"/>
            <a:ext cx="992579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CHEMIST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31973EE-7CEE-A713-9B53-C75DD0108A63}"/>
              </a:ext>
            </a:extLst>
          </p:cNvPr>
          <p:cNvSpPr txBox="1"/>
          <p:nvPr/>
        </p:nvSpPr>
        <p:spPr>
          <a:xfrm>
            <a:off x="8288931" y="1654273"/>
            <a:ext cx="1338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Perawatan</a:t>
            </a: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dengan</a:t>
            </a: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metode</a:t>
            </a: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kimiawi</a:t>
            </a:r>
            <a:endParaRPr lang="en-US" sz="1200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ABC1219A-637D-A651-86FE-7DF9A1AB0723}"/>
              </a:ext>
            </a:extLst>
          </p:cNvPr>
          <p:cNvSpPr/>
          <p:nvPr/>
        </p:nvSpPr>
        <p:spPr>
          <a:xfrm>
            <a:off x="8286112" y="2302858"/>
            <a:ext cx="1348743" cy="992447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object 65">
            <a:extLst>
              <a:ext uri="{FF2B5EF4-FFF2-40B4-BE49-F238E27FC236}">
                <a16:creationId xmlns:a16="http://schemas.microsoft.com/office/drawing/2014/main" id="{D139EBD4-FFFC-409A-F455-4991908BB295}"/>
              </a:ext>
            </a:extLst>
          </p:cNvPr>
          <p:cNvGrpSpPr/>
          <p:nvPr/>
        </p:nvGrpSpPr>
        <p:grpSpPr>
          <a:xfrm>
            <a:off x="6060804" y="869858"/>
            <a:ext cx="246811" cy="195580"/>
            <a:chOff x="7051040" y="4323079"/>
            <a:chExt cx="195580" cy="195580"/>
          </a:xfrm>
        </p:grpSpPr>
        <p:sp>
          <p:nvSpPr>
            <p:cNvPr id="108" name="object 66">
              <a:extLst>
                <a:ext uri="{FF2B5EF4-FFF2-40B4-BE49-F238E27FC236}">
                  <a16:creationId xmlns:a16="http://schemas.microsoft.com/office/drawing/2014/main" id="{B4E24DC9-DB57-6151-AD81-3B6EC7950885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  <p:sp>
          <p:nvSpPr>
            <p:cNvPr id="109" name="object 67">
              <a:extLst>
                <a:ext uri="{FF2B5EF4-FFF2-40B4-BE49-F238E27FC236}">
                  <a16:creationId xmlns:a16="http://schemas.microsoft.com/office/drawing/2014/main" id="{55628E0B-05C5-3B9D-6059-A89BAE0A0AD8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</p:grpSp>
      <p:sp>
        <p:nvSpPr>
          <p:cNvPr id="110" name="Plus Sign 109">
            <a:extLst>
              <a:ext uri="{FF2B5EF4-FFF2-40B4-BE49-F238E27FC236}">
                <a16:creationId xmlns:a16="http://schemas.microsoft.com/office/drawing/2014/main" id="{F1EA23CE-6075-A3D5-741C-E49F9166DB60}"/>
              </a:ext>
            </a:extLst>
          </p:cNvPr>
          <p:cNvSpPr/>
          <p:nvPr/>
        </p:nvSpPr>
        <p:spPr>
          <a:xfrm>
            <a:off x="7524714" y="1754865"/>
            <a:ext cx="644996" cy="672325"/>
          </a:xfrm>
          <a:prstGeom prst="mathPlus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8CED7-42E2-6F70-264B-EF82DB20FD16}"/>
              </a:ext>
            </a:extLst>
          </p:cNvPr>
          <p:cNvSpPr txBox="1"/>
          <p:nvPr/>
        </p:nvSpPr>
        <p:spPr>
          <a:xfrm>
            <a:off x="8296678" y="2435096"/>
            <a:ext cx="1338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Penyemprotan</a:t>
            </a: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gulma</a:t>
            </a: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dengan</a:t>
            </a: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herbisida</a:t>
            </a:r>
            <a:endParaRPr kumimoji="0" lang="en-US" sz="1200" b="0" i="0" u="none" strike="noStrike" kern="1200" cap="none" spc="0" normalizeH="0" baseline="0" noProof="0" dirty="0"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542431D-9D58-AE51-F2F3-FEF702C929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MENENTUKAN TEMA</a:t>
            </a:r>
            <a:endParaRPr spc="-10" dirty="0">
              <a:solidFill>
                <a:srgbClr val="205868"/>
              </a:solidFill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9CDF07E-BEA5-6B3C-A973-1B38DD30388D}"/>
              </a:ext>
            </a:extLst>
          </p:cNvPr>
          <p:cNvGrpSpPr/>
          <p:nvPr/>
        </p:nvGrpSpPr>
        <p:grpSpPr>
          <a:xfrm>
            <a:off x="227329" y="629919"/>
            <a:ext cx="10821670" cy="58419"/>
            <a:chOff x="227329" y="629919"/>
            <a:chExt cx="10821670" cy="58419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319CFBA-DB6E-B20B-A400-49871841C7A2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A450861-3EBE-9269-6CA7-F01BD1A9B891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C88338AE-A9A8-165D-4FD7-CA5BE68F2E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6846" y="76200"/>
            <a:ext cx="654627" cy="6858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A6D815FC-B746-7BD0-0237-2B8C67B4638F}"/>
              </a:ext>
            </a:extLst>
          </p:cNvPr>
          <p:cNvGrpSpPr/>
          <p:nvPr/>
        </p:nvGrpSpPr>
        <p:grpSpPr>
          <a:xfrm>
            <a:off x="76200" y="698030"/>
            <a:ext cx="5397448" cy="2456075"/>
            <a:chOff x="23467" y="4164579"/>
            <a:chExt cx="5233872" cy="2232895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23C8CAE-08AF-366C-28E9-3BD3B1B6FD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8240" t="30815" r="58302" b="52835"/>
            <a:stretch/>
          </p:blipFill>
          <p:spPr>
            <a:xfrm>
              <a:off x="3011298" y="4164579"/>
              <a:ext cx="703402" cy="1382264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FF6892D-C169-6114-7D31-3CEA7455F2C7}"/>
                </a:ext>
              </a:extLst>
            </p:cNvPr>
            <p:cNvGrpSpPr/>
            <p:nvPr/>
          </p:nvGrpSpPr>
          <p:grpSpPr>
            <a:xfrm>
              <a:off x="23467" y="4514726"/>
              <a:ext cx="5233872" cy="1882748"/>
              <a:chOff x="23467" y="4514726"/>
              <a:chExt cx="5233872" cy="1882748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67AE195-BAD9-40F8-5B55-27FDE94DAAC1}"/>
                  </a:ext>
                </a:extLst>
              </p:cNvPr>
              <p:cNvGrpSpPr/>
              <p:nvPr/>
            </p:nvGrpSpPr>
            <p:grpSpPr>
              <a:xfrm>
                <a:off x="466110" y="4514726"/>
                <a:ext cx="460741" cy="832084"/>
                <a:chOff x="619924" y="4681721"/>
                <a:chExt cx="460741" cy="832084"/>
              </a:xfrm>
            </p:grpSpPr>
            <p:pic>
              <p:nvPicPr>
                <p:cNvPr id="61" name="Graphic 1">
                  <a:extLst>
                    <a:ext uri="{FF2B5EF4-FFF2-40B4-BE49-F238E27FC236}">
                      <a16:creationId xmlns:a16="http://schemas.microsoft.com/office/drawing/2014/main" id="{C898BBC1-2BA7-F26E-F667-272902A0B4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duotone>
                    <a:srgbClr val="70AD47">
                      <a:shade val="45000"/>
                      <a:satMod val="135000"/>
                    </a:srgbClr>
                    <a:prstClr val="white"/>
                  </a:duotone>
                </a:blip>
                <a:srcRect l="64366" r="29279" b="53262"/>
                <a:stretch/>
              </p:blipFill>
              <p:spPr>
                <a:xfrm>
                  <a:off x="619924" y="4681721"/>
                  <a:ext cx="460741" cy="832084"/>
                </a:xfrm>
                <a:prstGeom prst="rect">
                  <a:avLst/>
                </a:prstGeom>
              </p:spPr>
            </p:pic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D5D4A55E-A040-DB9B-9762-8657B7D05C88}"/>
                    </a:ext>
                  </a:extLst>
                </p:cNvPr>
                <p:cNvSpPr/>
                <p:nvPr/>
              </p:nvSpPr>
              <p:spPr>
                <a:xfrm>
                  <a:off x="632000" y="5289550"/>
                  <a:ext cx="419382" cy="224255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rgbClr val="70AD47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EF8F3E9-17FC-10FE-BEE9-343CDC5630AF}"/>
                  </a:ext>
                </a:extLst>
              </p:cNvPr>
              <p:cNvGrpSpPr/>
              <p:nvPr/>
            </p:nvGrpSpPr>
            <p:grpSpPr>
              <a:xfrm>
                <a:off x="1426861" y="4514726"/>
                <a:ext cx="1107705" cy="832084"/>
                <a:chOff x="1331611" y="4514726"/>
                <a:chExt cx="1107705" cy="832084"/>
              </a:xfrm>
            </p:grpSpPr>
            <p:pic>
              <p:nvPicPr>
                <p:cNvPr id="58" name="Graphic 1">
                  <a:extLst>
                    <a:ext uri="{FF2B5EF4-FFF2-40B4-BE49-F238E27FC236}">
                      <a16:creationId xmlns:a16="http://schemas.microsoft.com/office/drawing/2014/main" id="{B405CF09-DB19-BD31-7B05-89030559D7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duotone>
                    <a:srgbClr val="70AD47">
                      <a:shade val="45000"/>
                      <a:satMod val="135000"/>
                    </a:srgbClr>
                    <a:prstClr val="white"/>
                  </a:duotone>
                </a:blip>
                <a:srcRect l="64366" r="29279" b="53262"/>
                <a:stretch/>
              </p:blipFill>
              <p:spPr>
                <a:xfrm>
                  <a:off x="1331611" y="4514726"/>
                  <a:ext cx="460741" cy="832084"/>
                </a:xfrm>
                <a:prstGeom prst="rect">
                  <a:avLst/>
                </a:prstGeom>
              </p:spPr>
            </p:pic>
            <p:pic>
              <p:nvPicPr>
                <p:cNvPr id="59" name="Graphic 1">
                  <a:extLst>
                    <a:ext uri="{FF2B5EF4-FFF2-40B4-BE49-F238E27FC236}">
                      <a16:creationId xmlns:a16="http://schemas.microsoft.com/office/drawing/2014/main" id="{379C5448-CC5F-69A5-6548-22C7926ECD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duotone>
                    <a:srgbClr val="70AD47">
                      <a:shade val="45000"/>
                      <a:satMod val="135000"/>
                    </a:srgbClr>
                    <a:prstClr val="white"/>
                  </a:duotone>
                </a:blip>
                <a:srcRect l="64366" r="29279" b="53262"/>
                <a:stretch/>
              </p:blipFill>
              <p:spPr>
                <a:xfrm>
                  <a:off x="1978575" y="4514726"/>
                  <a:ext cx="460741" cy="832084"/>
                </a:xfrm>
                <a:prstGeom prst="rect">
                  <a:avLst/>
                </a:prstGeom>
              </p:spPr>
            </p:pic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C082BB70-D7E7-C6CA-8335-526EB718BF6B}"/>
                    </a:ext>
                  </a:extLst>
                </p:cNvPr>
                <p:cNvCxnSpPr/>
                <p:nvPr/>
              </p:nvCxnSpPr>
              <p:spPr>
                <a:xfrm>
                  <a:off x="1704646" y="5120378"/>
                  <a:ext cx="360000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70AD47">
                      <a:lumMod val="50000"/>
                    </a:srgbClr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E6433F11-60F8-5CEE-2526-49F582DC3550}"/>
                  </a:ext>
                </a:extLst>
              </p:cNvPr>
              <p:cNvGrpSpPr/>
              <p:nvPr/>
            </p:nvGrpSpPr>
            <p:grpSpPr>
              <a:xfrm>
                <a:off x="23467" y="5362859"/>
                <a:ext cx="1297622" cy="1027076"/>
                <a:chOff x="148446" y="5512718"/>
                <a:chExt cx="1297622" cy="1027076"/>
              </a:xfrm>
            </p:grpSpPr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D477CB9-1CBC-AB11-B4C5-32F11837E393}"/>
                    </a:ext>
                  </a:extLst>
                </p:cNvPr>
                <p:cNvSpPr txBox="1"/>
                <p:nvPr/>
              </p:nvSpPr>
              <p:spPr>
                <a:xfrm>
                  <a:off x="382142" y="5512718"/>
                  <a:ext cx="85311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CIRCLE</a:t>
                  </a: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E4EB30C-01F1-8AE6-1813-A74828C4FE7B}"/>
                    </a:ext>
                  </a:extLst>
                </p:cNvPr>
                <p:cNvSpPr txBox="1"/>
                <p:nvPr/>
              </p:nvSpPr>
              <p:spPr>
                <a:xfrm>
                  <a:off x="148446" y="5784309"/>
                  <a:ext cx="1297622" cy="75548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 err="1"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Membersihkan</a:t>
                  </a:r>
                  <a:r>
                    <a:rPr kumimoji="0" lang="en-US" sz="1200" b="0" i="0" u="none" strike="noStrike" kern="1200" cap="none" spc="0" normalizeH="0" baseline="0" noProof="0" dirty="0"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gulma</a:t>
                  </a:r>
                  <a:r>
                    <a:rPr kumimoji="0" lang="en-US" sz="1200" b="0" i="0" u="none" strike="noStrike" kern="1200" cap="none" spc="0" normalizeH="0" baseline="0" noProof="0" dirty="0"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pada </a:t>
                  </a:r>
                  <a:r>
                    <a:rPr kumimoji="0" lang="en-US" sz="1200" b="0" i="0" u="none" strike="noStrike" kern="1200" cap="none" spc="0" normalizeH="0" baseline="0" noProof="0" dirty="0" err="1"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piringan</a:t>
                  </a:r>
                  <a:r>
                    <a:rPr kumimoji="0" lang="en-US" sz="1200" b="0" i="0" u="none" strike="noStrike" kern="1200" cap="none" spc="0" normalizeH="0" baseline="0" noProof="0" dirty="0"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selebar</a:t>
                  </a:r>
                  <a:r>
                    <a:rPr kumimoji="0" lang="en-US" sz="1200" b="0" i="0" u="none" strike="noStrike" kern="1200" cap="none" spc="0" normalizeH="0" baseline="0" noProof="0" dirty="0"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2 meter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123DDE6-FDBD-F548-7BB0-44D776D74AA8}"/>
                  </a:ext>
                </a:extLst>
              </p:cNvPr>
              <p:cNvGrpSpPr/>
              <p:nvPr/>
            </p:nvGrpSpPr>
            <p:grpSpPr>
              <a:xfrm>
                <a:off x="1321089" y="5362859"/>
                <a:ext cx="1262974" cy="1025060"/>
                <a:chOff x="91341" y="5512718"/>
                <a:chExt cx="1262974" cy="1025060"/>
              </a:xfrm>
            </p:grpSpPr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26FAB2B-24E1-661D-3E66-8558F2D39EFE}"/>
                    </a:ext>
                  </a:extLst>
                </p:cNvPr>
                <p:cNvSpPr txBox="1"/>
                <p:nvPr/>
              </p:nvSpPr>
              <p:spPr>
                <a:xfrm>
                  <a:off x="91341" y="5512718"/>
                  <a:ext cx="12629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GAWANGAN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89C400D-6399-0C2A-BBB7-246DFEA8A512}"/>
                    </a:ext>
                  </a:extLst>
                </p:cNvPr>
                <p:cNvSpPr txBox="1"/>
                <p:nvPr/>
              </p:nvSpPr>
              <p:spPr>
                <a:xfrm>
                  <a:off x="189161" y="5782292"/>
                  <a:ext cx="1156561" cy="7554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Membersihkan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gulma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di areal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antar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pohon</a:t>
                  </a: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EEEAAF1F-2731-CFD7-2FAC-DE0981EB217B}"/>
                  </a:ext>
                </a:extLst>
              </p:cNvPr>
              <p:cNvGrpSpPr/>
              <p:nvPr/>
            </p:nvGrpSpPr>
            <p:grpSpPr>
              <a:xfrm>
                <a:off x="2645970" y="5362859"/>
                <a:ext cx="1162482" cy="1034615"/>
                <a:chOff x="464225" y="5512718"/>
                <a:chExt cx="1162482" cy="1034615"/>
              </a:xfrm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0C2D5DE-FA80-20F5-C283-B3BFE78ECB54}"/>
                    </a:ext>
                  </a:extLst>
                </p:cNvPr>
                <p:cNvSpPr txBox="1"/>
                <p:nvPr/>
              </p:nvSpPr>
              <p:spPr>
                <a:xfrm>
                  <a:off x="464225" y="5512718"/>
                  <a:ext cx="114326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PRUNNING</a:t>
                  </a: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C6D2E7C-2AB1-796B-168A-76B24BF4B288}"/>
                    </a:ext>
                  </a:extLst>
                </p:cNvPr>
                <p:cNvSpPr txBox="1"/>
                <p:nvPr/>
              </p:nvSpPr>
              <p:spPr>
                <a:xfrm>
                  <a:off x="491544" y="5791848"/>
                  <a:ext cx="1135163" cy="75548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Memotong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pelepah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kering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dan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tidak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standart</a:t>
                  </a: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48" name="Picture 2" descr="pupuk, pertanian, pupuk kandang, kompos Ikon">
                <a:extLst>
                  <a:ext uri="{FF2B5EF4-FFF2-40B4-BE49-F238E27FC236}">
                    <a16:creationId xmlns:a16="http://schemas.microsoft.com/office/drawing/2014/main" id="{BFB0E06D-EFFD-4287-E8EB-1D47B913C5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0397" y="4684094"/>
                <a:ext cx="678765" cy="6787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C774EA7-694B-79C5-D4E4-64395560797A}"/>
                  </a:ext>
                </a:extLst>
              </p:cNvPr>
              <p:cNvGrpSpPr/>
              <p:nvPr/>
            </p:nvGrpSpPr>
            <p:grpSpPr>
              <a:xfrm>
                <a:off x="3949471" y="5346810"/>
                <a:ext cx="1307868" cy="1025411"/>
                <a:chOff x="241809" y="5496669"/>
                <a:chExt cx="1307868" cy="1025411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D87C6A3-4079-7F39-2785-41FDF9EFD835}"/>
                    </a:ext>
                  </a:extLst>
                </p:cNvPr>
                <p:cNvSpPr txBox="1"/>
                <p:nvPr/>
              </p:nvSpPr>
              <p:spPr>
                <a:xfrm>
                  <a:off x="357139" y="5496669"/>
                  <a:ext cx="789958" cy="2798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PUPUK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F45BFC0-BA19-C551-F909-51DEBC7D0504}"/>
                    </a:ext>
                  </a:extLst>
                </p:cNvPr>
                <p:cNvSpPr txBox="1"/>
                <p:nvPr/>
              </p:nvSpPr>
              <p:spPr>
                <a:xfrm>
                  <a:off x="241809" y="5766594"/>
                  <a:ext cx="1307868" cy="7554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Mengaplikasikan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pupuk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organic dan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anorganik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kepada</a:t>
                  </a: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tanaman</a:t>
                  </a: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65" name="object 64">
            <a:extLst>
              <a:ext uri="{FF2B5EF4-FFF2-40B4-BE49-F238E27FC236}">
                <a16:creationId xmlns:a16="http://schemas.microsoft.com/office/drawing/2014/main" id="{A9F9C54B-918C-9652-E4AB-43225225F6CB}"/>
              </a:ext>
            </a:extLst>
          </p:cNvPr>
          <p:cNvSpPr txBox="1"/>
          <p:nvPr/>
        </p:nvSpPr>
        <p:spPr>
          <a:xfrm>
            <a:off x="431087" y="753500"/>
            <a:ext cx="538622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>
                <a:latin typeface="Vagabond" pitchFamily="2" charset="0"/>
                <a:cs typeface="Calibri"/>
              </a:rPr>
              <a:t>BISNIS PROSES RAWAT KELAPA SAWIT</a:t>
            </a:r>
            <a:endParaRPr sz="1600" dirty="0">
              <a:latin typeface="Vagabond" pitchFamily="2" charset="0"/>
              <a:cs typeface="Calibri"/>
            </a:endParaRPr>
          </a:p>
        </p:txBody>
      </p:sp>
      <p:grpSp>
        <p:nvGrpSpPr>
          <p:cNvPr id="67" name="object 65">
            <a:extLst>
              <a:ext uri="{FF2B5EF4-FFF2-40B4-BE49-F238E27FC236}">
                <a16:creationId xmlns:a16="http://schemas.microsoft.com/office/drawing/2014/main" id="{FF569F05-7471-1587-8364-5C3AB365F35B}"/>
              </a:ext>
            </a:extLst>
          </p:cNvPr>
          <p:cNvGrpSpPr/>
          <p:nvPr/>
        </p:nvGrpSpPr>
        <p:grpSpPr>
          <a:xfrm>
            <a:off x="163751" y="799474"/>
            <a:ext cx="246811" cy="195580"/>
            <a:chOff x="7051040" y="4323079"/>
            <a:chExt cx="195580" cy="195580"/>
          </a:xfrm>
        </p:grpSpPr>
        <p:sp>
          <p:nvSpPr>
            <p:cNvPr id="68" name="object 66">
              <a:extLst>
                <a:ext uri="{FF2B5EF4-FFF2-40B4-BE49-F238E27FC236}">
                  <a16:creationId xmlns:a16="http://schemas.microsoft.com/office/drawing/2014/main" id="{6BF4AF5E-8630-8C32-B279-CE5D646063B6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  <p:sp>
          <p:nvSpPr>
            <p:cNvPr id="69" name="object 67">
              <a:extLst>
                <a:ext uri="{FF2B5EF4-FFF2-40B4-BE49-F238E27FC236}">
                  <a16:creationId xmlns:a16="http://schemas.microsoft.com/office/drawing/2014/main" id="{097DE192-B6EF-822B-6037-F2093D8BEC64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</p:grpSp>
      <p:pic>
        <p:nvPicPr>
          <p:cNvPr id="121" name="Picture 8" descr="tanda, cek Ik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689" y="1046036"/>
            <a:ext cx="262357" cy="26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8" descr="tanda, cek Ik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685" y="1074850"/>
            <a:ext cx="262357" cy="26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10" descr="tanda, pertanyaan Ikon">
            <a:extLst>
              <a:ext uri="{FF2B5EF4-FFF2-40B4-BE49-F238E27FC236}">
                <a16:creationId xmlns:a16="http://schemas.microsoft.com/office/drawing/2014/main" id="{A0F917A6-DF0E-0C65-F909-03B2012E8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627" y="1041654"/>
            <a:ext cx="371484" cy="37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1B8E65C4-E9EA-8AE2-1433-C8D6DAC90F84}"/>
              </a:ext>
            </a:extLst>
          </p:cNvPr>
          <p:cNvSpPr/>
          <p:nvPr/>
        </p:nvSpPr>
        <p:spPr>
          <a:xfrm>
            <a:off x="227329" y="1068016"/>
            <a:ext cx="2569040" cy="119229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98D9C44B-9020-A1CD-9436-01DCCB90A3A8}"/>
              </a:ext>
            </a:extLst>
          </p:cNvPr>
          <p:cNvSpPr/>
          <p:nvPr/>
        </p:nvSpPr>
        <p:spPr>
          <a:xfrm>
            <a:off x="5404243" y="1632299"/>
            <a:ext cx="559898" cy="4767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0" descr="tanda, pertanyaan Ikon">
            <a:extLst>
              <a:ext uri="{FF2B5EF4-FFF2-40B4-BE49-F238E27FC236}">
                <a16:creationId xmlns:a16="http://schemas.microsoft.com/office/drawing/2014/main" id="{231C87F9-6E88-227A-AB80-7FD90E086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639" y="1049947"/>
            <a:ext cx="371484" cy="37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A07AE9-378F-5A7D-8141-447C7A1362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" t="42594" r="23092" b="21112"/>
          <a:stretch/>
        </p:blipFill>
        <p:spPr>
          <a:xfrm>
            <a:off x="1693438" y="3281217"/>
            <a:ext cx="8750758" cy="2489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515CD4-88AF-A00E-ACD7-F2F3AA3450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21" t="13073" r="723" b="53376"/>
          <a:stretch/>
        </p:blipFill>
        <p:spPr>
          <a:xfrm>
            <a:off x="10168618" y="1116400"/>
            <a:ext cx="1933119" cy="2300961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6A15858A-9181-BF6F-FB4B-8E626A8AFADD}"/>
              </a:ext>
            </a:extLst>
          </p:cNvPr>
          <p:cNvSpPr/>
          <p:nvPr/>
        </p:nvSpPr>
        <p:spPr>
          <a:xfrm>
            <a:off x="9708229" y="1710487"/>
            <a:ext cx="559898" cy="4767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373B5A-D152-035D-D59C-B8FCF19F21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" t="80876" r="63289" b="2560"/>
          <a:stretch/>
        </p:blipFill>
        <p:spPr>
          <a:xfrm>
            <a:off x="4462088" y="5769021"/>
            <a:ext cx="3969743" cy="108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5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8099-DF35-0DF8-0C9E-A714D7CE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418B45-5201-DB05-3C94-F85563A0E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" t="45031" r="1352" b="28791"/>
          <a:stretch/>
        </p:blipFill>
        <p:spPr>
          <a:xfrm>
            <a:off x="447768" y="4899202"/>
            <a:ext cx="10587358" cy="1889025"/>
          </a:xfrm>
          <a:prstGeom prst="rect">
            <a:avLst/>
          </a:prstGeom>
        </p:spPr>
      </p:pic>
      <p:grpSp>
        <p:nvGrpSpPr>
          <p:cNvPr id="8" name="object 45">
            <a:extLst>
              <a:ext uri="{FF2B5EF4-FFF2-40B4-BE49-F238E27FC236}">
                <a16:creationId xmlns:a16="http://schemas.microsoft.com/office/drawing/2014/main" id="{6629B77F-E13F-F598-3E3A-23AF0D82E0F9}"/>
              </a:ext>
            </a:extLst>
          </p:cNvPr>
          <p:cNvGrpSpPr/>
          <p:nvPr/>
        </p:nvGrpSpPr>
        <p:grpSpPr>
          <a:xfrm>
            <a:off x="182097" y="2787838"/>
            <a:ext cx="363220" cy="330200"/>
            <a:chOff x="858519" y="4348479"/>
            <a:chExt cx="363220" cy="330200"/>
          </a:xfrm>
        </p:grpSpPr>
        <p:sp>
          <p:nvSpPr>
            <p:cNvPr id="10" name="object 46">
              <a:extLst>
                <a:ext uri="{FF2B5EF4-FFF2-40B4-BE49-F238E27FC236}">
                  <a16:creationId xmlns:a16="http://schemas.microsoft.com/office/drawing/2014/main" id="{8304766A-ACDE-CB68-EFB6-781BF6DF83D1}"/>
                </a:ext>
              </a:extLst>
            </p:cNvPr>
            <p:cNvSpPr/>
            <p:nvPr/>
          </p:nvSpPr>
          <p:spPr>
            <a:xfrm>
              <a:off x="871219" y="4361179"/>
              <a:ext cx="337820" cy="304800"/>
            </a:xfrm>
            <a:custGeom>
              <a:avLst/>
              <a:gdLst/>
              <a:ahLst/>
              <a:cxnLst/>
              <a:rect l="l" t="t" r="r" b="b"/>
              <a:pathLst>
                <a:path w="337819" h="304800">
                  <a:moveTo>
                    <a:pt x="168910" y="0"/>
                  </a:moveTo>
                  <a:lnTo>
                    <a:pt x="115523" y="7766"/>
                  </a:lnTo>
                  <a:lnTo>
                    <a:pt x="69156" y="29394"/>
                  </a:lnTo>
                  <a:lnTo>
                    <a:pt x="32591" y="62380"/>
                  </a:lnTo>
                  <a:lnTo>
                    <a:pt x="8611" y="104217"/>
                  </a:lnTo>
                  <a:lnTo>
                    <a:pt x="0" y="152400"/>
                  </a:lnTo>
                  <a:lnTo>
                    <a:pt x="8611" y="200582"/>
                  </a:lnTo>
                  <a:lnTo>
                    <a:pt x="32591" y="242419"/>
                  </a:lnTo>
                  <a:lnTo>
                    <a:pt x="69156" y="275405"/>
                  </a:lnTo>
                  <a:lnTo>
                    <a:pt x="115523" y="297033"/>
                  </a:lnTo>
                  <a:lnTo>
                    <a:pt x="168910" y="304800"/>
                  </a:lnTo>
                  <a:lnTo>
                    <a:pt x="222296" y="297033"/>
                  </a:lnTo>
                  <a:lnTo>
                    <a:pt x="268663" y="275405"/>
                  </a:lnTo>
                  <a:lnTo>
                    <a:pt x="305228" y="242419"/>
                  </a:lnTo>
                  <a:lnTo>
                    <a:pt x="329208" y="200582"/>
                  </a:lnTo>
                  <a:lnTo>
                    <a:pt x="337820" y="152400"/>
                  </a:lnTo>
                  <a:lnTo>
                    <a:pt x="329208" y="104217"/>
                  </a:lnTo>
                  <a:lnTo>
                    <a:pt x="305228" y="62380"/>
                  </a:lnTo>
                  <a:lnTo>
                    <a:pt x="268663" y="29394"/>
                  </a:lnTo>
                  <a:lnTo>
                    <a:pt x="222296" y="7766"/>
                  </a:lnTo>
                  <a:lnTo>
                    <a:pt x="16891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47">
              <a:extLst>
                <a:ext uri="{FF2B5EF4-FFF2-40B4-BE49-F238E27FC236}">
                  <a16:creationId xmlns:a16="http://schemas.microsoft.com/office/drawing/2014/main" id="{4AA9F1F3-BD21-71F2-A20E-B1C9BBF524D5}"/>
                </a:ext>
              </a:extLst>
            </p:cNvPr>
            <p:cNvSpPr/>
            <p:nvPr/>
          </p:nvSpPr>
          <p:spPr>
            <a:xfrm>
              <a:off x="871219" y="4361179"/>
              <a:ext cx="337820" cy="304800"/>
            </a:xfrm>
            <a:custGeom>
              <a:avLst/>
              <a:gdLst/>
              <a:ahLst/>
              <a:cxnLst/>
              <a:rect l="l" t="t" r="r" b="b"/>
              <a:pathLst>
                <a:path w="337819" h="304800">
                  <a:moveTo>
                    <a:pt x="0" y="152400"/>
                  </a:moveTo>
                  <a:lnTo>
                    <a:pt x="8611" y="104217"/>
                  </a:lnTo>
                  <a:lnTo>
                    <a:pt x="32591" y="62380"/>
                  </a:lnTo>
                  <a:lnTo>
                    <a:pt x="69156" y="29394"/>
                  </a:lnTo>
                  <a:lnTo>
                    <a:pt x="115523" y="7766"/>
                  </a:lnTo>
                  <a:lnTo>
                    <a:pt x="168910" y="0"/>
                  </a:lnTo>
                  <a:lnTo>
                    <a:pt x="222296" y="7766"/>
                  </a:lnTo>
                  <a:lnTo>
                    <a:pt x="268663" y="29394"/>
                  </a:lnTo>
                  <a:lnTo>
                    <a:pt x="305228" y="62380"/>
                  </a:lnTo>
                  <a:lnTo>
                    <a:pt x="329208" y="104217"/>
                  </a:lnTo>
                  <a:lnTo>
                    <a:pt x="337820" y="152400"/>
                  </a:lnTo>
                  <a:lnTo>
                    <a:pt x="329208" y="200582"/>
                  </a:lnTo>
                  <a:lnTo>
                    <a:pt x="305228" y="242419"/>
                  </a:lnTo>
                  <a:lnTo>
                    <a:pt x="268663" y="275405"/>
                  </a:lnTo>
                  <a:lnTo>
                    <a:pt x="222296" y="297033"/>
                  </a:lnTo>
                  <a:lnTo>
                    <a:pt x="168910" y="304800"/>
                  </a:lnTo>
                  <a:lnTo>
                    <a:pt x="115523" y="297033"/>
                  </a:lnTo>
                  <a:lnTo>
                    <a:pt x="69156" y="275405"/>
                  </a:lnTo>
                  <a:lnTo>
                    <a:pt x="32591" y="242419"/>
                  </a:lnTo>
                  <a:lnTo>
                    <a:pt x="8611" y="200582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B6BAA34E-FC9D-135B-5C54-379CE6878F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MENENTUKAN TEMA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>
                <a:solidFill>
                  <a:srgbClr val="205868"/>
                </a:solidFill>
              </a:rPr>
              <a:t>ANALYZE</a:t>
            </a:r>
            <a:r>
              <a:rPr spc="-65" dirty="0">
                <a:solidFill>
                  <a:srgbClr val="205868"/>
                </a:solidFill>
              </a:rPr>
              <a:t> </a:t>
            </a:r>
            <a:r>
              <a:rPr spc="-10" dirty="0">
                <a:solidFill>
                  <a:srgbClr val="205868"/>
                </a:solidFill>
              </a:rPr>
              <a:t>SITUATION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4B37896-C436-9322-2FD1-AFF3B2FA3C8D}"/>
              </a:ext>
            </a:extLst>
          </p:cNvPr>
          <p:cNvGrpSpPr/>
          <p:nvPr/>
        </p:nvGrpSpPr>
        <p:grpSpPr>
          <a:xfrm>
            <a:off x="227329" y="629919"/>
            <a:ext cx="10821670" cy="58419"/>
            <a:chOff x="227329" y="629919"/>
            <a:chExt cx="10821670" cy="58419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BB91F84-7F10-C770-C654-B24607B5F107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7F82F71-1590-77C0-51A8-C5079ABF6871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A1510E7E-7B67-7CA9-C0D1-4277495B7E4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66846" y="76200"/>
            <a:ext cx="654627" cy="685800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FD2FB404-F3C8-1517-B558-C97619A57A7C}"/>
              </a:ext>
            </a:extLst>
          </p:cNvPr>
          <p:cNvGrpSpPr/>
          <p:nvPr/>
        </p:nvGrpSpPr>
        <p:grpSpPr>
          <a:xfrm>
            <a:off x="227329" y="1144269"/>
            <a:ext cx="11963400" cy="1544320"/>
            <a:chOff x="227329" y="1144269"/>
            <a:chExt cx="11963400" cy="154432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9E5787F-1C2F-9002-8589-41C51FF1660D}"/>
                </a:ext>
              </a:extLst>
            </p:cNvPr>
            <p:cNvSpPr/>
            <p:nvPr/>
          </p:nvSpPr>
          <p:spPr>
            <a:xfrm>
              <a:off x="227329" y="1220469"/>
              <a:ext cx="4800600" cy="0"/>
            </a:xfrm>
            <a:custGeom>
              <a:avLst/>
              <a:gdLst/>
              <a:ahLst/>
              <a:cxnLst/>
              <a:rect l="l" t="t" r="r" b="b"/>
              <a:pathLst>
                <a:path w="4800600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F097016-8D76-E679-B0B9-CA9144D47D8D}"/>
                </a:ext>
              </a:extLst>
            </p:cNvPr>
            <p:cNvSpPr/>
            <p:nvPr/>
          </p:nvSpPr>
          <p:spPr>
            <a:xfrm>
              <a:off x="958849" y="1144269"/>
              <a:ext cx="11231880" cy="1544320"/>
            </a:xfrm>
            <a:custGeom>
              <a:avLst/>
              <a:gdLst/>
              <a:ahLst/>
              <a:cxnLst/>
              <a:rect l="l" t="t" r="r" b="b"/>
              <a:pathLst>
                <a:path w="11231880" h="1544320">
                  <a:moveTo>
                    <a:pt x="48259" y="386079"/>
                  </a:moveTo>
                  <a:lnTo>
                    <a:pt x="0" y="386079"/>
                  </a:lnTo>
                  <a:lnTo>
                    <a:pt x="0" y="1158239"/>
                  </a:lnTo>
                  <a:lnTo>
                    <a:pt x="48259" y="1158239"/>
                  </a:lnTo>
                  <a:lnTo>
                    <a:pt x="48259" y="386079"/>
                  </a:lnTo>
                  <a:close/>
                </a:path>
                <a:path w="11231880" h="1544320">
                  <a:moveTo>
                    <a:pt x="193040" y="386079"/>
                  </a:moveTo>
                  <a:lnTo>
                    <a:pt x="96519" y="386079"/>
                  </a:lnTo>
                  <a:lnTo>
                    <a:pt x="96519" y="1158239"/>
                  </a:lnTo>
                  <a:lnTo>
                    <a:pt x="193040" y="1158239"/>
                  </a:lnTo>
                  <a:lnTo>
                    <a:pt x="193040" y="386079"/>
                  </a:lnTo>
                  <a:close/>
                </a:path>
                <a:path w="11231880" h="1544320">
                  <a:moveTo>
                    <a:pt x="10459720" y="0"/>
                  </a:moveTo>
                  <a:lnTo>
                    <a:pt x="10459720" y="386079"/>
                  </a:lnTo>
                  <a:lnTo>
                    <a:pt x="241300" y="386079"/>
                  </a:lnTo>
                  <a:lnTo>
                    <a:pt x="241300" y="1158239"/>
                  </a:lnTo>
                  <a:lnTo>
                    <a:pt x="10459720" y="1158239"/>
                  </a:lnTo>
                  <a:lnTo>
                    <a:pt x="10459720" y="1544319"/>
                  </a:lnTo>
                  <a:lnTo>
                    <a:pt x="11231880" y="772159"/>
                  </a:lnTo>
                  <a:lnTo>
                    <a:pt x="1045972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78F6E96-94AE-2A38-49E2-B21F4BFA88BE}"/>
                </a:ext>
              </a:extLst>
            </p:cNvPr>
            <p:cNvSpPr/>
            <p:nvPr/>
          </p:nvSpPr>
          <p:spPr>
            <a:xfrm>
              <a:off x="958849" y="1144269"/>
              <a:ext cx="11231880" cy="1544320"/>
            </a:xfrm>
            <a:custGeom>
              <a:avLst/>
              <a:gdLst/>
              <a:ahLst/>
              <a:cxnLst/>
              <a:rect l="l" t="t" r="r" b="b"/>
              <a:pathLst>
                <a:path w="11231880" h="1544320">
                  <a:moveTo>
                    <a:pt x="0" y="386079"/>
                  </a:moveTo>
                  <a:lnTo>
                    <a:pt x="48259" y="386079"/>
                  </a:lnTo>
                  <a:lnTo>
                    <a:pt x="48259" y="1158239"/>
                  </a:lnTo>
                  <a:lnTo>
                    <a:pt x="0" y="1158239"/>
                  </a:lnTo>
                  <a:lnTo>
                    <a:pt x="0" y="386079"/>
                  </a:lnTo>
                  <a:close/>
                </a:path>
                <a:path w="11231880" h="1544320">
                  <a:moveTo>
                    <a:pt x="96519" y="386079"/>
                  </a:moveTo>
                  <a:lnTo>
                    <a:pt x="193040" y="386079"/>
                  </a:lnTo>
                  <a:lnTo>
                    <a:pt x="193040" y="1158239"/>
                  </a:lnTo>
                  <a:lnTo>
                    <a:pt x="96519" y="1158239"/>
                  </a:lnTo>
                  <a:lnTo>
                    <a:pt x="96519" y="386079"/>
                  </a:lnTo>
                  <a:close/>
                </a:path>
                <a:path w="11231880" h="1544320">
                  <a:moveTo>
                    <a:pt x="241300" y="386079"/>
                  </a:moveTo>
                  <a:lnTo>
                    <a:pt x="10459720" y="386079"/>
                  </a:lnTo>
                  <a:lnTo>
                    <a:pt x="10459720" y="0"/>
                  </a:lnTo>
                  <a:lnTo>
                    <a:pt x="11231880" y="772159"/>
                  </a:lnTo>
                  <a:lnTo>
                    <a:pt x="10459720" y="1544319"/>
                  </a:lnTo>
                  <a:lnTo>
                    <a:pt x="10459720" y="1158239"/>
                  </a:lnTo>
                  <a:lnTo>
                    <a:pt x="241300" y="1158239"/>
                  </a:lnTo>
                  <a:lnTo>
                    <a:pt x="241300" y="38607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26E5B794-6F2A-3919-FA8D-2F1C58D94949}"/>
                </a:ext>
              </a:extLst>
            </p:cNvPr>
            <p:cNvSpPr/>
            <p:nvPr/>
          </p:nvSpPr>
          <p:spPr>
            <a:xfrm>
              <a:off x="1437640" y="1412240"/>
              <a:ext cx="2217420" cy="1097280"/>
            </a:xfrm>
            <a:custGeom>
              <a:avLst/>
              <a:gdLst/>
              <a:ahLst/>
              <a:cxnLst/>
              <a:rect l="l" t="t" r="r" b="b"/>
              <a:pathLst>
                <a:path w="2217420" h="1097280">
                  <a:moveTo>
                    <a:pt x="2034539" y="0"/>
                  </a:moveTo>
                  <a:lnTo>
                    <a:pt x="182879" y="0"/>
                  </a:ln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80"/>
                  </a:lnTo>
                  <a:lnTo>
                    <a:pt x="0" y="914400"/>
                  </a:lnTo>
                  <a:lnTo>
                    <a:pt x="6535" y="963003"/>
                  </a:lnTo>
                  <a:lnTo>
                    <a:pt x="24976" y="1006686"/>
                  </a:lnTo>
                  <a:lnTo>
                    <a:pt x="53578" y="1043701"/>
                  </a:lnTo>
                  <a:lnTo>
                    <a:pt x="90593" y="1072303"/>
                  </a:lnTo>
                  <a:lnTo>
                    <a:pt x="134276" y="1090744"/>
                  </a:lnTo>
                  <a:lnTo>
                    <a:pt x="182879" y="1097280"/>
                  </a:lnTo>
                  <a:lnTo>
                    <a:pt x="2034539" y="1097280"/>
                  </a:lnTo>
                  <a:lnTo>
                    <a:pt x="2083143" y="1090744"/>
                  </a:lnTo>
                  <a:lnTo>
                    <a:pt x="2126826" y="1072303"/>
                  </a:lnTo>
                  <a:lnTo>
                    <a:pt x="2163841" y="1043701"/>
                  </a:lnTo>
                  <a:lnTo>
                    <a:pt x="2192443" y="1006686"/>
                  </a:lnTo>
                  <a:lnTo>
                    <a:pt x="2210884" y="963003"/>
                  </a:lnTo>
                  <a:lnTo>
                    <a:pt x="2217420" y="914400"/>
                  </a:lnTo>
                  <a:lnTo>
                    <a:pt x="2217420" y="182880"/>
                  </a:lnTo>
                  <a:lnTo>
                    <a:pt x="2210884" y="134276"/>
                  </a:lnTo>
                  <a:lnTo>
                    <a:pt x="2192443" y="90593"/>
                  </a:lnTo>
                  <a:lnTo>
                    <a:pt x="2163841" y="53578"/>
                  </a:lnTo>
                  <a:lnTo>
                    <a:pt x="2126826" y="24976"/>
                  </a:lnTo>
                  <a:lnTo>
                    <a:pt x="2083143" y="6535"/>
                  </a:lnTo>
                  <a:lnTo>
                    <a:pt x="203453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F5B9109B-0A3A-82C3-0D1E-42BC5EBCEF11}"/>
                </a:ext>
              </a:extLst>
            </p:cNvPr>
            <p:cNvSpPr/>
            <p:nvPr/>
          </p:nvSpPr>
          <p:spPr>
            <a:xfrm>
              <a:off x="1437640" y="1412240"/>
              <a:ext cx="2217420" cy="1097280"/>
            </a:xfrm>
            <a:custGeom>
              <a:avLst/>
              <a:gdLst/>
              <a:ahLst/>
              <a:cxnLst/>
              <a:rect l="l" t="t" r="r" b="b"/>
              <a:pathLst>
                <a:path w="2217420" h="1097280">
                  <a:moveTo>
                    <a:pt x="0" y="182880"/>
                  </a:moveTo>
                  <a:lnTo>
                    <a:pt x="6535" y="134276"/>
                  </a:lnTo>
                  <a:lnTo>
                    <a:pt x="24976" y="90593"/>
                  </a:lnTo>
                  <a:lnTo>
                    <a:pt x="53578" y="53578"/>
                  </a:lnTo>
                  <a:lnTo>
                    <a:pt x="90593" y="24976"/>
                  </a:lnTo>
                  <a:lnTo>
                    <a:pt x="134276" y="6535"/>
                  </a:lnTo>
                  <a:lnTo>
                    <a:pt x="182879" y="0"/>
                  </a:lnTo>
                  <a:lnTo>
                    <a:pt x="2034539" y="0"/>
                  </a:lnTo>
                  <a:lnTo>
                    <a:pt x="2083143" y="6535"/>
                  </a:lnTo>
                  <a:lnTo>
                    <a:pt x="2126826" y="24976"/>
                  </a:lnTo>
                  <a:lnTo>
                    <a:pt x="2163841" y="53578"/>
                  </a:lnTo>
                  <a:lnTo>
                    <a:pt x="2192443" y="90593"/>
                  </a:lnTo>
                  <a:lnTo>
                    <a:pt x="2210884" y="134276"/>
                  </a:lnTo>
                  <a:lnTo>
                    <a:pt x="2217420" y="182880"/>
                  </a:lnTo>
                  <a:lnTo>
                    <a:pt x="2217420" y="914400"/>
                  </a:lnTo>
                  <a:lnTo>
                    <a:pt x="2210884" y="963003"/>
                  </a:lnTo>
                  <a:lnTo>
                    <a:pt x="2192443" y="1006686"/>
                  </a:lnTo>
                  <a:lnTo>
                    <a:pt x="2163841" y="1043701"/>
                  </a:lnTo>
                  <a:lnTo>
                    <a:pt x="2126826" y="1072303"/>
                  </a:lnTo>
                  <a:lnTo>
                    <a:pt x="2083143" y="1090744"/>
                  </a:lnTo>
                  <a:lnTo>
                    <a:pt x="2034539" y="1097280"/>
                  </a:lnTo>
                  <a:lnTo>
                    <a:pt x="182879" y="1097280"/>
                  </a:lnTo>
                  <a:lnTo>
                    <a:pt x="134276" y="1090744"/>
                  </a:lnTo>
                  <a:lnTo>
                    <a:pt x="90593" y="1072303"/>
                  </a:lnTo>
                  <a:lnTo>
                    <a:pt x="53578" y="1043701"/>
                  </a:lnTo>
                  <a:lnTo>
                    <a:pt x="24976" y="1006686"/>
                  </a:lnTo>
                  <a:lnTo>
                    <a:pt x="6535" y="963003"/>
                  </a:lnTo>
                  <a:lnTo>
                    <a:pt x="0" y="914400"/>
                  </a:lnTo>
                  <a:lnTo>
                    <a:pt x="0" y="182880"/>
                  </a:lnTo>
                  <a:close/>
                </a:path>
              </a:pathLst>
            </a:custGeom>
            <a:ln w="203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1C23253E-E819-74AD-8CA9-8B8D550B4055}"/>
              </a:ext>
            </a:extLst>
          </p:cNvPr>
          <p:cNvSpPr txBox="1"/>
          <p:nvPr/>
        </p:nvSpPr>
        <p:spPr>
          <a:xfrm>
            <a:off x="1827988" y="1602739"/>
            <a:ext cx="161036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Pengambilan</a:t>
            </a:r>
            <a:r>
              <a:rPr lang="en-US" sz="1400" b="1" spc="-10" dirty="0">
                <a:solidFill>
                  <a:srgbClr val="00295F"/>
                </a:solidFill>
                <a:latin typeface="Arial"/>
                <a:cs typeface="Arial"/>
              </a:rPr>
              <a:t> material </a:t>
            </a: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herbisida</a:t>
            </a:r>
            <a:r>
              <a:rPr lang="en-US" sz="1400" b="1" spc="-10" dirty="0">
                <a:solidFill>
                  <a:srgbClr val="00295F"/>
                </a:solidFill>
                <a:latin typeface="Arial"/>
                <a:cs typeface="Arial"/>
              </a:rPr>
              <a:t> di </a:t>
            </a: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gudang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3ACD8ACC-1259-9938-A866-F2FF506CDEAE}"/>
              </a:ext>
            </a:extLst>
          </p:cNvPr>
          <p:cNvGrpSpPr/>
          <p:nvPr/>
        </p:nvGrpSpPr>
        <p:grpSpPr>
          <a:xfrm>
            <a:off x="3909059" y="1402080"/>
            <a:ext cx="2237740" cy="1117600"/>
            <a:chOff x="3909059" y="1402080"/>
            <a:chExt cx="2237740" cy="1117600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3E126811-AACE-FE02-0780-53D2DAF12B45}"/>
                </a:ext>
              </a:extLst>
            </p:cNvPr>
            <p:cNvSpPr/>
            <p:nvPr/>
          </p:nvSpPr>
          <p:spPr>
            <a:xfrm>
              <a:off x="3919219" y="1412240"/>
              <a:ext cx="2217420" cy="1097280"/>
            </a:xfrm>
            <a:custGeom>
              <a:avLst/>
              <a:gdLst/>
              <a:ahLst/>
              <a:cxnLst/>
              <a:rect l="l" t="t" r="r" b="b"/>
              <a:pathLst>
                <a:path w="2217420" h="1097280">
                  <a:moveTo>
                    <a:pt x="2034539" y="0"/>
                  </a:moveTo>
                  <a:lnTo>
                    <a:pt x="182879" y="0"/>
                  </a:ln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80"/>
                  </a:lnTo>
                  <a:lnTo>
                    <a:pt x="0" y="914400"/>
                  </a:lnTo>
                  <a:lnTo>
                    <a:pt x="6535" y="963003"/>
                  </a:lnTo>
                  <a:lnTo>
                    <a:pt x="24976" y="1006686"/>
                  </a:lnTo>
                  <a:lnTo>
                    <a:pt x="53578" y="1043701"/>
                  </a:lnTo>
                  <a:lnTo>
                    <a:pt x="90593" y="1072303"/>
                  </a:lnTo>
                  <a:lnTo>
                    <a:pt x="134276" y="1090744"/>
                  </a:lnTo>
                  <a:lnTo>
                    <a:pt x="182879" y="1097280"/>
                  </a:lnTo>
                  <a:lnTo>
                    <a:pt x="2034539" y="1097280"/>
                  </a:lnTo>
                  <a:lnTo>
                    <a:pt x="2083143" y="1090744"/>
                  </a:lnTo>
                  <a:lnTo>
                    <a:pt x="2126826" y="1072303"/>
                  </a:lnTo>
                  <a:lnTo>
                    <a:pt x="2163841" y="1043701"/>
                  </a:lnTo>
                  <a:lnTo>
                    <a:pt x="2192443" y="1006686"/>
                  </a:lnTo>
                  <a:lnTo>
                    <a:pt x="2210884" y="963003"/>
                  </a:lnTo>
                  <a:lnTo>
                    <a:pt x="2217419" y="914400"/>
                  </a:lnTo>
                  <a:lnTo>
                    <a:pt x="2217419" y="182880"/>
                  </a:lnTo>
                  <a:lnTo>
                    <a:pt x="2210884" y="134276"/>
                  </a:lnTo>
                  <a:lnTo>
                    <a:pt x="2192443" y="90593"/>
                  </a:lnTo>
                  <a:lnTo>
                    <a:pt x="2163841" y="53578"/>
                  </a:lnTo>
                  <a:lnTo>
                    <a:pt x="2126826" y="24976"/>
                  </a:lnTo>
                  <a:lnTo>
                    <a:pt x="2083143" y="6535"/>
                  </a:lnTo>
                  <a:lnTo>
                    <a:pt x="203453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35D06A22-9EFA-037C-9DFB-36F011780B37}"/>
                </a:ext>
              </a:extLst>
            </p:cNvPr>
            <p:cNvSpPr/>
            <p:nvPr/>
          </p:nvSpPr>
          <p:spPr>
            <a:xfrm>
              <a:off x="3919219" y="1412240"/>
              <a:ext cx="2217420" cy="1097280"/>
            </a:xfrm>
            <a:custGeom>
              <a:avLst/>
              <a:gdLst/>
              <a:ahLst/>
              <a:cxnLst/>
              <a:rect l="l" t="t" r="r" b="b"/>
              <a:pathLst>
                <a:path w="2217420" h="1097280">
                  <a:moveTo>
                    <a:pt x="0" y="182880"/>
                  </a:moveTo>
                  <a:lnTo>
                    <a:pt x="6535" y="134276"/>
                  </a:lnTo>
                  <a:lnTo>
                    <a:pt x="24976" y="90593"/>
                  </a:lnTo>
                  <a:lnTo>
                    <a:pt x="53578" y="53578"/>
                  </a:lnTo>
                  <a:lnTo>
                    <a:pt x="90593" y="24976"/>
                  </a:lnTo>
                  <a:lnTo>
                    <a:pt x="134276" y="6535"/>
                  </a:lnTo>
                  <a:lnTo>
                    <a:pt x="182879" y="0"/>
                  </a:lnTo>
                  <a:lnTo>
                    <a:pt x="2034539" y="0"/>
                  </a:lnTo>
                  <a:lnTo>
                    <a:pt x="2083143" y="6535"/>
                  </a:lnTo>
                  <a:lnTo>
                    <a:pt x="2126826" y="24976"/>
                  </a:lnTo>
                  <a:lnTo>
                    <a:pt x="2163841" y="53578"/>
                  </a:lnTo>
                  <a:lnTo>
                    <a:pt x="2192443" y="90593"/>
                  </a:lnTo>
                  <a:lnTo>
                    <a:pt x="2210884" y="134276"/>
                  </a:lnTo>
                  <a:lnTo>
                    <a:pt x="2217419" y="182880"/>
                  </a:lnTo>
                  <a:lnTo>
                    <a:pt x="2217419" y="914400"/>
                  </a:lnTo>
                  <a:lnTo>
                    <a:pt x="2210884" y="963003"/>
                  </a:lnTo>
                  <a:lnTo>
                    <a:pt x="2192443" y="1006686"/>
                  </a:lnTo>
                  <a:lnTo>
                    <a:pt x="2163841" y="1043701"/>
                  </a:lnTo>
                  <a:lnTo>
                    <a:pt x="2126826" y="1072303"/>
                  </a:lnTo>
                  <a:lnTo>
                    <a:pt x="2083143" y="1090744"/>
                  </a:lnTo>
                  <a:lnTo>
                    <a:pt x="2034539" y="1097280"/>
                  </a:lnTo>
                  <a:lnTo>
                    <a:pt x="182879" y="1097280"/>
                  </a:lnTo>
                  <a:lnTo>
                    <a:pt x="134276" y="1090744"/>
                  </a:lnTo>
                  <a:lnTo>
                    <a:pt x="90593" y="1072303"/>
                  </a:lnTo>
                  <a:lnTo>
                    <a:pt x="53578" y="1043701"/>
                  </a:lnTo>
                  <a:lnTo>
                    <a:pt x="24976" y="1006686"/>
                  </a:lnTo>
                  <a:lnTo>
                    <a:pt x="6535" y="963003"/>
                  </a:lnTo>
                  <a:lnTo>
                    <a:pt x="0" y="914400"/>
                  </a:lnTo>
                  <a:lnTo>
                    <a:pt x="0" y="182880"/>
                  </a:lnTo>
                  <a:close/>
                </a:path>
              </a:pathLst>
            </a:custGeom>
            <a:ln w="203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AB87DCC6-8ABD-D972-8C74-25D8568D9F20}"/>
              </a:ext>
            </a:extLst>
          </p:cNvPr>
          <p:cNvSpPr txBox="1"/>
          <p:nvPr/>
        </p:nvSpPr>
        <p:spPr>
          <a:xfrm>
            <a:off x="4194174" y="1624952"/>
            <a:ext cx="1837514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l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00295F"/>
                </a:solidFill>
                <a:latin typeface="Arial"/>
                <a:cs typeface="Arial"/>
              </a:rPr>
              <a:t>Plan </a:t>
            </a: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kerja</a:t>
            </a:r>
            <a:r>
              <a:rPr lang="en-US" sz="1400" b="1" spc="-10" dirty="0">
                <a:solidFill>
                  <a:srgbClr val="00295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rawat</a:t>
            </a:r>
            <a:r>
              <a:rPr lang="en-US" sz="1400" b="1" spc="-10" dirty="0">
                <a:solidFill>
                  <a:srgbClr val="00295F"/>
                </a:solidFill>
                <a:latin typeface="Arial"/>
                <a:cs typeface="Arial"/>
              </a:rPr>
              <a:t> H-1 pada </a:t>
            </a: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saat</a:t>
            </a:r>
            <a:r>
              <a:rPr lang="en-US" sz="1400" b="1" spc="-10" dirty="0">
                <a:solidFill>
                  <a:srgbClr val="00295F"/>
                </a:solidFill>
                <a:latin typeface="Arial"/>
                <a:cs typeface="Arial"/>
              </a:rPr>
              <a:t> meeting sore </a:t>
            </a: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hari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493387E0-979A-A263-DB18-2B860C8F2935}"/>
              </a:ext>
            </a:extLst>
          </p:cNvPr>
          <p:cNvGrpSpPr/>
          <p:nvPr/>
        </p:nvGrpSpPr>
        <p:grpSpPr>
          <a:xfrm>
            <a:off x="6393179" y="1394460"/>
            <a:ext cx="4739640" cy="1115060"/>
            <a:chOff x="6393179" y="1394460"/>
            <a:chExt cx="4739640" cy="1115060"/>
          </a:xfrm>
        </p:grpSpPr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DA308550-709E-CC6B-9A89-B32D0157CCD0}"/>
                </a:ext>
              </a:extLst>
            </p:cNvPr>
            <p:cNvSpPr/>
            <p:nvPr/>
          </p:nvSpPr>
          <p:spPr>
            <a:xfrm>
              <a:off x="6403339" y="1404620"/>
              <a:ext cx="2217420" cy="1094740"/>
            </a:xfrm>
            <a:custGeom>
              <a:avLst/>
              <a:gdLst/>
              <a:ahLst/>
              <a:cxnLst/>
              <a:rect l="l" t="t" r="r" b="b"/>
              <a:pathLst>
                <a:path w="2217420" h="1094739">
                  <a:moveTo>
                    <a:pt x="2034920" y="0"/>
                  </a:moveTo>
                  <a:lnTo>
                    <a:pt x="182499" y="0"/>
                  </a:lnTo>
                  <a:lnTo>
                    <a:pt x="133967" y="6515"/>
                  </a:lnTo>
                  <a:lnTo>
                    <a:pt x="90367" y="24906"/>
                  </a:lnTo>
                  <a:lnTo>
                    <a:pt x="53435" y="53435"/>
                  </a:lnTo>
                  <a:lnTo>
                    <a:pt x="24906" y="90367"/>
                  </a:lnTo>
                  <a:lnTo>
                    <a:pt x="6515" y="133967"/>
                  </a:lnTo>
                  <a:lnTo>
                    <a:pt x="0" y="182499"/>
                  </a:lnTo>
                  <a:lnTo>
                    <a:pt x="0" y="912240"/>
                  </a:lnTo>
                  <a:lnTo>
                    <a:pt x="6515" y="960772"/>
                  </a:lnTo>
                  <a:lnTo>
                    <a:pt x="24906" y="1004372"/>
                  </a:lnTo>
                  <a:lnTo>
                    <a:pt x="53435" y="1041304"/>
                  </a:lnTo>
                  <a:lnTo>
                    <a:pt x="90367" y="1069833"/>
                  </a:lnTo>
                  <a:lnTo>
                    <a:pt x="133967" y="1088224"/>
                  </a:lnTo>
                  <a:lnTo>
                    <a:pt x="182499" y="1094739"/>
                  </a:lnTo>
                  <a:lnTo>
                    <a:pt x="2034920" y="1094739"/>
                  </a:lnTo>
                  <a:lnTo>
                    <a:pt x="2083452" y="1088224"/>
                  </a:lnTo>
                  <a:lnTo>
                    <a:pt x="2127052" y="1069833"/>
                  </a:lnTo>
                  <a:lnTo>
                    <a:pt x="2163984" y="1041304"/>
                  </a:lnTo>
                  <a:lnTo>
                    <a:pt x="2192513" y="1004372"/>
                  </a:lnTo>
                  <a:lnTo>
                    <a:pt x="2210904" y="960772"/>
                  </a:lnTo>
                  <a:lnTo>
                    <a:pt x="2217419" y="912240"/>
                  </a:lnTo>
                  <a:lnTo>
                    <a:pt x="2217419" y="182499"/>
                  </a:lnTo>
                  <a:lnTo>
                    <a:pt x="2210904" y="133967"/>
                  </a:lnTo>
                  <a:lnTo>
                    <a:pt x="2192513" y="90367"/>
                  </a:lnTo>
                  <a:lnTo>
                    <a:pt x="2163984" y="53435"/>
                  </a:lnTo>
                  <a:lnTo>
                    <a:pt x="2127052" y="24906"/>
                  </a:lnTo>
                  <a:lnTo>
                    <a:pt x="2083452" y="6515"/>
                  </a:lnTo>
                  <a:lnTo>
                    <a:pt x="203492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29C053FA-09C3-3121-6D8E-6B574DE774B1}"/>
                </a:ext>
              </a:extLst>
            </p:cNvPr>
            <p:cNvSpPr/>
            <p:nvPr/>
          </p:nvSpPr>
          <p:spPr>
            <a:xfrm>
              <a:off x="6403339" y="1404620"/>
              <a:ext cx="2217420" cy="1094740"/>
            </a:xfrm>
            <a:custGeom>
              <a:avLst/>
              <a:gdLst/>
              <a:ahLst/>
              <a:cxnLst/>
              <a:rect l="l" t="t" r="r" b="b"/>
              <a:pathLst>
                <a:path w="2217420" h="1094739">
                  <a:moveTo>
                    <a:pt x="0" y="182499"/>
                  </a:moveTo>
                  <a:lnTo>
                    <a:pt x="6515" y="133967"/>
                  </a:lnTo>
                  <a:lnTo>
                    <a:pt x="24906" y="90367"/>
                  </a:lnTo>
                  <a:lnTo>
                    <a:pt x="53435" y="53435"/>
                  </a:lnTo>
                  <a:lnTo>
                    <a:pt x="90367" y="24906"/>
                  </a:lnTo>
                  <a:lnTo>
                    <a:pt x="133967" y="6515"/>
                  </a:lnTo>
                  <a:lnTo>
                    <a:pt x="182499" y="0"/>
                  </a:lnTo>
                  <a:lnTo>
                    <a:pt x="2034920" y="0"/>
                  </a:lnTo>
                  <a:lnTo>
                    <a:pt x="2083452" y="6515"/>
                  </a:lnTo>
                  <a:lnTo>
                    <a:pt x="2127052" y="24906"/>
                  </a:lnTo>
                  <a:lnTo>
                    <a:pt x="2163984" y="53435"/>
                  </a:lnTo>
                  <a:lnTo>
                    <a:pt x="2192513" y="90367"/>
                  </a:lnTo>
                  <a:lnTo>
                    <a:pt x="2210904" y="133967"/>
                  </a:lnTo>
                  <a:lnTo>
                    <a:pt x="2217419" y="182499"/>
                  </a:lnTo>
                  <a:lnTo>
                    <a:pt x="2217419" y="912240"/>
                  </a:lnTo>
                  <a:lnTo>
                    <a:pt x="2210904" y="960772"/>
                  </a:lnTo>
                  <a:lnTo>
                    <a:pt x="2192513" y="1004372"/>
                  </a:lnTo>
                  <a:lnTo>
                    <a:pt x="2163984" y="1041304"/>
                  </a:lnTo>
                  <a:lnTo>
                    <a:pt x="2127052" y="1069833"/>
                  </a:lnTo>
                  <a:lnTo>
                    <a:pt x="2083452" y="1088224"/>
                  </a:lnTo>
                  <a:lnTo>
                    <a:pt x="2034920" y="1094739"/>
                  </a:lnTo>
                  <a:lnTo>
                    <a:pt x="182499" y="1094739"/>
                  </a:lnTo>
                  <a:lnTo>
                    <a:pt x="133967" y="1088224"/>
                  </a:lnTo>
                  <a:lnTo>
                    <a:pt x="90367" y="1069833"/>
                  </a:lnTo>
                  <a:lnTo>
                    <a:pt x="53435" y="1041304"/>
                  </a:lnTo>
                  <a:lnTo>
                    <a:pt x="24906" y="1004372"/>
                  </a:lnTo>
                  <a:lnTo>
                    <a:pt x="6515" y="960772"/>
                  </a:lnTo>
                  <a:lnTo>
                    <a:pt x="0" y="912240"/>
                  </a:lnTo>
                  <a:lnTo>
                    <a:pt x="0" y="182499"/>
                  </a:lnTo>
                  <a:close/>
                </a:path>
              </a:pathLst>
            </a:custGeom>
            <a:ln w="203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752D971-9D37-679A-EA3C-FCB5DB1DB286}"/>
                </a:ext>
              </a:extLst>
            </p:cNvPr>
            <p:cNvSpPr/>
            <p:nvPr/>
          </p:nvSpPr>
          <p:spPr>
            <a:xfrm>
              <a:off x="8907779" y="1404620"/>
              <a:ext cx="2214880" cy="1094740"/>
            </a:xfrm>
            <a:custGeom>
              <a:avLst/>
              <a:gdLst/>
              <a:ahLst/>
              <a:cxnLst/>
              <a:rect l="l" t="t" r="r" b="b"/>
              <a:pathLst>
                <a:path w="2214879" h="1094739">
                  <a:moveTo>
                    <a:pt x="2032380" y="0"/>
                  </a:moveTo>
                  <a:lnTo>
                    <a:pt x="182499" y="0"/>
                  </a:lnTo>
                  <a:lnTo>
                    <a:pt x="133967" y="6515"/>
                  </a:lnTo>
                  <a:lnTo>
                    <a:pt x="90367" y="24906"/>
                  </a:lnTo>
                  <a:lnTo>
                    <a:pt x="53435" y="53435"/>
                  </a:lnTo>
                  <a:lnTo>
                    <a:pt x="24906" y="90367"/>
                  </a:lnTo>
                  <a:lnTo>
                    <a:pt x="6515" y="133967"/>
                  </a:lnTo>
                  <a:lnTo>
                    <a:pt x="0" y="182499"/>
                  </a:lnTo>
                  <a:lnTo>
                    <a:pt x="0" y="912240"/>
                  </a:lnTo>
                  <a:lnTo>
                    <a:pt x="6515" y="960772"/>
                  </a:lnTo>
                  <a:lnTo>
                    <a:pt x="24906" y="1004372"/>
                  </a:lnTo>
                  <a:lnTo>
                    <a:pt x="53435" y="1041304"/>
                  </a:lnTo>
                  <a:lnTo>
                    <a:pt x="90367" y="1069833"/>
                  </a:lnTo>
                  <a:lnTo>
                    <a:pt x="133967" y="1088224"/>
                  </a:lnTo>
                  <a:lnTo>
                    <a:pt x="182499" y="1094739"/>
                  </a:lnTo>
                  <a:lnTo>
                    <a:pt x="2032380" y="1094739"/>
                  </a:lnTo>
                  <a:lnTo>
                    <a:pt x="2080912" y="1088224"/>
                  </a:lnTo>
                  <a:lnTo>
                    <a:pt x="2124512" y="1069833"/>
                  </a:lnTo>
                  <a:lnTo>
                    <a:pt x="2161444" y="1041304"/>
                  </a:lnTo>
                  <a:lnTo>
                    <a:pt x="2189973" y="1004372"/>
                  </a:lnTo>
                  <a:lnTo>
                    <a:pt x="2208364" y="960772"/>
                  </a:lnTo>
                  <a:lnTo>
                    <a:pt x="2214879" y="912240"/>
                  </a:lnTo>
                  <a:lnTo>
                    <a:pt x="2214879" y="182499"/>
                  </a:lnTo>
                  <a:lnTo>
                    <a:pt x="2208364" y="133967"/>
                  </a:lnTo>
                  <a:lnTo>
                    <a:pt x="2189973" y="90367"/>
                  </a:lnTo>
                  <a:lnTo>
                    <a:pt x="2161444" y="53435"/>
                  </a:lnTo>
                  <a:lnTo>
                    <a:pt x="2124512" y="24906"/>
                  </a:lnTo>
                  <a:lnTo>
                    <a:pt x="2080912" y="6515"/>
                  </a:lnTo>
                  <a:lnTo>
                    <a:pt x="203238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D95B9E08-B883-BCF5-C9D4-907B0152F523}"/>
                </a:ext>
              </a:extLst>
            </p:cNvPr>
            <p:cNvSpPr/>
            <p:nvPr/>
          </p:nvSpPr>
          <p:spPr>
            <a:xfrm>
              <a:off x="8907779" y="1404620"/>
              <a:ext cx="2214880" cy="1094740"/>
            </a:xfrm>
            <a:custGeom>
              <a:avLst/>
              <a:gdLst/>
              <a:ahLst/>
              <a:cxnLst/>
              <a:rect l="l" t="t" r="r" b="b"/>
              <a:pathLst>
                <a:path w="2214879" h="1094739">
                  <a:moveTo>
                    <a:pt x="0" y="182499"/>
                  </a:moveTo>
                  <a:lnTo>
                    <a:pt x="6515" y="133967"/>
                  </a:lnTo>
                  <a:lnTo>
                    <a:pt x="24906" y="90367"/>
                  </a:lnTo>
                  <a:lnTo>
                    <a:pt x="53435" y="53435"/>
                  </a:lnTo>
                  <a:lnTo>
                    <a:pt x="90367" y="24906"/>
                  </a:lnTo>
                  <a:lnTo>
                    <a:pt x="133967" y="6515"/>
                  </a:lnTo>
                  <a:lnTo>
                    <a:pt x="182499" y="0"/>
                  </a:lnTo>
                  <a:lnTo>
                    <a:pt x="2032380" y="0"/>
                  </a:lnTo>
                  <a:lnTo>
                    <a:pt x="2080912" y="6515"/>
                  </a:lnTo>
                  <a:lnTo>
                    <a:pt x="2124512" y="24906"/>
                  </a:lnTo>
                  <a:lnTo>
                    <a:pt x="2161444" y="53435"/>
                  </a:lnTo>
                  <a:lnTo>
                    <a:pt x="2189973" y="90367"/>
                  </a:lnTo>
                  <a:lnTo>
                    <a:pt x="2208364" y="133967"/>
                  </a:lnTo>
                  <a:lnTo>
                    <a:pt x="2214879" y="182499"/>
                  </a:lnTo>
                  <a:lnTo>
                    <a:pt x="2214879" y="912240"/>
                  </a:lnTo>
                  <a:lnTo>
                    <a:pt x="2208364" y="960772"/>
                  </a:lnTo>
                  <a:lnTo>
                    <a:pt x="2189973" y="1004372"/>
                  </a:lnTo>
                  <a:lnTo>
                    <a:pt x="2161444" y="1041304"/>
                  </a:lnTo>
                  <a:lnTo>
                    <a:pt x="2124512" y="1069833"/>
                  </a:lnTo>
                  <a:lnTo>
                    <a:pt x="2080912" y="1088224"/>
                  </a:lnTo>
                  <a:lnTo>
                    <a:pt x="2032380" y="1094739"/>
                  </a:lnTo>
                  <a:lnTo>
                    <a:pt x="182499" y="1094739"/>
                  </a:lnTo>
                  <a:lnTo>
                    <a:pt x="133967" y="1088224"/>
                  </a:lnTo>
                  <a:lnTo>
                    <a:pt x="90367" y="1069833"/>
                  </a:lnTo>
                  <a:lnTo>
                    <a:pt x="53435" y="1041304"/>
                  </a:lnTo>
                  <a:lnTo>
                    <a:pt x="24906" y="1004372"/>
                  </a:lnTo>
                  <a:lnTo>
                    <a:pt x="6515" y="960772"/>
                  </a:lnTo>
                  <a:lnTo>
                    <a:pt x="0" y="912240"/>
                  </a:lnTo>
                  <a:lnTo>
                    <a:pt x="0" y="182499"/>
                  </a:lnTo>
                  <a:close/>
                </a:path>
              </a:pathLst>
            </a:custGeom>
            <a:ln w="203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3C9574A8-1C3A-8C3B-A95E-99C94476610E}"/>
              </a:ext>
            </a:extLst>
          </p:cNvPr>
          <p:cNvSpPr txBox="1"/>
          <p:nvPr/>
        </p:nvSpPr>
        <p:spPr>
          <a:xfrm>
            <a:off x="6800850" y="1569549"/>
            <a:ext cx="1819909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2700" algn="l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Pencampuran</a:t>
            </a:r>
            <a:r>
              <a:rPr lang="en-US" sz="1400" b="1" spc="-10" dirty="0">
                <a:solidFill>
                  <a:srgbClr val="00295F"/>
                </a:solidFill>
                <a:latin typeface="Arial"/>
                <a:cs typeface="Arial"/>
              </a:rPr>
              <a:t> material </a:t>
            </a: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sebelum</a:t>
            </a:r>
            <a:r>
              <a:rPr lang="en-US" sz="1400" b="1" spc="-10" dirty="0">
                <a:solidFill>
                  <a:srgbClr val="00295F"/>
                </a:solidFill>
                <a:latin typeface="Arial"/>
                <a:cs typeface="Arial"/>
              </a:rPr>
              <a:t> </a:t>
            </a:r>
            <a:r>
              <a:rPr lang="en-US" sz="1400" b="1" spc="-10" dirty="0" err="1">
                <a:solidFill>
                  <a:srgbClr val="00295F"/>
                </a:solidFill>
                <a:latin typeface="Arial"/>
                <a:cs typeface="Arial"/>
              </a:rPr>
              <a:t>pekerjaan</a:t>
            </a:r>
            <a:r>
              <a:rPr lang="en-US" sz="1400" b="1" spc="-10" dirty="0">
                <a:solidFill>
                  <a:srgbClr val="00295F"/>
                </a:solidFill>
                <a:latin typeface="Arial"/>
                <a:cs typeface="Arial"/>
              </a:rPr>
              <a:t> di H+0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EADEDA2-ED90-B473-E191-284DE8F1C35A}"/>
              </a:ext>
            </a:extLst>
          </p:cNvPr>
          <p:cNvSpPr txBox="1"/>
          <p:nvPr/>
        </p:nvSpPr>
        <p:spPr>
          <a:xfrm>
            <a:off x="9171703" y="1668886"/>
            <a:ext cx="1974214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 err="1">
                <a:solidFill>
                  <a:srgbClr val="00295F"/>
                </a:solidFill>
                <a:latin typeface="Arial"/>
                <a:cs typeface="Arial"/>
              </a:rPr>
              <a:t>Pelaporan</a:t>
            </a:r>
            <a:r>
              <a:rPr lang="en-US" sz="1400" b="1" dirty="0">
                <a:solidFill>
                  <a:srgbClr val="00295F"/>
                </a:solidFill>
                <a:latin typeface="Arial"/>
                <a:cs typeface="Arial"/>
              </a:rPr>
              <a:t> dan </a:t>
            </a:r>
            <a:r>
              <a:rPr lang="en-US" sz="1400" b="1" dirty="0" err="1">
                <a:solidFill>
                  <a:srgbClr val="00295F"/>
                </a:solidFill>
                <a:latin typeface="Arial"/>
                <a:cs typeface="Arial"/>
              </a:rPr>
              <a:t>evaluasi</a:t>
            </a:r>
            <a:r>
              <a:rPr lang="en-US" sz="1400" b="1" dirty="0">
                <a:solidFill>
                  <a:srgbClr val="00295F"/>
                </a:solidFill>
                <a:latin typeface="Arial"/>
                <a:cs typeface="Arial"/>
              </a:rPr>
              <a:t> </a:t>
            </a:r>
            <a:r>
              <a:rPr lang="en-US" sz="1400" b="1" dirty="0" err="1">
                <a:solidFill>
                  <a:srgbClr val="00295F"/>
                </a:solidFill>
                <a:latin typeface="Arial"/>
                <a:cs typeface="Arial"/>
              </a:rPr>
              <a:t>hasil</a:t>
            </a:r>
            <a:r>
              <a:rPr lang="en-US" sz="1400" b="1" dirty="0">
                <a:solidFill>
                  <a:srgbClr val="00295F"/>
                </a:solidFill>
                <a:latin typeface="Arial"/>
                <a:cs typeface="Arial"/>
              </a:rPr>
              <a:t> </a:t>
            </a:r>
            <a:r>
              <a:rPr lang="en-US" sz="1400" b="1" dirty="0" err="1">
                <a:solidFill>
                  <a:srgbClr val="00295F"/>
                </a:solidFill>
                <a:latin typeface="Arial"/>
                <a:cs typeface="Arial"/>
              </a:rPr>
              <a:t>pekerjaan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2BBA8E3-AB98-3FD5-5267-05280E2BF954}"/>
              </a:ext>
            </a:extLst>
          </p:cNvPr>
          <p:cNvSpPr txBox="1"/>
          <p:nvPr/>
        </p:nvSpPr>
        <p:spPr>
          <a:xfrm>
            <a:off x="187960" y="1371599"/>
            <a:ext cx="430887" cy="1316985"/>
          </a:xfrm>
          <a:prstGeom prst="rect">
            <a:avLst/>
          </a:prstGeom>
          <a:solidFill>
            <a:srgbClr val="FFC000"/>
          </a:solidFill>
          <a:ln w="25400">
            <a:solidFill>
              <a:srgbClr val="ACACAC"/>
            </a:solidFill>
          </a:ln>
        </p:spPr>
        <p:txBody>
          <a:bodyPr vert="vert270" wrap="square" lIns="0" tIns="30480" rIns="0" bIns="0" rtlCol="0">
            <a:spAutoFit/>
          </a:bodyPr>
          <a:lstStyle/>
          <a:p>
            <a:pPr marL="153670" marR="151765" indent="175260">
              <a:lnSpc>
                <a:spcPct val="100000"/>
              </a:lnSpc>
              <a:spcBef>
                <a:spcPts val="240"/>
              </a:spcBef>
            </a:pPr>
            <a:r>
              <a:rPr sz="1400" b="1" spc="-20" dirty="0">
                <a:latin typeface="Arial"/>
                <a:cs typeface="Arial"/>
              </a:rPr>
              <a:t>FLOW </a:t>
            </a:r>
            <a:r>
              <a:rPr sz="1400" b="1" spc="-10" dirty="0">
                <a:latin typeface="Arial"/>
                <a:cs typeface="Arial"/>
              </a:rPr>
              <a:t>PROCESS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3AF7A2F8-FAE9-1E4C-E28B-7D45E7F6BFC9}"/>
              </a:ext>
            </a:extLst>
          </p:cNvPr>
          <p:cNvSpPr txBox="1"/>
          <p:nvPr/>
        </p:nvSpPr>
        <p:spPr>
          <a:xfrm>
            <a:off x="310023" y="2843499"/>
            <a:ext cx="363283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  <a:tabLst>
                <a:tab pos="415290" algn="l"/>
              </a:tabLst>
            </a:pPr>
            <a:r>
              <a:rPr lang="en-US" b="1" spc="-50" dirty="0">
                <a:latin typeface="Calibri"/>
                <a:cs typeface="Calibri"/>
              </a:rPr>
              <a:t>2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lang="en-US" sz="1600" b="1" dirty="0">
                <a:latin typeface="Arial"/>
                <a:cs typeface="Arial"/>
              </a:rPr>
              <a:t>Plan </a:t>
            </a:r>
            <a:r>
              <a:rPr lang="en-US" sz="1600" b="1" dirty="0" err="1">
                <a:latin typeface="Arial"/>
                <a:cs typeface="Arial"/>
              </a:rPr>
              <a:t>kerja</a:t>
            </a:r>
            <a:r>
              <a:rPr lang="en-US" sz="1600" b="1" dirty="0">
                <a:latin typeface="Arial"/>
                <a:cs typeface="Arial"/>
              </a:rPr>
              <a:t> pada MSH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ED97DBE7-072D-4032-080A-0065FA79A431}"/>
              </a:ext>
            </a:extLst>
          </p:cNvPr>
          <p:cNvSpPr txBox="1"/>
          <p:nvPr/>
        </p:nvSpPr>
        <p:spPr>
          <a:xfrm>
            <a:off x="586380" y="3139452"/>
            <a:ext cx="5764889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400" dirty="0" err="1">
                <a:latin typeface="Arial MT"/>
                <a:cs typeface="Arial MT"/>
              </a:rPr>
              <a:t>Estimasi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kebutuhan</a:t>
            </a:r>
            <a:r>
              <a:rPr lang="en-US" sz="1400" dirty="0">
                <a:latin typeface="Arial MT"/>
                <a:cs typeface="Arial MT"/>
              </a:rPr>
              <a:t> material dan </a:t>
            </a:r>
            <a:r>
              <a:rPr lang="en-US" sz="1400" dirty="0" err="1">
                <a:latin typeface="Arial MT"/>
                <a:cs typeface="Arial MT"/>
              </a:rPr>
              <a:t>tenaga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berdasarkan</a:t>
            </a:r>
            <a:r>
              <a:rPr lang="en-US" sz="1400" dirty="0">
                <a:latin typeface="Arial MT"/>
                <a:cs typeface="Arial MT"/>
              </a:rPr>
              <a:t> norma (</a:t>
            </a:r>
            <a:r>
              <a:rPr lang="en-US" sz="1400" dirty="0" err="1">
                <a:latin typeface="Arial MT"/>
                <a:cs typeface="Arial MT"/>
              </a:rPr>
              <a:t>hk</a:t>
            </a:r>
            <a:r>
              <a:rPr lang="en-US" sz="1400" dirty="0">
                <a:latin typeface="Arial MT"/>
                <a:cs typeface="Arial MT"/>
              </a:rPr>
              <a:t>/ha) yang </a:t>
            </a:r>
            <a:r>
              <a:rPr lang="en-US" sz="1400" dirty="0" err="1">
                <a:latin typeface="Arial MT"/>
                <a:cs typeface="Arial MT"/>
              </a:rPr>
              <a:t>sudah</a:t>
            </a:r>
            <a:r>
              <a:rPr lang="en-US" sz="1400" dirty="0">
                <a:latin typeface="Arial MT"/>
                <a:cs typeface="Arial MT"/>
              </a:rPr>
              <a:t> di </a:t>
            </a:r>
            <a:r>
              <a:rPr lang="en-US" sz="1400" dirty="0" err="1">
                <a:latin typeface="Arial MT"/>
                <a:cs typeface="Arial MT"/>
              </a:rPr>
              <a:t>tentukan</a:t>
            </a:r>
            <a:endParaRPr lang="en-US" sz="1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400" dirty="0" err="1">
                <a:latin typeface="Arial MT"/>
                <a:cs typeface="Arial MT"/>
              </a:rPr>
              <a:t>Identifikasi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gulma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dilapangan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sebelum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pekerjaan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dimulai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membutuhan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kan</a:t>
            </a:r>
            <a:r>
              <a:rPr lang="en-US" sz="1400" dirty="0">
                <a:latin typeface="Arial MT"/>
                <a:cs typeface="Arial MT"/>
              </a:rPr>
              <a:t> </a:t>
            </a:r>
            <a:r>
              <a:rPr lang="en-US" sz="1400" dirty="0" err="1">
                <a:latin typeface="Arial MT"/>
                <a:cs typeface="Arial MT"/>
              </a:rPr>
              <a:t>waktu</a:t>
            </a:r>
            <a:r>
              <a:rPr lang="en-US" sz="1400" dirty="0">
                <a:latin typeface="Arial MT"/>
                <a:cs typeface="Arial MT"/>
              </a:rPr>
              <a:t> 1 jam</a:t>
            </a:r>
            <a:endParaRPr sz="1400" dirty="0">
              <a:latin typeface="Arial MT"/>
              <a:cs typeface="Arial MT"/>
            </a:endParaRPr>
          </a:p>
        </p:txBody>
      </p: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49589BE9-B10E-22DA-DB9A-23139127630F}"/>
              </a:ext>
            </a:extLst>
          </p:cNvPr>
          <p:cNvGrpSpPr/>
          <p:nvPr/>
        </p:nvGrpSpPr>
        <p:grpSpPr>
          <a:xfrm>
            <a:off x="169397" y="3914872"/>
            <a:ext cx="363220" cy="330200"/>
            <a:chOff x="858519" y="4348479"/>
            <a:chExt cx="363220" cy="330200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8F8102C0-EBD8-B64D-ED93-4A1ECAC14461}"/>
                </a:ext>
              </a:extLst>
            </p:cNvPr>
            <p:cNvSpPr/>
            <p:nvPr/>
          </p:nvSpPr>
          <p:spPr>
            <a:xfrm>
              <a:off x="871219" y="4361179"/>
              <a:ext cx="337820" cy="304800"/>
            </a:xfrm>
            <a:custGeom>
              <a:avLst/>
              <a:gdLst/>
              <a:ahLst/>
              <a:cxnLst/>
              <a:rect l="l" t="t" r="r" b="b"/>
              <a:pathLst>
                <a:path w="337819" h="304800">
                  <a:moveTo>
                    <a:pt x="168910" y="0"/>
                  </a:moveTo>
                  <a:lnTo>
                    <a:pt x="115523" y="7766"/>
                  </a:lnTo>
                  <a:lnTo>
                    <a:pt x="69156" y="29394"/>
                  </a:lnTo>
                  <a:lnTo>
                    <a:pt x="32591" y="62380"/>
                  </a:lnTo>
                  <a:lnTo>
                    <a:pt x="8611" y="104217"/>
                  </a:lnTo>
                  <a:lnTo>
                    <a:pt x="0" y="152400"/>
                  </a:lnTo>
                  <a:lnTo>
                    <a:pt x="8611" y="200582"/>
                  </a:lnTo>
                  <a:lnTo>
                    <a:pt x="32591" y="242419"/>
                  </a:lnTo>
                  <a:lnTo>
                    <a:pt x="69156" y="275405"/>
                  </a:lnTo>
                  <a:lnTo>
                    <a:pt x="115523" y="297033"/>
                  </a:lnTo>
                  <a:lnTo>
                    <a:pt x="168910" y="304800"/>
                  </a:lnTo>
                  <a:lnTo>
                    <a:pt x="222296" y="297033"/>
                  </a:lnTo>
                  <a:lnTo>
                    <a:pt x="268663" y="275405"/>
                  </a:lnTo>
                  <a:lnTo>
                    <a:pt x="305228" y="242419"/>
                  </a:lnTo>
                  <a:lnTo>
                    <a:pt x="329208" y="200582"/>
                  </a:lnTo>
                  <a:lnTo>
                    <a:pt x="337820" y="152400"/>
                  </a:lnTo>
                  <a:lnTo>
                    <a:pt x="329208" y="104217"/>
                  </a:lnTo>
                  <a:lnTo>
                    <a:pt x="305228" y="62380"/>
                  </a:lnTo>
                  <a:lnTo>
                    <a:pt x="268663" y="29394"/>
                  </a:lnTo>
                  <a:lnTo>
                    <a:pt x="222296" y="7766"/>
                  </a:lnTo>
                  <a:lnTo>
                    <a:pt x="16891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8F13B001-1C3F-AF2F-C1D3-67E2D8093A02}"/>
                </a:ext>
              </a:extLst>
            </p:cNvPr>
            <p:cNvSpPr/>
            <p:nvPr/>
          </p:nvSpPr>
          <p:spPr>
            <a:xfrm>
              <a:off x="871219" y="4361179"/>
              <a:ext cx="337820" cy="304800"/>
            </a:xfrm>
            <a:custGeom>
              <a:avLst/>
              <a:gdLst/>
              <a:ahLst/>
              <a:cxnLst/>
              <a:rect l="l" t="t" r="r" b="b"/>
              <a:pathLst>
                <a:path w="337819" h="304800">
                  <a:moveTo>
                    <a:pt x="0" y="152400"/>
                  </a:moveTo>
                  <a:lnTo>
                    <a:pt x="8611" y="104217"/>
                  </a:lnTo>
                  <a:lnTo>
                    <a:pt x="32591" y="62380"/>
                  </a:lnTo>
                  <a:lnTo>
                    <a:pt x="69156" y="29394"/>
                  </a:lnTo>
                  <a:lnTo>
                    <a:pt x="115523" y="7766"/>
                  </a:lnTo>
                  <a:lnTo>
                    <a:pt x="168910" y="0"/>
                  </a:lnTo>
                  <a:lnTo>
                    <a:pt x="222296" y="7766"/>
                  </a:lnTo>
                  <a:lnTo>
                    <a:pt x="268663" y="29394"/>
                  </a:lnTo>
                  <a:lnTo>
                    <a:pt x="305228" y="62380"/>
                  </a:lnTo>
                  <a:lnTo>
                    <a:pt x="329208" y="104217"/>
                  </a:lnTo>
                  <a:lnTo>
                    <a:pt x="337820" y="152400"/>
                  </a:lnTo>
                  <a:lnTo>
                    <a:pt x="329208" y="200582"/>
                  </a:lnTo>
                  <a:lnTo>
                    <a:pt x="305228" y="242419"/>
                  </a:lnTo>
                  <a:lnTo>
                    <a:pt x="268663" y="275405"/>
                  </a:lnTo>
                  <a:lnTo>
                    <a:pt x="222296" y="297033"/>
                  </a:lnTo>
                  <a:lnTo>
                    <a:pt x="168910" y="304800"/>
                  </a:lnTo>
                  <a:lnTo>
                    <a:pt x="115523" y="297033"/>
                  </a:lnTo>
                  <a:lnTo>
                    <a:pt x="69156" y="275405"/>
                  </a:lnTo>
                  <a:lnTo>
                    <a:pt x="32591" y="242419"/>
                  </a:lnTo>
                  <a:lnTo>
                    <a:pt x="8611" y="200582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40">
            <a:extLst>
              <a:ext uri="{FF2B5EF4-FFF2-40B4-BE49-F238E27FC236}">
                <a16:creationId xmlns:a16="http://schemas.microsoft.com/office/drawing/2014/main" id="{0B67C423-C4E6-8A2B-317C-1C043E7C0F44}"/>
              </a:ext>
            </a:extLst>
          </p:cNvPr>
          <p:cNvSpPr/>
          <p:nvPr/>
        </p:nvSpPr>
        <p:spPr>
          <a:xfrm>
            <a:off x="1314449" y="1725291"/>
            <a:ext cx="337820" cy="304800"/>
          </a:xfrm>
          <a:custGeom>
            <a:avLst/>
            <a:gdLst/>
            <a:ahLst/>
            <a:cxnLst/>
            <a:rect l="l" t="t" r="r" b="b"/>
            <a:pathLst>
              <a:path w="337819" h="304800">
                <a:moveTo>
                  <a:pt x="0" y="152400"/>
                </a:moveTo>
                <a:lnTo>
                  <a:pt x="8611" y="104217"/>
                </a:lnTo>
                <a:lnTo>
                  <a:pt x="32591" y="62380"/>
                </a:lnTo>
                <a:lnTo>
                  <a:pt x="69156" y="29394"/>
                </a:lnTo>
                <a:lnTo>
                  <a:pt x="115523" y="7766"/>
                </a:lnTo>
                <a:lnTo>
                  <a:pt x="168910" y="0"/>
                </a:lnTo>
                <a:lnTo>
                  <a:pt x="222296" y="7766"/>
                </a:lnTo>
                <a:lnTo>
                  <a:pt x="268663" y="29394"/>
                </a:lnTo>
                <a:lnTo>
                  <a:pt x="305228" y="62380"/>
                </a:lnTo>
                <a:lnTo>
                  <a:pt x="329208" y="104217"/>
                </a:lnTo>
                <a:lnTo>
                  <a:pt x="337820" y="152400"/>
                </a:lnTo>
                <a:lnTo>
                  <a:pt x="329208" y="200582"/>
                </a:lnTo>
                <a:lnTo>
                  <a:pt x="305228" y="242419"/>
                </a:lnTo>
                <a:lnTo>
                  <a:pt x="268663" y="275405"/>
                </a:lnTo>
                <a:lnTo>
                  <a:pt x="222296" y="297033"/>
                </a:lnTo>
                <a:lnTo>
                  <a:pt x="168910" y="304800"/>
                </a:lnTo>
                <a:lnTo>
                  <a:pt x="115523" y="297033"/>
                </a:lnTo>
                <a:lnTo>
                  <a:pt x="69156" y="275405"/>
                </a:lnTo>
                <a:lnTo>
                  <a:pt x="32591" y="242419"/>
                </a:lnTo>
                <a:lnTo>
                  <a:pt x="8611" y="200582"/>
                </a:lnTo>
                <a:lnTo>
                  <a:pt x="0" y="152400"/>
                </a:lnTo>
                <a:close/>
              </a:path>
            </a:pathLst>
          </a:custGeom>
          <a:solidFill>
            <a:srgbClr val="FFC000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40">
            <a:extLst>
              <a:ext uri="{FF2B5EF4-FFF2-40B4-BE49-F238E27FC236}">
                <a16:creationId xmlns:a16="http://schemas.microsoft.com/office/drawing/2014/main" id="{15AF85C2-D9C5-EC99-CC70-F969031480F6}"/>
              </a:ext>
            </a:extLst>
          </p:cNvPr>
          <p:cNvSpPr/>
          <p:nvPr/>
        </p:nvSpPr>
        <p:spPr>
          <a:xfrm>
            <a:off x="8831581" y="1713965"/>
            <a:ext cx="337820" cy="304800"/>
          </a:xfrm>
          <a:custGeom>
            <a:avLst/>
            <a:gdLst/>
            <a:ahLst/>
            <a:cxnLst/>
            <a:rect l="l" t="t" r="r" b="b"/>
            <a:pathLst>
              <a:path w="337819" h="304800">
                <a:moveTo>
                  <a:pt x="0" y="152400"/>
                </a:moveTo>
                <a:lnTo>
                  <a:pt x="8611" y="104217"/>
                </a:lnTo>
                <a:lnTo>
                  <a:pt x="32591" y="62380"/>
                </a:lnTo>
                <a:lnTo>
                  <a:pt x="69156" y="29394"/>
                </a:lnTo>
                <a:lnTo>
                  <a:pt x="115523" y="7766"/>
                </a:lnTo>
                <a:lnTo>
                  <a:pt x="168910" y="0"/>
                </a:lnTo>
                <a:lnTo>
                  <a:pt x="222296" y="7766"/>
                </a:lnTo>
                <a:lnTo>
                  <a:pt x="268663" y="29394"/>
                </a:lnTo>
                <a:lnTo>
                  <a:pt x="305228" y="62380"/>
                </a:lnTo>
                <a:lnTo>
                  <a:pt x="329208" y="104217"/>
                </a:lnTo>
                <a:lnTo>
                  <a:pt x="337820" y="152400"/>
                </a:lnTo>
                <a:lnTo>
                  <a:pt x="329208" y="200582"/>
                </a:lnTo>
                <a:lnTo>
                  <a:pt x="305228" y="242419"/>
                </a:lnTo>
                <a:lnTo>
                  <a:pt x="268663" y="275405"/>
                </a:lnTo>
                <a:lnTo>
                  <a:pt x="222296" y="297033"/>
                </a:lnTo>
                <a:lnTo>
                  <a:pt x="168910" y="304800"/>
                </a:lnTo>
                <a:lnTo>
                  <a:pt x="115523" y="297033"/>
                </a:lnTo>
                <a:lnTo>
                  <a:pt x="69156" y="275405"/>
                </a:lnTo>
                <a:lnTo>
                  <a:pt x="32591" y="242419"/>
                </a:lnTo>
                <a:lnTo>
                  <a:pt x="8611" y="200582"/>
                </a:lnTo>
                <a:lnTo>
                  <a:pt x="0" y="152400"/>
                </a:lnTo>
                <a:close/>
              </a:path>
            </a:pathLst>
          </a:custGeom>
          <a:solidFill>
            <a:srgbClr val="FFC000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40">
            <a:extLst>
              <a:ext uri="{FF2B5EF4-FFF2-40B4-BE49-F238E27FC236}">
                <a16:creationId xmlns:a16="http://schemas.microsoft.com/office/drawing/2014/main" id="{E6084A95-97FC-AFB7-DDB8-3605260D171C}"/>
              </a:ext>
            </a:extLst>
          </p:cNvPr>
          <p:cNvSpPr/>
          <p:nvPr/>
        </p:nvSpPr>
        <p:spPr>
          <a:xfrm>
            <a:off x="6351269" y="1719453"/>
            <a:ext cx="337820" cy="304800"/>
          </a:xfrm>
          <a:custGeom>
            <a:avLst/>
            <a:gdLst/>
            <a:ahLst/>
            <a:cxnLst/>
            <a:rect l="l" t="t" r="r" b="b"/>
            <a:pathLst>
              <a:path w="337819" h="304800">
                <a:moveTo>
                  <a:pt x="0" y="152400"/>
                </a:moveTo>
                <a:lnTo>
                  <a:pt x="8611" y="104217"/>
                </a:lnTo>
                <a:lnTo>
                  <a:pt x="32591" y="62380"/>
                </a:lnTo>
                <a:lnTo>
                  <a:pt x="69156" y="29394"/>
                </a:lnTo>
                <a:lnTo>
                  <a:pt x="115523" y="7766"/>
                </a:lnTo>
                <a:lnTo>
                  <a:pt x="168910" y="0"/>
                </a:lnTo>
                <a:lnTo>
                  <a:pt x="222296" y="7766"/>
                </a:lnTo>
                <a:lnTo>
                  <a:pt x="268663" y="29394"/>
                </a:lnTo>
                <a:lnTo>
                  <a:pt x="305228" y="62380"/>
                </a:lnTo>
                <a:lnTo>
                  <a:pt x="329208" y="104217"/>
                </a:lnTo>
                <a:lnTo>
                  <a:pt x="337820" y="152400"/>
                </a:lnTo>
                <a:lnTo>
                  <a:pt x="329208" y="200582"/>
                </a:lnTo>
                <a:lnTo>
                  <a:pt x="305228" y="242419"/>
                </a:lnTo>
                <a:lnTo>
                  <a:pt x="268663" y="275405"/>
                </a:lnTo>
                <a:lnTo>
                  <a:pt x="222296" y="297033"/>
                </a:lnTo>
                <a:lnTo>
                  <a:pt x="168910" y="304800"/>
                </a:lnTo>
                <a:lnTo>
                  <a:pt x="115523" y="297033"/>
                </a:lnTo>
                <a:lnTo>
                  <a:pt x="69156" y="275405"/>
                </a:lnTo>
                <a:lnTo>
                  <a:pt x="32591" y="242419"/>
                </a:lnTo>
                <a:lnTo>
                  <a:pt x="8611" y="200582"/>
                </a:lnTo>
                <a:lnTo>
                  <a:pt x="0" y="152400"/>
                </a:lnTo>
                <a:close/>
              </a:path>
            </a:pathLst>
          </a:custGeom>
          <a:solidFill>
            <a:srgbClr val="FFC000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40">
            <a:extLst>
              <a:ext uri="{FF2B5EF4-FFF2-40B4-BE49-F238E27FC236}">
                <a16:creationId xmlns:a16="http://schemas.microsoft.com/office/drawing/2014/main" id="{D92E38CE-BAC1-AB80-E043-408EAC74B128}"/>
              </a:ext>
            </a:extLst>
          </p:cNvPr>
          <p:cNvSpPr/>
          <p:nvPr/>
        </p:nvSpPr>
        <p:spPr>
          <a:xfrm>
            <a:off x="3757929" y="1714498"/>
            <a:ext cx="337820" cy="304800"/>
          </a:xfrm>
          <a:custGeom>
            <a:avLst/>
            <a:gdLst/>
            <a:ahLst/>
            <a:cxnLst/>
            <a:rect l="l" t="t" r="r" b="b"/>
            <a:pathLst>
              <a:path w="337819" h="304800">
                <a:moveTo>
                  <a:pt x="0" y="152400"/>
                </a:moveTo>
                <a:lnTo>
                  <a:pt x="8611" y="104217"/>
                </a:lnTo>
                <a:lnTo>
                  <a:pt x="32591" y="62380"/>
                </a:lnTo>
                <a:lnTo>
                  <a:pt x="69156" y="29394"/>
                </a:lnTo>
                <a:lnTo>
                  <a:pt x="115523" y="7766"/>
                </a:lnTo>
                <a:lnTo>
                  <a:pt x="168910" y="0"/>
                </a:lnTo>
                <a:lnTo>
                  <a:pt x="222296" y="7766"/>
                </a:lnTo>
                <a:lnTo>
                  <a:pt x="268663" y="29394"/>
                </a:lnTo>
                <a:lnTo>
                  <a:pt x="305228" y="62380"/>
                </a:lnTo>
                <a:lnTo>
                  <a:pt x="329208" y="104217"/>
                </a:lnTo>
                <a:lnTo>
                  <a:pt x="337820" y="152400"/>
                </a:lnTo>
                <a:lnTo>
                  <a:pt x="329208" y="200582"/>
                </a:lnTo>
                <a:lnTo>
                  <a:pt x="305228" y="242419"/>
                </a:lnTo>
                <a:lnTo>
                  <a:pt x="268663" y="275405"/>
                </a:lnTo>
                <a:lnTo>
                  <a:pt x="222296" y="297033"/>
                </a:lnTo>
                <a:lnTo>
                  <a:pt x="168910" y="304800"/>
                </a:lnTo>
                <a:lnTo>
                  <a:pt x="115523" y="297033"/>
                </a:lnTo>
                <a:lnTo>
                  <a:pt x="69156" y="275405"/>
                </a:lnTo>
                <a:lnTo>
                  <a:pt x="32591" y="242419"/>
                </a:lnTo>
                <a:lnTo>
                  <a:pt x="8611" y="200582"/>
                </a:lnTo>
                <a:lnTo>
                  <a:pt x="0" y="152400"/>
                </a:lnTo>
                <a:close/>
              </a:path>
            </a:pathLst>
          </a:custGeom>
          <a:solidFill>
            <a:srgbClr val="FFC000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2">
            <a:extLst>
              <a:ext uri="{FF2B5EF4-FFF2-40B4-BE49-F238E27FC236}">
                <a16:creationId xmlns:a16="http://schemas.microsoft.com/office/drawing/2014/main" id="{D7152FFD-CD5F-78BE-60D5-1F142CA447C6}"/>
              </a:ext>
            </a:extLst>
          </p:cNvPr>
          <p:cNvSpPr txBox="1"/>
          <p:nvPr/>
        </p:nvSpPr>
        <p:spPr>
          <a:xfrm>
            <a:off x="1392077" y="1757639"/>
            <a:ext cx="18256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  <a:tabLst>
                <a:tab pos="415290" algn="l"/>
              </a:tabLst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59" name="object 42">
            <a:extLst>
              <a:ext uri="{FF2B5EF4-FFF2-40B4-BE49-F238E27FC236}">
                <a16:creationId xmlns:a16="http://schemas.microsoft.com/office/drawing/2014/main" id="{41AC3527-9B46-6332-28DA-F5EBC176E44D}"/>
              </a:ext>
            </a:extLst>
          </p:cNvPr>
          <p:cNvSpPr txBox="1"/>
          <p:nvPr/>
        </p:nvSpPr>
        <p:spPr>
          <a:xfrm>
            <a:off x="3841272" y="1758282"/>
            <a:ext cx="18256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  <a:tabLst>
                <a:tab pos="415290" algn="l"/>
              </a:tabLst>
            </a:pPr>
            <a:r>
              <a:rPr lang="en-US" b="1" spc="-50" dirty="0">
                <a:latin typeface="Calibri"/>
                <a:cs typeface="Calibri"/>
              </a:rPr>
              <a:t>2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60" name="object 42">
            <a:extLst>
              <a:ext uri="{FF2B5EF4-FFF2-40B4-BE49-F238E27FC236}">
                <a16:creationId xmlns:a16="http://schemas.microsoft.com/office/drawing/2014/main" id="{E64E0210-FC45-D0AD-DBC5-87C111C705AD}"/>
              </a:ext>
            </a:extLst>
          </p:cNvPr>
          <p:cNvSpPr txBox="1"/>
          <p:nvPr/>
        </p:nvSpPr>
        <p:spPr>
          <a:xfrm>
            <a:off x="8940322" y="1738830"/>
            <a:ext cx="18256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  <a:tabLst>
                <a:tab pos="415290" algn="l"/>
              </a:tabLst>
            </a:pPr>
            <a:r>
              <a:rPr lang="en-US" b="1" spc="-50" dirty="0">
                <a:latin typeface="Calibri"/>
                <a:cs typeface="Calibri"/>
              </a:rPr>
              <a:t>4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61" name="object 42">
            <a:extLst>
              <a:ext uri="{FF2B5EF4-FFF2-40B4-BE49-F238E27FC236}">
                <a16:creationId xmlns:a16="http://schemas.microsoft.com/office/drawing/2014/main" id="{5BC044AE-23F1-6BC5-143D-FFF77019E95D}"/>
              </a:ext>
            </a:extLst>
          </p:cNvPr>
          <p:cNvSpPr txBox="1"/>
          <p:nvPr/>
        </p:nvSpPr>
        <p:spPr>
          <a:xfrm>
            <a:off x="6452869" y="1738830"/>
            <a:ext cx="18256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  <a:tabLst>
                <a:tab pos="415290" algn="l"/>
              </a:tabLst>
            </a:pPr>
            <a:r>
              <a:rPr lang="en-US" b="1" spc="-50" dirty="0">
                <a:latin typeface="Calibri"/>
                <a:cs typeface="Calibri"/>
              </a:rPr>
              <a:t>3</a:t>
            </a:r>
            <a:endParaRPr sz="1600" dirty="0">
              <a:latin typeface="Arial MT"/>
              <a:cs typeface="Arial MT"/>
            </a:endParaRPr>
          </a:p>
        </p:txBody>
      </p:sp>
      <p:grpSp>
        <p:nvGrpSpPr>
          <p:cNvPr id="30" name="object 49">
            <a:extLst>
              <a:ext uri="{FF2B5EF4-FFF2-40B4-BE49-F238E27FC236}">
                <a16:creationId xmlns:a16="http://schemas.microsoft.com/office/drawing/2014/main" id="{59B6ADD0-73F5-BDBA-4F2C-2084FA239CA3}"/>
              </a:ext>
            </a:extLst>
          </p:cNvPr>
          <p:cNvGrpSpPr/>
          <p:nvPr/>
        </p:nvGrpSpPr>
        <p:grpSpPr>
          <a:xfrm>
            <a:off x="6676246" y="2792894"/>
            <a:ext cx="360680" cy="330200"/>
            <a:chOff x="7462519" y="2829560"/>
            <a:chExt cx="360680" cy="330200"/>
          </a:xfrm>
        </p:grpSpPr>
        <p:sp>
          <p:nvSpPr>
            <p:cNvPr id="32" name="object 50">
              <a:extLst>
                <a:ext uri="{FF2B5EF4-FFF2-40B4-BE49-F238E27FC236}">
                  <a16:creationId xmlns:a16="http://schemas.microsoft.com/office/drawing/2014/main" id="{3A32A5CF-257C-3AB5-1D17-4445C9B6D5A0}"/>
                </a:ext>
              </a:extLst>
            </p:cNvPr>
            <p:cNvSpPr/>
            <p:nvPr/>
          </p:nvSpPr>
          <p:spPr>
            <a:xfrm>
              <a:off x="7475219" y="2842260"/>
              <a:ext cx="335280" cy="304800"/>
            </a:xfrm>
            <a:custGeom>
              <a:avLst/>
              <a:gdLst/>
              <a:ahLst/>
              <a:cxnLst/>
              <a:rect l="l" t="t" r="r" b="b"/>
              <a:pathLst>
                <a:path w="335279" h="304800">
                  <a:moveTo>
                    <a:pt x="167639" y="0"/>
                  </a:moveTo>
                  <a:lnTo>
                    <a:pt x="114653" y="7766"/>
                  </a:lnTo>
                  <a:lnTo>
                    <a:pt x="68634" y="29394"/>
                  </a:lnTo>
                  <a:lnTo>
                    <a:pt x="32345" y="62380"/>
                  </a:lnTo>
                  <a:lnTo>
                    <a:pt x="8546" y="104217"/>
                  </a:lnTo>
                  <a:lnTo>
                    <a:pt x="0" y="152400"/>
                  </a:lnTo>
                  <a:lnTo>
                    <a:pt x="8546" y="200582"/>
                  </a:lnTo>
                  <a:lnTo>
                    <a:pt x="32345" y="242419"/>
                  </a:lnTo>
                  <a:lnTo>
                    <a:pt x="68634" y="275405"/>
                  </a:lnTo>
                  <a:lnTo>
                    <a:pt x="114653" y="297033"/>
                  </a:lnTo>
                  <a:lnTo>
                    <a:pt x="167639" y="304800"/>
                  </a:lnTo>
                  <a:lnTo>
                    <a:pt x="220626" y="297033"/>
                  </a:lnTo>
                  <a:lnTo>
                    <a:pt x="266645" y="275405"/>
                  </a:lnTo>
                  <a:lnTo>
                    <a:pt x="302934" y="242419"/>
                  </a:lnTo>
                  <a:lnTo>
                    <a:pt x="326733" y="200582"/>
                  </a:lnTo>
                  <a:lnTo>
                    <a:pt x="335279" y="152400"/>
                  </a:lnTo>
                  <a:lnTo>
                    <a:pt x="326733" y="104217"/>
                  </a:lnTo>
                  <a:lnTo>
                    <a:pt x="302934" y="62380"/>
                  </a:lnTo>
                  <a:lnTo>
                    <a:pt x="266645" y="29394"/>
                  </a:lnTo>
                  <a:lnTo>
                    <a:pt x="220626" y="7766"/>
                  </a:lnTo>
                  <a:lnTo>
                    <a:pt x="1676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51">
              <a:extLst>
                <a:ext uri="{FF2B5EF4-FFF2-40B4-BE49-F238E27FC236}">
                  <a16:creationId xmlns:a16="http://schemas.microsoft.com/office/drawing/2014/main" id="{54411866-46FC-558F-D893-27D2A27C4CBB}"/>
                </a:ext>
              </a:extLst>
            </p:cNvPr>
            <p:cNvSpPr/>
            <p:nvPr/>
          </p:nvSpPr>
          <p:spPr>
            <a:xfrm>
              <a:off x="7475219" y="2842260"/>
              <a:ext cx="335280" cy="304800"/>
            </a:xfrm>
            <a:custGeom>
              <a:avLst/>
              <a:gdLst/>
              <a:ahLst/>
              <a:cxnLst/>
              <a:rect l="l" t="t" r="r" b="b"/>
              <a:pathLst>
                <a:path w="335279" h="304800">
                  <a:moveTo>
                    <a:pt x="0" y="152400"/>
                  </a:moveTo>
                  <a:lnTo>
                    <a:pt x="8546" y="104217"/>
                  </a:lnTo>
                  <a:lnTo>
                    <a:pt x="32345" y="62380"/>
                  </a:lnTo>
                  <a:lnTo>
                    <a:pt x="68634" y="29394"/>
                  </a:lnTo>
                  <a:lnTo>
                    <a:pt x="114653" y="7766"/>
                  </a:lnTo>
                  <a:lnTo>
                    <a:pt x="167639" y="0"/>
                  </a:lnTo>
                  <a:lnTo>
                    <a:pt x="220626" y="7766"/>
                  </a:lnTo>
                  <a:lnTo>
                    <a:pt x="266645" y="29394"/>
                  </a:lnTo>
                  <a:lnTo>
                    <a:pt x="302934" y="62380"/>
                  </a:lnTo>
                  <a:lnTo>
                    <a:pt x="326733" y="104217"/>
                  </a:lnTo>
                  <a:lnTo>
                    <a:pt x="335279" y="152400"/>
                  </a:lnTo>
                  <a:lnTo>
                    <a:pt x="326733" y="200582"/>
                  </a:lnTo>
                  <a:lnTo>
                    <a:pt x="302934" y="242419"/>
                  </a:lnTo>
                  <a:lnTo>
                    <a:pt x="266645" y="275405"/>
                  </a:lnTo>
                  <a:lnTo>
                    <a:pt x="220626" y="297033"/>
                  </a:lnTo>
                  <a:lnTo>
                    <a:pt x="167639" y="304800"/>
                  </a:lnTo>
                  <a:lnTo>
                    <a:pt x="114653" y="297033"/>
                  </a:lnTo>
                  <a:lnTo>
                    <a:pt x="68634" y="275405"/>
                  </a:lnTo>
                  <a:lnTo>
                    <a:pt x="32345" y="242419"/>
                  </a:lnTo>
                  <a:lnTo>
                    <a:pt x="8546" y="200582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52">
            <a:extLst>
              <a:ext uri="{FF2B5EF4-FFF2-40B4-BE49-F238E27FC236}">
                <a16:creationId xmlns:a16="http://schemas.microsoft.com/office/drawing/2014/main" id="{AA647704-AB69-0E28-0A41-A69D4D1432B2}"/>
              </a:ext>
            </a:extLst>
          </p:cNvPr>
          <p:cNvSpPr txBox="1"/>
          <p:nvPr/>
        </p:nvSpPr>
        <p:spPr>
          <a:xfrm>
            <a:off x="6781800" y="2819400"/>
            <a:ext cx="4176986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  <a:tabLst>
                <a:tab pos="415290" algn="l"/>
              </a:tabLst>
            </a:pPr>
            <a:r>
              <a:rPr lang="en-US" b="1" spc="-50" dirty="0">
                <a:latin typeface="Calibri"/>
                <a:cs typeface="Calibri"/>
              </a:rPr>
              <a:t>4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lang="en-US" sz="1800" b="1" dirty="0" err="1">
                <a:latin typeface="Calibri"/>
                <a:cs typeface="Calibri"/>
              </a:rPr>
              <a:t>Pelaporan</a:t>
            </a:r>
            <a:r>
              <a:rPr lang="en-US" sz="1800" b="1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material dan </a:t>
            </a:r>
            <a:r>
              <a:rPr lang="en-US" b="1" dirty="0" err="1">
                <a:latin typeface="Calibri"/>
                <a:cs typeface="Calibri"/>
              </a:rPr>
              <a:t>evaluasi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36" name="object 42">
            <a:extLst>
              <a:ext uri="{FF2B5EF4-FFF2-40B4-BE49-F238E27FC236}">
                <a16:creationId xmlns:a16="http://schemas.microsoft.com/office/drawing/2014/main" id="{FE1ADCEE-4252-1F41-1479-D90C827D3D57}"/>
              </a:ext>
            </a:extLst>
          </p:cNvPr>
          <p:cNvSpPr txBox="1"/>
          <p:nvPr/>
        </p:nvSpPr>
        <p:spPr>
          <a:xfrm>
            <a:off x="295911" y="3975955"/>
            <a:ext cx="363283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  <a:tabLst>
                <a:tab pos="415290" algn="l"/>
              </a:tabLst>
            </a:pPr>
            <a:r>
              <a:rPr lang="en-US" sz="1800" b="1" spc="-50" dirty="0">
                <a:latin typeface="Calibri"/>
                <a:cs typeface="Calibri"/>
              </a:rPr>
              <a:t>3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lang="en-US" sz="1600" b="1" dirty="0" err="1">
                <a:latin typeface="Arial"/>
                <a:cs typeface="Arial"/>
              </a:rPr>
              <a:t>Penggunaan</a:t>
            </a:r>
            <a:r>
              <a:rPr lang="en-US" sz="1600" b="1" dirty="0">
                <a:latin typeface="Arial"/>
                <a:cs typeface="Arial"/>
              </a:rPr>
              <a:t> material H+0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83" name="object 64">
            <a:extLst>
              <a:ext uri="{FF2B5EF4-FFF2-40B4-BE49-F238E27FC236}">
                <a16:creationId xmlns:a16="http://schemas.microsoft.com/office/drawing/2014/main" id="{91CC15A7-B81E-29F7-89E5-00F57716D14E}"/>
              </a:ext>
            </a:extLst>
          </p:cNvPr>
          <p:cNvSpPr txBox="1"/>
          <p:nvPr/>
        </p:nvSpPr>
        <p:spPr>
          <a:xfrm>
            <a:off x="476307" y="855210"/>
            <a:ext cx="538622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>
                <a:latin typeface="Vagabond" pitchFamily="2" charset="0"/>
                <a:cs typeface="Calibri"/>
              </a:rPr>
              <a:t>FLOW PROSES RAWAT CIRCLE DAN GAWANGAN</a:t>
            </a:r>
            <a:endParaRPr sz="1600" dirty="0">
              <a:latin typeface="Vagabond" pitchFamily="2" charset="0"/>
              <a:cs typeface="Calibri"/>
            </a:endParaRPr>
          </a:p>
        </p:txBody>
      </p:sp>
      <p:grpSp>
        <p:nvGrpSpPr>
          <p:cNvPr id="84" name="object 65">
            <a:extLst>
              <a:ext uri="{FF2B5EF4-FFF2-40B4-BE49-F238E27FC236}">
                <a16:creationId xmlns:a16="http://schemas.microsoft.com/office/drawing/2014/main" id="{1176BF20-4EBF-2F42-EB33-D2BF68042FC8}"/>
              </a:ext>
            </a:extLst>
          </p:cNvPr>
          <p:cNvGrpSpPr/>
          <p:nvPr/>
        </p:nvGrpSpPr>
        <p:grpSpPr>
          <a:xfrm>
            <a:off x="208971" y="901184"/>
            <a:ext cx="246811" cy="195580"/>
            <a:chOff x="7051040" y="4323079"/>
            <a:chExt cx="195580" cy="195580"/>
          </a:xfrm>
        </p:grpSpPr>
        <p:sp>
          <p:nvSpPr>
            <p:cNvPr id="85" name="object 66">
              <a:extLst>
                <a:ext uri="{FF2B5EF4-FFF2-40B4-BE49-F238E27FC236}">
                  <a16:creationId xmlns:a16="http://schemas.microsoft.com/office/drawing/2014/main" id="{8FAF26AE-6E98-6B67-87D3-E56D8C56A6A2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  <p:sp>
          <p:nvSpPr>
            <p:cNvPr id="86" name="object 67">
              <a:extLst>
                <a:ext uri="{FF2B5EF4-FFF2-40B4-BE49-F238E27FC236}">
                  <a16:creationId xmlns:a16="http://schemas.microsoft.com/office/drawing/2014/main" id="{984243B6-1160-12EC-99BC-73BC4A8FFA61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B053A00D-BB31-CAB7-8738-63019ABAF09D}"/>
              </a:ext>
            </a:extLst>
          </p:cNvPr>
          <p:cNvSpPr/>
          <p:nvPr/>
        </p:nvSpPr>
        <p:spPr>
          <a:xfrm>
            <a:off x="3700623" y="1220469"/>
            <a:ext cx="7532527" cy="1420025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8865875-05B1-1924-FC44-88B89AD778BA}"/>
              </a:ext>
            </a:extLst>
          </p:cNvPr>
          <p:cNvSpPr/>
          <p:nvPr/>
        </p:nvSpPr>
        <p:spPr>
          <a:xfrm>
            <a:off x="7467600" y="812611"/>
            <a:ext cx="2444512" cy="2963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SCOPE IMPROVEMENT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8441174E-4A9F-0FFE-DD52-D8CDA7880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778" y="4201380"/>
            <a:ext cx="430557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herbisida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diambil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gudang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afdeling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pencatatan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Tidak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terdapat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pencocokan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antara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dosis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rekomendasi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penggunaan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aktual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pada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setiap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E06CBA09-54E7-B9AA-F2BF-653ADA168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211023"/>
            <a:ext cx="430557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Pelaporan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penggunaan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material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dilakukan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setelah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pekerjaan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selesai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formulir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Rekonsiliasi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material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dilakukan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pada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akhir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sehingga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ditemukan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selisih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Evaluasi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hasil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pekerjaan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chemist pada proses SIC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Rawat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terdigitalisasi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4591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3E88-80FD-99AF-A677-64AB4C3C4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7FEEAC9-952F-0351-80EE-5019E306FBC8}"/>
              </a:ext>
            </a:extLst>
          </p:cNvPr>
          <p:cNvGrpSpPr/>
          <p:nvPr/>
        </p:nvGrpSpPr>
        <p:grpSpPr>
          <a:xfrm>
            <a:off x="227329" y="629919"/>
            <a:ext cx="10821670" cy="58419"/>
            <a:chOff x="227329" y="629919"/>
            <a:chExt cx="10821670" cy="58419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B087365-FFBC-604F-99D5-6766E14E335D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0B09E0-B976-B3DF-F88A-356430815CBA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3F88C62B-881A-3F11-26BE-83C4CB9161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6846" y="76200"/>
            <a:ext cx="654627" cy="685800"/>
          </a:xfrm>
          <a:prstGeom prst="rect">
            <a:avLst/>
          </a:prstGeom>
        </p:spPr>
      </p:pic>
      <p:sp>
        <p:nvSpPr>
          <p:cNvPr id="66" name="object 7">
            <a:extLst>
              <a:ext uri="{FF2B5EF4-FFF2-40B4-BE49-F238E27FC236}">
                <a16:creationId xmlns:a16="http://schemas.microsoft.com/office/drawing/2014/main" id="{39BA7BA5-4348-7A49-D628-74FFD968C2D2}"/>
              </a:ext>
            </a:extLst>
          </p:cNvPr>
          <p:cNvSpPr/>
          <p:nvPr/>
        </p:nvSpPr>
        <p:spPr>
          <a:xfrm>
            <a:off x="162014" y="840303"/>
            <a:ext cx="4671470" cy="238213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r>
              <a:rPr lang="en-US" sz="1400" b="1" dirty="0" err="1"/>
              <a:t>Gulma</a:t>
            </a:r>
            <a:r>
              <a:rPr lang="en-US" sz="1400" b="1" dirty="0"/>
              <a:t> </a:t>
            </a:r>
            <a:r>
              <a:rPr lang="en-US" sz="1400" b="1" dirty="0" err="1"/>
              <a:t>Resisten</a:t>
            </a:r>
            <a:endParaRPr lang="en-US" sz="1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817F89-7873-13A7-1008-1830DF73F2C9}"/>
              </a:ext>
            </a:extLst>
          </p:cNvPr>
          <p:cNvSpPr txBox="1"/>
          <p:nvPr/>
        </p:nvSpPr>
        <p:spPr>
          <a:xfrm>
            <a:off x="5297943" y="5125226"/>
            <a:ext cx="6700307" cy="830997"/>
          </a:xfrm>
          <a:prstGeom prst="rect">
            <a:avLst/>
          </a:prstGeom>
          <a:solidFill>
            <a:srgbClr val="FFC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Jenis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 material yang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digunakan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tidak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cocok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dengan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gulma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 yang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ada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 di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lapangan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Banyak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gulma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tidak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mati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resisten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Pelaporan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material di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amanda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rawat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dan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stok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real di Gudang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selisih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L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aporan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penggunaan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material di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afdeling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secara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manual dan </a:t>
            </a:r>
            <a:r>
              <a:rPr lang="en-US" sz="1200" kern="1200" dirty="0" err="1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tidak</a:t>
            </a:r>
            <a:r>
              <a: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+mn-cs"/>
              </a:rPr>
              <a:t> rutin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+mn-cs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78736898-99D6-CBCD-672A-019B982BCF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49"/>
          <a:stretch/>
        </p:blipFill>
        <p:spPr>
          <a:xfrm>
            <a:off x="10312301" y="4800600"/>
            <a:ext cx="1841599" cy="1155623"/>
          </a:xfrm>
          <a:prstGeom prst="rect">
            <a:avLst/>
          </a:prstGeom>
        </p:spPr>
      </p:pic>
      <p:sp>
        <p:nvSpPr>
          <p:cNvPr id="82" name="object 7">
            <a:extLst>
              <a:ext uri="{FF2B5EF4-FFF2-40B4-BE49-F238E27FC236}">
                <a16:creationId xmlns:a16="http://schemas.microsoft.com/office/drawing/2014/main" id="{EF704993-A773-83BF-CD58-B74BB882ADB1}"/>
              </a:ext>
            </a:extLst>
          </p:cNvPr>
          <p:cNvSpPr/>
          <p:nvPr/>
        </p:nvSpPr>
        <p:spPr>
          <a:xfrm>
            <a:off x="5287555" y="4910083"/>
            <a:ext cx="4202321" cy="257349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r>
              <a:rPr lang="en-US" sz="18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Voice of Process</a:t>
            </a:r>
            <a:endParaRPr dirty="0"/>
          </a:p>
        </p:txBody>
      </p:sp>
      <p:sp>
        <p:nvSpPr>
          <p:cNvPr id="85" name="object 2">
            <a:extLst>
              <a:ext uri="{FF2B5EF4-FFF2-40B4-BE49-F238E27FC236}">
                <a16:creationId xmlns:a16="http://schemas.microsoft.com/office/drawing/2014/main" id="{CD8D5FBD-9FC6-4A5F-F553-E3BD52B5198A}"/>
              </a:ext>
            </a:extLst>
          </p:cNvPr>
          <p:cNvSpPr txBox="1">
            <a:spLocks/>
          </p:cNvSpPr>
          <p:nvPr/>
        </p:nvSpPr>
        <p:spPr>
          <a:xfrm>
            <a:off x="233725" y="102402"/>
            <a:ext cx="80613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D3C00"/>
                </a:solidFill>
                <a:latin typeface="Ebrima"/>
                <a:ea typeface="+mj-ea"/>
                <a:cs typeface="Ebri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dirty="0"/>
              <a:t>MENENTUKAN TEMA –</a:t>
            </a:r>
            <a:r>
              <a:rPr lang="en-US" spc="-65" dirty="0"/>
              <a:t> </a:t>
            </a:r>
            <a:r>
              <a:rPr lang="en-US" dirty="0">
                <a:solidFill>
                  <a:srgbClr val="205868"/>
                </a:solidFill>
              </a:rPr>
              <a:t>CURRENT CONDITION</a:t>
            </a:r>
            <a:endParaRPr lang="en-US" spc="-10" dirty="0">
              <a:solidFill>
                <a:srgbClr val="205868"/>
              </a:solidFill>
            </a:endParaRPr>
          </a:p>
        </p:txBody>
      </p:sp>
      <p:pic>
        <p:nvPicPr>
          <p:cNvPr id="86" name="Google Shape;526;p6" descr="Cheers with solid fill">
            <a:extLst>
              <a:ext uri="{FF2B5EF4-FFF2-40B4-BE49-F238E27FC236}">
                <a16:creationId xmlns:a16="http://schemas.microsoft.com/office/drawing/2014/main" id="{4615979B-8E5F-ABC8-48C0-6D497EB0FC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974" y="5986244"/>
            <a:ext cx="825996" cy="82599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497;p5">
            <a:extLst>
              <a:ext uri="{FF2B5EF4-FFF2-40B4-BE49-F238E27FC236}">
                <a16:creationId xmlns:a16="http://schemas.microsoft.com/office/drawing/2014/main" id="{B770196C-60B6-6369-336C-D4A8CCCC61FB}"/>
              </a:ext>
            </a:extLst>
          </p:cNvPr>
          <p:cNvSpPr/>
          <p:nvPr/>
        </p:nvSpPr>
        <p:spPr>
          <a:xfrm>
            <a:off x="1073833" y="5986244"/>
            <a:ext cx="10883816" cy="825996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E3D01"/>
              </a:buClr>
              <a:buSzPts val="1800"/>
            </a:pPr>
            <a:r>
              <a:rPr lang="en-US" sz="1600" b="1" u="sng" dirty="0">
                <a:solidFill>
                  <a:srgbClr val="0E3D01"/>
                </a:solidFill>
                <a:latin typeface="Arial"/>
                <a:ea typeface="Arial"/>
                <a:cs typeface="Arial"/>
                <a:sym typeface="Arial"/>
              </a:rPr>
              <a:t>Project Theme:</a:t>
            </a:r>
            <a:endParaRPr sz="1600" dirty="0"/>
          </a:p>
          <a:p>
            <a:r>
              <a:rPr lang="en-US" sz="16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1" i="1" dirty="0" err="1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Membuat</a:t>
            </a:r>
            <a:r>
              <a:rPr lang="en-US" sz="16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1" dirty="0" err="1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Aplikasi</a:t>
            </a:r>
            <a:r>
              <a:rPr lang="en-US" sz="16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1" dirty="0" err="1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terintegrasi</a:t>
            </a:r>
            <a:r>
              <a:rPr lang="en-US" sz="16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1" dirty="0" err="1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6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1" dirty="0" err="1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perekomendasian</a:t>
            </a:r>
            <a:r>
              <a:rPr lang="en-US" sz="16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1" dirty="0" err="1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herbisida</a:t>
            </a:r>
            <a:r>
              <a:rPr lang="en-US" sz="16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dan monitoring </a:t>
            </a:r>
            <a:r>
              <a:rPr lang="en-US" sz="1600" b="1" i="1" dirty="0" err="1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penggunaan</a:t>
            </a:r>
            <a:r>
              <a:rPr lang="en-US" sz="16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1" dirty="0" err="1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nya</a:t>
            </a:r>
            <a:r>
              <a:rPr lang="en-US" sz="1600" b="1" i="1" dirty="0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600" dirty="0"/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54C7F304-C28E-4FF5-87D3-A77412E7CD9C}"/>
              </a:ext>
            </a:extLst>
          </p:cNvPr>
          <p:cNvSpPr/>
          <p:nvPr/>
        </p:nvSpPr>
        <p:spPr>
          <a:xfrm>
            <a:off x="5753511" y="860908"/>
            <a:ext cx="4811486" cy="238212"/>
          </a:xfrm>
          <a:custGeom>
            <a:avLst/>
            <a:gdLst/>
            <a:ahLst/>
            <a:cxnLst/>
            <a:rect l="l" t="t" r="r" b="b"/>
            <a:pathLst>
              <a:path w="4538980" h="368300">
                <a:moveTo>
                  <a:pt x="4477639" y="0"/>
                </a:moveTo>
                <a:lnTo>
                  <a:pt x="61379" y="0"/>
                </a:lnTo>
                <a:lnTo>
                  <a:pt x="37488" y="4816"/>
                </a:lnTo>
                <a:lnTo>
                  <a:pt x="17978" y="17954"/>
                </a:lnTo>
                <a:lnTo>
                  <a:pt x="4823" y="37451"/>
                </a:lnTo>
                <a:lnTo>
                  <a:pt x="0" y="61340"/>
                </a:lnTo>
                <a:lnTo>
                  <a:pt x="0" y="306959"/>
                </a:lnTo>
                <a:lnTo>
                  <a:pt x="4823" y="330848"/>
                </a:lnTo>
                <a:lnTo>
                  <a:pt x="17978" y="350345"/>
                </a:lnTo>
                <a:lnTo>
                  <a:pt x="37488" y="363483"/>
                </a:lnTo>
                <a:lnTo>
                  <a:pt x="61379" y="368300"/>
                </a:lnTo>
                <a:lnTo>
                  <a:pt x="4477639" y="368300"/>
                </a:lnTo>
                <a:lnTo>
                  <a:pt x="4501528" y="363483"/>
                </a:lnTo>
                <a:lnTo>
                  <a:pt x="4521025" y="350345"/>
                </a:lnTo>
                <a:lnTo>
                  <a:pt x="4534163" y="330848"/>
                </a:lnTo>
                <a:lnTo>
                  <a:pt x="4538980" y="306959"/>
                </a:lnTo>
                <a:lnTo>
                  <a:pt x="4538980" y="61340"/>
                </a:lnTo>
                <a:lnTo>
                  <a:pt x="4534163" y="37451"/>
                </a:lnTo>
                <a:lnTo>
                  <a:pt x="4521025" y="17954"/>
                </a:lnTo>
                <a:lnTo>
                  <a:pt x="4501528" y="4816"/>
                </a:lnTo>
                <a:lnTo>
                  <a:pt x="4477639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>
            <a:r>
              <a:rPr lang="en-US" sz="1400" b="1" dirty="0" err="1"/>
              <a:t>Selisih</a:t>
            </a:r>
            <a:r>
              <a:rPr lang="en-US" sz="1400" b="1" dirty="0"/>
              <a:t> Stok Material Gudang </a:t>
            </a:r>
            <a:r>
              <a:rPr lang="en-US" sz="1400" b="1" dirty="0" err="1"/>
              <a:t>Afdeling</a:t>
            </a:r>
            <a:r>
              <a:rPr lang="en-US" sz="1400" b="1" dirty="0"/>
              <a:t> </a:t>
            </a:r>
          </a:p>
        </p:txBody>
      </p:sp>
      <p:sp>
        <p:nvSpPr>
          <p:cNvPr id="2" name="object 37">
            <a:extLst>
              <a:ext uri="{FF2B5EF4-FFF2-40B4-BE49-F238E27FC236}">
                <a16:creationId xmlns:a16="http://schemas.microsoft.com/office/drawing/2014/main" id="{BCC024A0-CCA1-6809-FB9C-9D57ED064C4C}"/>
              </a:ext>
            </a:extLst>
          </p:cNvPr>
          <p:cNvSpPr/>
          <p:nvPr/>
        </p:nvSpPr>
        <p:spPr>
          <a:xfrm>
            <a:off x="5283972" y="762000"/>
            <a:ext cx="0" cy="4204052"/>
          </a:xfrm>
          <a:custGeom>
            <a:avLst/>
            <a:gdLst/>
            <a:ahLst/>
            <a:cxnLst/>
            <a:rect l="l" t="t" r="r" b="b"/>
            <a:pathLst>
              <a:path h="3124200">
                <a:moveTo>
                  <a:pt x="0" y="0"/>
                </a:moveTo>
                <a:lnTo>
                  <a:pt x="0" y="3124200"/>
                </a:lnTo>
              </a:path>
            </a:pathLst>
          </a:custGeom>
          <a:ln w="7620">
            <a:solidFill>
              <a:srgbClr val="538235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EE13AE-952F-DF80-2326-4BA48AFF5D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96"/>
          <a:stretch/>
        </p:blipFill>
        <p:spPr>
          <a:xfrm>
            <a:off x="162015" y="1318259"/>
            <a:ext cx="2210980" cy="2590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57AF62-6CE4-81EB-DA0C-BBD14C9793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307022"/>
            <a:ext cx="1987027" cy="26493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4B83EB-0BE7-D96C-C682-D73141430F65}"/>
              </a:ext>
            </a:extLst>
          </p:cNvPr>
          <p:cNvSpPr txBox="1"/>
          <p:nvPr/>
        </p:nvSpPr>
        <p:spPr>
          <a:xfrm>
            <a:off x="197871" y="3975442"/>
            <a:ext cx="213926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OF023 GSPP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Sebelum</a:t>
            </a: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perawatan</a:t>
            </a:r>
            <a:endParaRPr kumimoji="0" lang="en-US" sz="1200" b="0" i="0" u="none" strike="noStrike" kern="1200" cap="none" spc="0" normalizeH="0" baseline="0" noProof="0" dirty="0"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2CB5E8-CB2E-611A-3B4A-EA6807532C59}"/>
              </a:ext>
            </a:extLst>
          </p:cNvPr>
          <p:cNvSpPr txBox="1"/>
          <p:nvPr/>
        </p:nvSpPr>
        <p:spPr>
          <a:xfrm>
            <a:off x="2665642" y="3986413"/>
            <a:ext cx="213926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OF023 GSPP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H+14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Setelah</a:t>
            </a:r>
            <a:r>
              <a:rPr kumimoji="0" lang="en-US" sz="1200" b="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perawatan</a:t>
            </a:r>
            <a:endParaRPr kumimoji="0" lang="en-US" sz="1200" b="0" i="0" u="none" strike="noStrike" kern="1200" cap="none" spc="0" normalizeH="0" baseline="0" noProof="0" dirty="0"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7BE38F-0C65-651A-996F-E2F3B9FA7C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758" y="1338998"/>
            <a:ext cx="1792690" cy="2013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F14A6D-E3FF-90BC-334C-A42BA5B95E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33" t="1755" r="897" b="29865"/>
          <a:stretch>
            <a:fillRect/>
          </a:stretch>
        </p:blipFill>
        <p:spPr>
          <a:xfrm>
            <a:off x="7724731" y="1324544"/>
            <a:ext cx="3448138" cy="34826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DFAE23-CB8A-3BBC-5D6A-16BC0CF52CA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936" y="3392938"/>
            <a:ext cx="1799441" cy="14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9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1379F52-2C13-5790-603D-59DEC6173C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217" y="96773"/>
            <a:ext cx="950972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0" dirty="0">
                <a:solidFill>
                  <a:srgbClr val="006600"/>
                </a:solidFill>
              </a:rPr>
              <a:t>ANALISA AKAR PEMASALAHAN </a:t>
            </a:r>
            <a:endParaRPr sz="2400" spc="-10" dirty="0">
              <a:solidFill>
                <a:srgbClr val="006600"/>
              </a:solidFill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2BAEE686-FDDB-C368-899E-F22E6D674C8F}"/>
              </a:ext>
            </a:extLst>
          </p:cNvPr>
          <p:cNvGrpSpPr/>
          <p:nvPr/>
        </p:nvGrpSpPr>
        <p:grpSpPr>
          <a:xfrm>
            <a:off x="236597" y="530472"/>
            <a:ext cx="10821670" cy="58419"/>
            <a:chOff x="227329" y="629919"/>
            <a:chExt cx="10821670" cy="58419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F5F1A9C0-FCB2-5F6C-66AC-A1630633A18D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9E57178-05AA-7D22-463F-85DF2F1A43A7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01C7111-ADE0-3FFB-A5C0-10E5693D9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" t="11111" r="759" b="14444"/>
          <a:stretch/>
        </p:blipFill>
        <p:spPr>
          <a:xfrm>
            <a:off x="457199" y="640435"/>
            <a:ext cx="11430001" cy="583656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33320E2-4A07-5795-BA25-D1021E87E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3269">
            <a:off x="8458200" y="2798705"/>
            <a:ext cx="4589507" cy="126058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4549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26017-81E7-5B68-78D5-9F072CA7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CE9910-3DE6-1FC2-F7B8-FD8A2B1708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MENENTUKAN TARGET</a:t>
            </a:r>
            <a:endParaRPr spc="-10" dirty="0">
              <a:solidFill>
                <a:srgbClr val="205868"/>
              </a:solidFill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720E65A-73B5-68EF-5364-7CC726FA9AB4}"/>
              </a:ext>
            </a:extLst>
          </p:cNvPr>
          <p:cNvGrpSpPr/>
          <p:nvPr/>
        </p:nvGrpSpPr>
        <p:grpSpPr>
          <a:xfrm>
            <a:off x="227329" y="629919"/>
            <a:ext cx="10821670" cy="58419"/>
            <a:chOff x="227329" y="629919"/>
            <a:chExt cx="10821670" cy="58419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4230828-6CEB-F5DA-6346-31F0B86EEB3C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422A5BB-C056-831F-B16B-5779012B6B7C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CF28B401-EEDA-BB95-317F-7408D2849E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6846" y="76200"/>
            <a:ext cx="654627" cy="685800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3BB3D66A-BB3A-DE04-D116-460941738253}"/>
              </a:ext>
            </a:extLst>
          </p:cNvPr>
          <p:cNvSpPr/>
          <p:nvPr/>
        </p:nvSpPr>
        <p:spPr>
          <a:xfrm>
            <a:off x="137160" y="6099762"/>
            <a:ext cx="1615440" cy="642620"/>
          </a:xfrm>
          <a:custGeom>
            <a:avLst/>
            <a:gdLst/>
            <a:ahLst/>
            <a:cxnLst/>
            <a:rect l="l" t="t" r="r" b="b"/>
            <a:pathLst>
              <a:path w="1615439" h="642620">
                <a:moveTo>
                  <a:pt x="1615440" y="0"/>
                </a:moveTo>
                <a:lnTo>
                  <a:pt x="0" y="0"/>
                </a:lnTo>
                <a:lnTo>
                  <a:pt x="0" y="642620"/>
                </a:lnTo>
                <a:lnTo>
                  <a:pt x="1615440" y="642620"/>
                </a:lnTo>
                <a:lnTo>
                  <a:pt x="161544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59DCE215-34CC-8F0E-90EE-7B7C30778367}"/>
              </a:ext>
            </a:extLst>
          </p:cNvPr>
          <p:cNvSpPr txBox="1"/>
          <p:nvPr/>
        </p:nvSpPr>
        <p:spPr>
          <a:xfrm>
            <a:off x="-1143" y="5933224"/>
            <a:ext cx="1508760" cy="617477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2E62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  <a:p>
            <a:pPr marL="4914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MORALE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2E62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9" name="object 10">
            <a:extLst>
              <a:ext uri="{FF2B5EF4-FFF2-40B4-BE49-F238E27FC236}">
                <a16:creationId xmlns:a16="http://schemas.microsoft.com/office/drawing/2014/main" id="{C22711E2-E8DF-261E-2EC5-3E58F35CCE56}"/>
              </a:ext>
            </a:extLst>
          </p:cNvPr>
          <p:cNvGrpSpPr/>
          <p:nvPr/>
        </p:nvGrpSpPr>
        <p:grpSpPr>
          <a:xfrm>
            <a:off x="1645920" y="6096000"/>
            <a:ext cx="640080" cy="637540"/>
            <a:chOff x="1507617" y="5963920"/>
            <a:chExt cx="640080" cy="637540"/>
          </a:xfrm>
        </p:grpSpPr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4F024DA2-D444-05AF-FF1B-553FE0A17DE9}"/>
                </a:ext>
              </a:extLst>
            </p:cNvPr>
            <p:cNvSpPr/>
            <p:nvPr/>
          </p:nvSpPr>
          <p:spPr>
            <a:xfrm>
              <a:off x="1507617" y="5963920"/>
              <a:ext cx="640080" cy="637540"/>
            </a:xfrm>
            <a:custGeom>
              <a:avLst/>
              <a:gdLst/>
              <a:ahLst/>
              <a:cxnLst/>
              <a:rect l="l" t="t" r="r" b="b"/>
              <a:pathLst>
                <a:path w="640080" h="637540">
                  <a:moveTo>
                    <a:pt x="640080" y="0"/>
                  </a:moveTo>
                  <a:lnTo>
                    <a:pt x="0" y="0"/>
                  </a:lnTo>
                  <a:lnTo>
                    <a:pt x="0" y="637539"/>
                  </a:lnTo>
                  <a:lnTo>
                    <a:pt x="640080" y="637539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937919E9-7CEC-9475-6FD1-459ED360B43D}"/>
                </a:ext>
              </a:extLst>
            </p:cNvPr>
            <p:cNvSpPr/>
            <p:nvPr/>
          </p:nvSpPr>
          <p:spPr>
            <a:xfrm>
              <a:off x="1597914" y="6019734"/>
              <a:ext cx="411480" cy="528320"/>
            </a:xfrm>
            <a:custGeom>
              <a:avLst/>
              <a:gdLst/>
              <a:ahLst/>
              <a:cxnLst/>
              <a:rect l="l" t="t" r="r" b="b"/>
              <a:pathLst>
                <a:path w="411480" h="528320">
                  <a:moveTo>
                    <a:pt x="274320" y="387921"/>
                  </a:moveTo>
                  <a:lnTo>
                    <a:pt x="239801" y="341249"/>
                  </a:lnTo>
                  <a:lnTo>
                    <a:pt x="201980" y="310984"/>
                  </a:lnTo>
                  <a:lnTo>
                    <a:pt x="180086" y="297878"/>
                  </a:lnTo>
                  <a:lnTo>
                    <a:pt x="180086" y="256311"/>
                  </a:lnTo>
                  <a:lnTo>
                    <a:pt x="195453" y="212940"/>
                  </a:lnTo>
                  <a:lnTo>
                    <a:pt x="197104" y="187032"/>
                  </a:lnTo>
                  <a:lnTo>
                    <a:pt x="202768" y="180543"/>
                  </a:lnTo>
                  <a:lnTo>
                    <a:pt x="206819" y="171462"/>
                  </a:lnTo>
                  <a:lnTo>
                    <a:pt x="209245" y="159766"/>
                  </a:lnTo>
                  <a:lnTo>
                    <a:pt x="210058" y="145478"/>
                  </a:lnTo>
                  <a:lnTo>
                    <a:pt x="209308" y="139204"/>
                  </a:lnTo>
                  <a:lnTo>
                    <a:pt x="207352" y="131622"/>
                  </a:lnTo>
                  <a:lnTo>
                    <a:pt x="204584" y="124053"/>
                  </a:lnTo>
                  <a:lnTo>
                    <a:pt x="201422" y="117767"/>
                  </a:lnTo>
                  <a:lnTo>
                    <a:pt x="205663" y="93205"/>
                  </a:lnTo>
                  <a:lnTo>
                    <a:pt x="204457" y="54457"/>
                  </a:lnTo>
                  <a:lnTo>
                    <a:pt x="178409" y="10401"/>
                  </a:lnTo>
                  <a:lnTo>
                    <a:pt x="145796" y="0"/>
                  </a:lnTo>
                  <a:lnTo>
                    <a:pt x="129222" y="2603"/>
                  </a:lnTo>
                  <a:lnTo>
                    <a:pt x="113055" y="10401"/>
                  </a:lnTo>
                  <a:lnTo>
                    <a:pt x="99314" y="23393"/>
                  </a:lnTo>
                  <a:lnTo>
                    <a:pt x="90043" y="41567"/>
                  </a:lnTo>
                  <a:lnTo>
                    <a:pt x="83642" y="41795"/>
                  </a:lnTo>
                  <a:lnTo>
                    <a:pt x="77685" y="43307"/>
                  </a:lnTo>
                  <a:lnTo>
                    <a:pt x="72529" y="47421"/>
                  </a:lnTo>
                  <a:lnTo>
                    <a:pt x="68580" y="55422"/>
                  </a:lnTo>
                  <a:lnTo>
                    <a:pt x="66814" y="68097"/>
                  </a:lnTo>
                  <a:lnTo>
                    <a:pt x="67500" y="83997"/>
                  </a:lnTo>
                  <a:lnTo>
                    <a:pt x="69786" y="101206"/>
                  </a:lnTo>
                  <a:lnTo>
                    <a:pt x="72898" y="117767"/>
                  </a:lnTo>
                  <a:lnTo>
                    <a:pt x="69723" y="124053"/>
                  </a:lnTo>
                  <a:lnTo>
                    <a:pt x="66954" y="131622"/>
                  </a:lnTo>
                  <a:lnTo>
                    <a:pt x="64998" y="139204"/>
                  </a:lnTo>
                  <a:lnTo>
                    <a:pt x="64262" y="145478"/>
                  </a:lnTo>
                  <a:lnTo>
                    <a:pt x="65062" y="159766"/>
                  </a:lnTo>
                  <a:lnTo>
                    <a:pt x="67500" y="171462"/>
                  </a:lnTo>
                  <a:lnTo>
                    <a:pt x="71539" y="180543"/>
                  </a:lnTo>
                  <a:lnTo>
                    <a:pt x="77216" y="187032"/>
                  </a:lnTo>
                  <a:lnTo>
                    <a:pt x="77927" y="201434"/>
                  </a:lnTo>
                  <a:lnTo>
                    <a:pt x="79844" y="213893"/>
                  </a:lnTo>
                  <a:lnTo>
                    <a:pt x="82562" y="225031"/>
                  </a:lnTo>
                  <a:lnTo>
                    <a:pt x="85725" y="235521"/>
                  </a:lnTo>
                  <a:lnTo>
                    <a:pt x="85725" y="249377"/>
                  </a:lnTo>
                  <a:lnTo>
                    <a:pt x="90043" y="256311"/>
                  </a:lnTo>
                  <a:lnTo>
                    <a:pt x="94361" y="256311"/>
                  </a:lnTo>
                  <a:lnTo>
                    <a:pt x="94361" y="297878"/>
                  </a:lnTo>
                  <a:lnTo>
                    <a:pt x="68122" y="315734"/>
                  </a:lnTo>
                  <a:lnTo>
                    <a:pt x="39128" y="336842"/>
                  </a:lnTo>
                  <a:lnTo>
                    <a:pt x="14147" y="359244"/>
                  </a:lnTo>
                  <a:lnTo>
                    <a:pt x="0" y="381000"/>
                  </a:lnTo>
                  <a:lnTo>
                    <a:pt x="0" y="519544"/>
                  </a:lnTo>
                  <a:lnTo>
                    <a:pt x="4318" y="526478"/>
                  </a:lnTo>
                  <a:lnTo>
                    <a:pt x="274320" y="526478"/>
                  </a:lnTo>
                  <a:lnTo>
                    <a:pt x="274320" y="387921"/>
                  </a:lnTo>
                  <a:close/>
                </a:path>
                <a:path w="411480" h="528320">
                  <a:moveTo>
                    <a:pt x="411480" y="389204"/>
                  </a:moveTo>
                  <a:lnTo>
                    <a:pt x="408241" y="375729"/>
                  </a:lnTo>
                  <a:lnTo>
                    <a:pt x="398526" y="364858"/>
                  </a:lnTo>
                  <a:lnTo>
                    <a:pt x="382333" y="353999"/>
                  </a:lnTo>
                  <a:lnTo>
                    <a:pt x="359664" y="340512"/>
                  </a:lnTo>
                  <a:lnTo>
                    <a:pt x="353187" y="335419"/>
                  </a:lnTo>
                  <a:lnTo>
                    <a:pt x="346710" y="330962"/>
                  </a:lnTo>
                  <a:lnTo>
                    <a:pt x="340233" y="327812"/>
                  </a:lnTo>
                  <a:lnTo>
                    <a:pt x="333756" y="326605"/>
                  </a:lnTo>
                  <a:lnTo>
                    <a:pt x="333756" y="298780"/>
                  </a:lnTo>
                  <a:lnTo>
                    <a:pt x="338264" y="292049"/>
                  </a:lnTo>
                  <a:lnTo>
                    <a:pt x="344004" y="281393"/>
                  </a:lnTo>
                  <a:lnTo>
                    <a:pt x="348932" y="265531"/>
                  </a:lnTo>
                  <a:lnTo>
                    <a:pt x="351028" y="243141"/>
                  </a:lnTo>
                  <a:lnTo>
                    <a:pt x="354190" y="236728"/>
                  </a:lnTo>
                  <a:lnTo>
                    <a:pt x="356958" y="228358"/>
                  </a:lnTo>
                  <a:lnTo>
                    <a:pt x="358914" y="218694"/>
                  </a:lnTo>
                  <a:lnTo>
                    <a:pt x="359664" y="208356"/>
                  </a:lnTo>
                  <a:lnTo>
                    <a:pt x="359549" y="201396"/>
                  </a:lnTo>
                  <a:lnTo>
                    <a:pt x="359117" y="194449"/>
                  </a:lnTo>
                  <a:lnTo>
                    <a:pt x="357835" y="186842"/>
                  </a:lnTo>
                  <a:lnTo>
                    <a:pt x="355346" y="180530"/>
                  </a:lnTo>
                  <a:lnTo>
                    <a:pt x="355346" y="173583"/>
                  </a:lnTo>
                  <a:lnTo>
                    <a:pt x="358444" y="161950"/>
                  </a:lnTo>
                  <a:lnTo>
                    <a:pt x="360730" y="148374"/>
                  </a:lnTo>
                  <a:lnTo>
                    <a:pt x="361416" y="133477"/>
                  </a:lnTo>
                  <a:lnTo>
                    <a:pt x="359664" y="117932"/>
                  </a:lnTo>
                  <a:lnTo>
                    <a:pt x="350951" y="99682"/>
                  </a:lnTo>
                  <a:lnTo>
                    <a:pt x="338607" y="86639"/>
                  </a:lnTo>
                  <a:lnTo>
                    <a:pt x="323837" y="78816"/>
                  </a:lnTo>
                  <a:lnTo>
                    <a:pt x="307848" y="76200"/>
                  </a:lnTo>
                  <a:lnTo>
                    <a:pt x="294347" y="78701"/>
                  </a:lnTo>
                  <a:lnTo>
                    <a:pt x="280860" y="85763"/>
                  </a:lnTo>
                  <a:lnTo>
                    <a:pt x="268986" y="96748"/>
                  </a:lnTo>
                  <a:lnTo>
                    <a:pt x="260350" y="110972"/>
                  </a:lnTo>
                  <a:lnTo>
                    <a:pt x="251714" y="110972"/>
                  </a:lnTo>
                  <a:lnTo>
                    <a:pt x="243078" y="124891"/>
                  </a:lnTo>
                  <a:lnTo>
                    <a:pt x="241312" y="136410"/>
                  </a:lnTo>
                  <a:lnTo>
                    <a:pt x="241985" y="149237"/>
                  </a:lnTo>
                  <a:lnTo>
                    <a:pt x="244284" y="162064"/>
                  </a:lnTo>
                  <a:lnTo>
                    <a:pt x="247396" y="173583"/>
                  </a:lnTo>
                  <a:lnTo>
                    <a:pt x="243078" y="173583"/>
                  </a:lnTo>
                  <a:lnTo>
                    <a:pt x="243078" y="180530"/>
                  </a:lnTo>
                  <a:lnTo>
                    <a:pt x="238760" y="187490"/>
                  </a:lnTo>
                  <a:lnTo>
                    <a:pt x="238785" y="202057"/>
                  </a:lnTo>
                  <a:lnTo>
                    <a:pt x="239496" y="215760"/>
                  </a:lnTo>
                  <a:lnTo>
                    <a:pt x="241452" y="227495"/>
                  </a:lnTo>
                  <a:lnTo>
                    <a:pt x="244221" y="236626"/>
                  </a:lnTo>
                  <a:lnTo>
                    <a:pt x="247396" y="243141"/>
                  </a:lnTo>
                  <a:lnTo>
                    <a:pt x="249478" y="265531"/>
                  </a:lnTo>
                  <a:lnTo>
                    <a:pt x="254406" y="281393"/>
                  </a:lnTo>
                  <a:lnTo>
                    <a:pt x="260146" y="292049"/>
                  </a:lnTo>
                  <a:lnTo>
                    <a:pt x="264668" y="298780"/>
                  </a:lnTo>
                  <a:lnTo>
                    <a:pt x="264668" y="326605"/>
                  </a:lnTo>
                  <a:lnTo>
                    <a:pt x="260350" y="326605"/>
                  </a:lnTo>
                  <a:lnTo>
                    <a:pt x="275996" y="346176"/>
                  </a:lnTo>
                  <a:lnTo>
                    <a:pt x="285165" y="363131"/>
                  </a:lnTo>
                  <a:lnTo>
                    <a:pt x="289496" y="377469"/>
                  </a:lnTo>
                  <a:lnTo>
                    <a:pt x="290576" y="389204"/>
                  </a:lnTo>
                  <a:lnTo>
                    <a:pt x="290576" y="528320"/>
                  </a:lnTo>
                  <a:lnTo>
                    <a:pt x="407162" y="528320"/>
                  </a:lnTo>
                  <a:lnTo>
                    <a:pt x="411480" y="521360"/>
                  </a:lnTo>
                  <a:lnTo>
                    <a:pt x="411480" y="3892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sp>
        <p:nvSpPr>
          <p:cNvPr id="14" name="object 18">
            <a:extLst>
              <a:ext uri="{FF2B5EF4-FFF2-40B4-BE49-F238E27FC236}">
                <a16:creationId xmlns:a16="http://schemas.microsoft.com/office/drawing/2014/main" id="{C2E6B331-D8BF-AEE6-46DA-16054AD541A1}"/>
              </a:ext>
            </a:extLst>
          </p:cNvPr>
          <p:cNvSpPr/>
          <p:nvPr/>
        </p:nvSpPr>
        <p:spPr>
          <a:xfrm>
            <a:off x="132079" y="3083560"/>
            <a:ext cx="1973580" cy="888745"/>
          </a:xfrm>
          <a:custGeom>
            <a:avLst/>
            <a:gdLst/>
            <a:ahLst/>
            <a:cxnLst/>
            <a:rect l="l" t="t" r="r" b="b"/>
            <a:pathLst>
              <a:path w="1973580" h="642620">
                <a:moveTo>
                  <a:pt x="1973580" y="0"/>
                </a:moveTo>
                <a:lnTo>
                  <a:pt x="0" y="0"/>
                </a:lnTo>
                <a:lnTo>
                  <a:pt x="0" y="642619"/>
                </a:lnTo>
                <a:lnTo>
                  <a:pt x="1973580" y="642619"/>
                </a:lnTo>
                <a:lnTo>
                  <a:pt x="197358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object 19">
            <a:extLst>
              <a:ext uri="{FF2B5EF4-FFF2-40B4-BE49-F238E27FC236}">
                <a16:creationId xmlns:a16="http://schemas.microsoft.com/office/drawing/2014/main" id="{0CB612C0-FF73-A9A5-C3BB-89D128031B1B}"/>
              </a:ext>
            </a:extLst>
          </p:cNvPr>
          <p:cNvSpPr txBox="1"/>
          <p:nvPr/>
        </p:nvSpPr>
        <p:spPr>
          <a:xfrm>
            <a:off x="606637" y="3357853"/>
            <a:ext cx="66347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CO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ST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2E62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19" name="object 36">
            <a:extLst>
              <a:ext uri="{FF2B5EF4-FFF2-40B4-BE49-F238E27FC236}">
                <a16:creationId xmlns:a16="http://schemas.microsoft.com/office/drawing/2014/main" id="{3651F03C-4F33-794C-699C-7FFA8F1BCAD3}"/>
              </a:ext>
            </a:extLst>
          </p:cNvPr>
          <p:cNvSpPr/>
          <p:nvPr/>
        </p:nvSpPr>
        <p:spPr>
          <a:xfrm>
            <a:off x="1643280" y="3075940"/>
            <a:ext cx="625842" cy="898327"/>
          </a:xfrm>
          <a:custGeom>
            <a:avLst/>
            <a:gdLst/>
            <a:ahLst/>
            <a:cxnLst/>
            <a:rect l="l" t="t" r="r" b="b"/>
            <a:pathLst>
              <a:path w="640080" h="650239">
                <a:moveTo>
                  <a:pt x="640080" y="0"/>
                </a:moveTo>
                <a:lnTo>
                  <a:pt x="0" y="0"/>
                </a:lnTo>
                <a:lnTo>
                  <a:pt x="0" y="650239"/>
                </a:lnTo>
                <a:lnTo>
                  <a:pt x="640080" y="650239"/>
                </a:lnTo>
                <a:lnTo>
                  <a:pt x="64008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16" name="object 20">
            <a:extLst>
              <a:ext uri="{FF2B5EF4-FFF2-40B4-BE49-F238E27FC236}">
                <a16:creationId xmlns:a16="http://schemas.microsoft.com/office/drawing/2014/main" id="{A60AF39A-12C0-1939-D838-862EA2820E0A}"/>
              </a:ext>
            </a:extLst>
          </p:cNvPr>
          <p:cNvGrpSpPr/>
          <p:nvPr/>
        </p:nvGrpSpPr>
        <p:grpSpPr>
          <a:xfrm>
            <a:off x="101600" y="1089661"/>
            <a:ext cx="2118360" cy="2557297"/>
            <a:chOff x="101600" y="1089660"/>
            <a:chExt cx="2118360" cy="2557297"/>
          </a:xfrm>
          <a:solidFill>
            <a:srgbClr val="FFC000"/>
          </a:solidFill>
        </p:grpSpPr>
        <p:sp>
          <p:nvSpPr>
            <p:cNvPr id="20" name="object 25">
              <a:extLst>
                <a:ext uri="{FF2B5EF4-FFF2-40B4-BE49-F238E27FC236}">
                  <a16:creationId xmlns:a16="http://schemas.microsoft.com/office/drawing/2014/main" id="{C6954E71-DA66-244B-7F41-6EE484BAC789}"/>
                </a:ext>
              </a:extLst>
            </p:cNvPr>
            <p:cNvSpPr/>
            <p:nvPr/>
          </p:nvSpPr>
          <p:spPr>
            <a:xfrm>
              <a:off x="101600" y="1089660"/>
              <a:ext cx="1600200" cy="769680"/>
            </a:xfrm>
            <a:custGeom>
              <a:avLst/>
              <a:gdLst/>
              <a:ahLst/>
              <a:cxnLst/>
              <a:rect l="l" t="t" r="r" b="b"/>
              <a:pathLst>
                <a:path w="1600200" h="642619">
                  <a:moveTo>
                    <a:pt x="1600200" y="0"/>
                  </a:moveTo>
                  <a:lnTo>
                    <a:pt x="0" y="0"/>
                  </a:lnTo>
                  <a:lnTo>
                    <a:pt x="0" y="642620"/>
                  </a:lnTo>
                  <a:lnTo>
                    <a:pt x="1600200" y="642620"/>
                  </a:lnTo>
                  <a:lnTo>
                    <a:pt x="16002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19" name="object 24">
              <a:extLst>
                <a:ext uri="{FF2B5EF4-FFF2-40B4-BE49-F238E27FC236}">
                  <a16:creationId xmlns:a16="http://schemas.microsoft.com/office/drawing/2014/main" id="{54D5688C-765E-D0DC-A29C-B6EBDE730F05}"/>
                </a:ext>
              </a:extLst>
            </p:cNvPr>
            <p:cNvSpPr/>
            <p:nvPr/>
          </p:nvSpPr>
          <p:spPr>
            <a:xfrm>
              <a:off x="1711960" y="3365017"/>
              <a:ext cx="508000" cy="281940"/>
            </a:xfrm>
            <a:custGeom>
              <a:avLst/>
              <a:gdLst/>
              <a:ahLst/>
              <a:cxnLst/>
              <a:rect l="l" t="t" r="r" b="b"/>
              <a:pathLst>
                <a:path w="508000" h="281939">
                  <a:moveTo>
                    <a:pt x="508000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508000" y="281940"/>
                  </a:lnTo>
                  <a:lnTo>
                    <a:pt x="508000" y="265557"/>
                  </a:lnTo>
                  <a:lnTo>
                    <a:pt x="20066" y="265557"/>
                  </a:lnTo>
                  <a:lnTo>
                    <a:pt x="20066" y="16383"/>
                  </a:lnTo>
                  <a:lnTo>
                    <a:pt x="508000" y="16383"/>
                  </a:lnTo>
                  <a:lnTo>
                    <a:pt x="508000" y="0"/>
                  </a:lnTo>
                  <a:close/>
                </a:path>
                <a:path w="508000" h="281939">
                  <a:moveTo>
                    <a:pt x="508000" y="16383"/>
                  </a:moveTo>
                  <a:lnTo>
                    <a:pt x="487934" y="16383"/>
                  </a:lnTo>
                  <a:lnTo>
                    <a:pt x="487934" y="265557"/>
                  </a:lnTo>
                  <a:lnTo>
                    <a:pt x="508000" y="265557"/>
                  </a:lnTo>
                  <a:lnTo>
                    <a:pt x="508000" y="16383"/>
                  </a:lnTo>
                  <a:close/>
                </a:path>
                <a:path w="508000" h="281939">
                  <a:moveTo>
                    <a:pt x="476250" y="29210"/>
                  </a:moveTo>
                  <a:lnTo>
                    <a:pt x="31750" y="29210"/>
                  </a:lnTo>
                  <a:lnTo>
                    <a:pt x="31750" y="252730"/>
                  </a:lnTo>
                  <a:lnTo>
                    <a:pt x="476250" y="252730"/>
                  </a:lnTo>
                  <a:lnTo>
                    <a:pt x="476250" y="213741"/>
                  </a:lnTo>
                  <a:lnTo>
                    <a:pt x="254000" y="213741"/>
                  </a:lnTo>
                  <a:lnTo>
                    <a:pt x="225365" y="208031"/>
                  </a:lnTo>
                  <a:lnTo>
                    <a:pt x="201993" y="192452"/>
                  </a:lnTo>
                  <a:lnTo>
                    <a:pt x="188553" y="172720"/>
                  </a:lnTo>
                  <a:lnTo>
                    <a:pt x="105664" y="172720"/>
                  </a:lnTo>
                  <a:lnTo>
                    <a:pt x="93216" y="170223"/>
                  </a:lnTo>
                  <a:lnTo>
                    <a:pt x="83042" y="163417"/>
                  </a:lnTo>
                  <a:lnTo>
                    <a:pt x="76178" y="153324"/>
                  </a:lnTo>
                  <a:lnTo>
                    <a:pt x="73660" y="140970"/>
                  </a:lnTo>
                  <a:lnTo>
                    <a:pt x="76178" y="128615"/>
                  </a:lnTo>
                  <a:lnTo>
                    <a:pt x="83042" y="118522"/>
                  </a:lnTo>
                  <a:lnTo>
                    <a:pt x="93216" y="111716"/>
                  </a:lnTo>
                  <a:lnTo>
                    <a:pt x="105664" y="109220"/>
                  </a:lnTo>
                  <a:lnTo>
                    <a:pt x="188553" y="109220"/>
                  </a:lnTo>
                  <a:lnTo>
                    <a:pt x="201993" y="89487"/>
                  </a:lnTo>
                  <a:lnTo>
                    <a:pt x="225365" y="73908"/>
                  </a:lnTo>
                  <a:lnTo>
                    <a:pt x="254000" y="68199"/>
                  </a:lnTo>
                  <a:lnTo>
                    <a:pt x="476250" y="68199"/>
                  </a:lnTo>
                  <a:lnTo>
                    <a:pt x="476250" y="29210"/>
                  </a:lnTo>
                  <a:close/>
                </a:path>
                <a:path w="508000" h="281939">
                  <a:moveTo>
                    <a:pt x="476250" y="68199"/>
                  </a:moveTo>
                  <a:lnTo>
                    <a:pt x="254000" y="68199"/>
                  </a:lnTo>
                  <a:lnTo>
                    <a:pt x="282634" y="73908"/>
                  </a:lnTo>
                  <a:lnTo>
                    <a:pt x="306006" y="89487"/>
                  </a:lnTo>
                  <a:lnTo>
                    <a:pt x="321758" y="112615"/>
                  </a:lnTo>
                  <a:lnTo>
                    <a:pt x="327533" y="140970"/>
                  </a:lnTo>
                  <a:lnTo>
                    <a:pt x="321758" y="169324"/>
                  </a:lnTo>
                  <a:lnTo>
                    <a:pt x="306006" y="192452"/>
                  </a:lnTo>
                  <a:lnTo>
                    <a:pt x="282634" y="208031"/>
                  </a:lnTo>
                  <a:lnTo>
                    <a:pt x="254000" y="213741"/>
                  </a:lnTo>
                  <a:lnTo>
                    <a:pt x="476250" y="213741"/>
                  </a:lnTo>
                  <a:lnTo>
                    <a:pt x="476250" y="172720"/>
                  </a:lnTo>
                  <a:lnTo>
                    <a:pt x="402336" y="172720"/>
                  </a:lnTo>
                  <a:lnTo>
                    <a:pt x="389814" y="170223"/>
                  </a:lnTo>
                  <a:lnTo>
                    <a:pt x="379603" y="163417"/>
                  </a:lnTo>
                  <a:lnTo>
                    <a:pt x="372725" y="153324"/>
                  </a:lnTo>
                  <a:lnTo>
                    <a:pt x="370205" y="140970"/>
                  </a:lnTo>
                  <a:lnTo>
                    <a:pt x="372725" y="128615"/>
                  </a:lnTo>
                  <a:lnTo>
                    <a:pt x="379603" y="118522"/>
                  </a:lnTo>
                  <a:lnTo>
                    <a:pt x="389814" y="111716"/>
                  </a:lnTo>
                  <a:lnTo>
                    <a:pt x="402336" y="109220"/>
                  </a:lnTo>
                  <a:lnTo>
                    <a:pt x="476250" y="109220"/>
                  </a:lnTo>
                  <a:lnTo>
                    <a:pt x="476250" y="68199"/>
                  </a:lnTo>
                  <a:close/>
                </a:path>
                <a:path w="508000" h="281939">
                  <a:moveTo>
                    <a:pt x="238633" y="163195"/>
                  </a:moveTo>
                  <a:lnTo>
                    <a:pt x="226060" y="163575"/>
                  </a:lnTo>
                  <a:lnTo>
                    <a:pt x="227357" y="171023"/>
                  </a:lnTo>
                  <a:lnTo>
                    <a:pt x="230536" y="177720"/>
                  </a:lnTo>
                  <a:lnTo>
                    <a:pt x="250317" y="190119"/>
                  </a:lnTo>
                  <a:lnTo>
                    <a:pt x="250317" y="195325"/>
                  </a:lnTo>
                  <a:lnTo>
                    <a:pt x="257937" y="195325"/>
                  </a:lnTo>
                  <a:lnTo>
                    <a:pt x="257937" y="190119"/>
                  </a:lnTo>
                  <a:lnTo>
                    <a:pt x="262382" y="189484"/>
                  </a:lnTo>
                  <a:lnTo>
                    <a:pt x="266700" y="187833"/>
                  </a:lnTo>
                  <a:lnTo>
                    <a:pt x="270383" y="185166"/>
                  </a:lnTo>
                  <a:lnTo>
                    <a:pt x="275881" y="179935"/>
                  </a:lnTo>
                  <a:lnTo>
                    <a:pt x="277324" y="177546"/>
                  </a:lnTo>
                  <a:lnTo>
                    <a:pt x="250317" y="177546"/>
                  </a:lnTo>
                  <a:lnTo>
                    <a:pt x="249301" y="177292"/>
                  </a:lnTo>
                  <a:lnTo>
                    <a:pt x="248285" y="176911"/>
                  </a:lnTo>
                  <a:lnTo>
                    <a:pt x="242062" y="173862"/>
                  </a:lnTo>
                  <a:lnTo>
                    <a:pt x="238760" y="168783"/>
                  </a:lnTo>
                  <a:lnTo>
                    <a:pt x="238633" y="163195"/>
                  </a:lnTo>
                  <a:close/>
                </a:path>
                <a:path w="508000" h="281939">
                  <a:moveTo>
                    <a:pt x="257937" y="86614"/>
                  </a:moveTo>
                  <a:lnTo>
                    <a:pt x="250317" y="86614"/>
                  </a:lnTo>
                  <a:lnTo>
                    <a:pt x="250317" y="91821"/>
                  </a:lnTo>
                  <a:lnTo>
                    <a:pt x="245872" y="92456"/>
                  </a:lnTo>
                  <a:lnTo>
                    <a:pt x="226312" y="115526"/>
                  </a:lnTo>
                  <a:lnTo>
                    <a:pt x="226314" y="123062"/>
                  </a:lnTo>
                  <a:lnTo>
                    <a:pt x="230493" y="134139"/>
                  </a:lnTo>
                  <a:lnTo>
                    <a:pt x="236315" y="141097"/>
                  </a:lnTo>
                  <a:lnTo>
                    <a:pt x="243137" y="145101"/>
                  </a:lnTo>
                  <a:lnTo>
                    <a:pt x="250317" y="147320"/>
                  </a:lnTo>
                  <a:lnTo>
                    <a:pt x="250317" y="177546"/>
                  </a:lnTo>
                  <a:lnTo>
                    <a:pt x="277324" y="177546"/>
                  </a:lnTo>
                  <a:lnTo>
                    <a:pt x="257937" y="177419"/>
                  </a:lnTo>
                  <a:lnTo>
                    <a:pt x="257937" y="149225"/>
                  </a:lnTo>
                  <a:lnTo>
                    <a:pt x="278034" y="149225"/>
                  </a:lnTo>
                  <a:lnTo>
                    <a:pt x="277975" y="149066"/>
                  </a:lnTo>
                  <a:lnTo>
                    <a:pt x="272288" y="142843"/>
                  </a:lnTo>
                  <a:lnTo>
                    <a:pt x="265362" y="139144"/>
                  </a:lnTo>
                  <a:lnTo>
                    <a:pt x="257937" y="136779"/>
                  </a:lnTo>
                  <a:lnTo>
                    <a:pt x="257937" y="134366"/>
                  </a:lnTo>
                  <a:lnTo>
                    <a:pt x="250317" y="134366"/>
                  </a:lnTo>
                  <a:lnTo>
                    <a:pt x="244729" y="132207"/>
                  </a:lnTo>
                  <a:lnTo>
                    <a:pt x="240284" y="128905"/>
                  </a:lnTo>
                  <a:lnTo>
                    <a:pt x="238760" y="121412"/>
                  </a:lnTo>
                  <a:lnTo>
                    <a:pt x="237998" y="115824"/>
                  </a:lnTo>
                  <a:lnTo>
                    <a:pt x="240284" y="110236"/>
                  </a:lnTo>
                  <a:lnTo>
                    <a:pt x="244983" y="106807"/>
                  </a:lnTo>
                  <a:lnTo>
                    <a:pt x="246634" y="105664"/>
                  </a:lnTo>
                  <a:lnTo>
                    <a:pt x="248412" y="104902"/>
                  </a:lnTo>
                  <a:lnTo>
                    <a:pt x="250317" y="104394"/>
                  </a:lnTo>
                  <a:lnTo>
                    <a:pt x="277546" y="104394"/>
                  </a:lnTo>
                  <a:lnTo>
                    <a:pt x="277463" y="104219"/>
                  </a:lnTo>
                  <a:lnTo>
                    <a:pt x="257937" y="91821"/>
                  </a:lnTo>
                  <a:lnTo>
                    <a:pt x="257937" y="86614"/>
                  </a:lnTo>
                  <a:close/>
                </a:path>
                <a:path w="508000" h="281939">
                  <a:moveTo>
                    <a:pt x="278034" y="149225"/>
                  </a:moveTo>
                  <a:lnTo>
                    <a:pt x="257937" y="149225"/>
                  </a:lnTo>
                  <a:lnTo>
                    <a:pt x="263779" y="150749"/>
                  </a:lnTo>
                  <a:lnTo>
                    <a:pt x="268351" y="153289"/>
                  </a:lnTo>
                  <a:lnTo>
                    <a:pt x="269240" y="160528"/>
                  </a:lnTo>
                  <a:lnTo>
                    <a:pt x="270129" y="166116"/>
                  </a:lnTo>
                  <a:lnTo>
                    <a:pt x="267716" y="171704"/>
                  </a:lnTo>
                  <a:lnTo>
                    <a:pt x="263017" y="175133"/>
                  </a:lnTo>
                  <a:lnTo>
                    <a:pt x="261493" y="176149"/>
                  </a:lnTo>
                  <a:lnTo>
                    <a:pt x="259715" y="177037"/>
                  </a:lnTo>
                  <a:lnTo>
                    <a:pt x="257937" y="177419"/>
                  </a:lnTo>
                  <a:lnTo>
                    <a:pt x="277401" y="177419"/>
                  </a:lnTo>
                  <a:lnTo>
                    <a:pt x="279701" y="173609"/>
                  </a:lnTo>
                  <a:lnTo>
                    <a:pt x="281687" y="166520"/>
                  </a:lnTo>
                  <a:lnTo>
                    <a:pt x="281686" y="159004"/>
                  </a:lnTo>
                  <a:lnTo>
                    <a:pt x="278034" y="149225"/>
                  </a:lnTo>
                  <a:close/>
                </a:path>
                <a:path w="508000" h="281939">
                  <a:moveTo>
                    <a:pt x="188553" y="109220"/>
                  </a:moveTo>
                  <a:lnTo>
                    <a:pt x="105664" y="109220"/>
                  </a:lnTo>
                  <a:lnTo>
                    <a:pt x="118185" y="111716"/>
                  </a:lnTo>
                  <a:lnTo>
                    <a:pt x="128397" y="118522"/>
                  </a:lnTo>
                  <a:lnTo>
                    <a:pt x="135274" y="128615"/>
                  </a:lnTo>
                  <a:lnTo>
                    <a:pt x="137795" y="140970"/>
                  </a:lnTo>
                  <a:lnTo>
                    <a:pt x="135274" y="153324"/>
                  </a:lnTo>
                  <a:lnTo>
                    <a:pt x="128397" y="163417"/>
                  </a:lnTo>
                  <a:lnTo>
                    <a:pt x="118185" y="170223"/>
                  </a:lnTo>
                  <a:lnTo>
                    <a:pt x="105664" y="172720"/>
                  </a:lnTo>
                  <a:lnTo>
                    <a:pt x="188553" y="172720"/>
                  </a:lnTo>
                  <a:lnTo>
                    <a:pt x="186241" y="169324"/>
                  </a:lnTo>
                  <a:lnTo>
                    <a:pt x="180467" y="140970"/>
                  </a:lnTo>
                  <a:lnTo>
                    <a:pt x="186241" y="112615"/>
                  </a:lnTo>
                  <a:lnTo>
                    <a:pt x="188553" y="109220"/>
                  </a:lnTo>
                  <a:close/>
                </a:path>
                <a:path w="508000" h="281939">
                  <a:moveTo>
                    <a:pt x="476250" y="109220"/>
                  </a:moveTo>
                  <a:lnTo>
                    <a:pt x="402336" y="109220"/>
                  </a:lnTo>
                  <a:lnTo>
                    <a:pt x="414783" y="111716"/>
                  </a:lnTo>
                  <a:lnTo>
                    <a:pt x="424957" y="118522"/>
                  </a:lnTo>
                  <a:lnTo>
                    <a:pt x="431821" y="128615"/>
                  </a:lnTo>
                  <a:lnTo>
                    <a:pt x="434340" y="140970"/>
                  </a:lnTo>
                  <a:lnTo>
                    <a:pt x="431821" y="153324"/>
                  </a:lnTo>
                  <a:lnTo>
                    <a:pt x="424957" y="163417"/>
                  </a:lnTo>
                  <a:lnTo>
                    <a:pt x="414783" y="170223"/>
                  </a:lnTo>
                  <a:lnTo>
                    <a:pt x="402336" y="172720"/>
                  </a:lnTo>
                  <a:lnTo>
                    <a:pt x="476250" y="172720"/>
                  </a:lnTo>
                  <a:lnTo>
                    <a:pt x="476250" y="109220"/>
                  </a:lnTo>
                  <a:close/>
                </a:path>
                <a:path w="508000" h="281939">
                  <a:moveTo>
                    <a:pt x="277546" y="104394"/>
                  </a:moveTo>
                  <a:lnTo>
                    <a:pt x="250317" y="104394"/>
                  </a:lnTo>
                  <a:lnTo>
                    <a:pt x="250317" y="134366"/>
                  </a:lnTo>
                  <a:lnTo>
                    <a:pt x="257937" y="134366"/>
                  </a:lnTo>
                  <a:lnTo>
                    <a:pt x="257937" y="104521"/>
                  </a:lnTo>
                  <a:lnTo>
                    <a:pt x="277606" y="104521"/>
                  </a:lnTo>
                  <a:close/>
                </a:path>
                <a:path w="508000" h="281939">
                  <a:moveTo>
                    <a:pt x="277606" y="104521"/>
                  </a:moveTo>
                  <a:lnTo>
                    <a:pt x="257937" y="104521"/>
                  </a:lnTo>
                  <a:lnTo>
                    <a:pt x="258953" y="104775"/>
                  </a:lnTo>
                  <a:lnTo>
                    <a:pt x="259842" y="105029"/>
                  </a:lnTo>
                  <a:lnTo>
                    <a:pt x="260858" y="105537"/>
                  </a:lnTo>
                  <a:lnTo>
                    <a:pt x="265938" y="107950"/>
                  </a:lnTo>
                  <a:lnTo>
                    <a:pt x="269240" y="113157"/>
                  </a:lnTo>
                  <a:lnTo>
                    <a:pt x="269367" y="118745"/>
                  </a:lnTo>
                  <a:lnTo>
                    <a:pt x="281940" y="118364"/>
                  </a:lnTo>
                  <a:lnTo>
                    <a:pt x="280642" y="110916"/>
                  </a:lnTo>
                  <a:lnTo>
                    <a:pt x="277606" y="104521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sp>
        <p:nvSpPr>
          <p:cNvPr id="117" name="object 36">
            <a:extLst>
              <a:ext uri="{FF2B5EF4-FFF2-40B4-BE49-F238E27FC236}">
                <a16:creationId xmlns:a16="http://schemas.microsoft.com/office/drawing/2014/main" id="{DD45B759-8CD2-8AF8-3D12-137B2752DEB2}"/>
              </a:ext>
            </a:extLst>
          </p:cNvPr>
          <p:cNvSpPr/>
          <p:nvPr/>
        </p:nvSpPr>
        <p:spPr>
          <a:xfrm>
            <a:off x="1635990" y="1090372"/>
            <a:ext cx="625842" cy="768273"/>
          </a:xfrm>
          <a:custGeom>
            <a:avLst/>
            <a:gdLst/>
            <a:ahLst/>
            <a:cxnLst/>
            <a:rect l="l" t="t" r="r" b="b"/>
            <a:pathLst>
              <a:path w="640080" h="650239">
                <a:moveTo>
                  <a:pt x="640080" y="0"/>
                </a:moveTo>
                <a:lnTo>
                  <a:pt x="0" y="0"/>
                </a:lnTo>
                <a:lnTo>
                  <a:pt x="0" y="650239"/>
                </a:lnTo>
                <a:lnTo>
                  <a:pt x="640080" y="650239"/>
                </a:lnTo>
                <a:lnTo>
                  <a:pt x="64008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" name="object 26">
            <a:extLst>
              <a:ext uri="{FF2B5EF4-FFF2-40B4-BE49-F238E27FC236}">
                <a16:creationId xmlns:a16="http://schemas.microsoft.com/office/drawing/2014/main" id="{D64734EA-2836-817E-B468-A60D5E4EA15C}"/>
              </a:ext>
            </a:extLst>
          </p:cNvPr>
          <p:cNvSpPr txBox="1"/>
          <p:nvPr/>
        </p:nvSpPr>
        <p:spPr>
          <a:xfrm>
            <a:off x="144702" y="1355954"/>
            <a:ext cx="151399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PRODUCTI</a:t>
            </a:r>
            <a:r>
              <a:rPr kumimoji="0" sz="1600" b="1" i="0" u="none" strike="noStrike" kern="1200" cap="none" spc="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VI</a:t>
            </a:r>
            <a:r>
              <a:rPr kumimoji="0" sz="1600" b="1" i="0" u="none" strike="noStrike" kern="1200" cap="none" spc="-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TY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2E62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22" name="object 27">
            <a:extLst>
              <a:ext uri="{FF2B5EF4-FFF2-40B4-BE49-F238E27FC236}">
                <a16:creationId xmlns:a16="http://schemas.microsoft.com/office/drawing/2014/main" id="{77F5C318-A7E6-4D5E-750E-4438B7CEBA54}"/>
              </a:ext>
            </a:extLst>
          </p:cNvPr>
          <p:cNvGrpSpPr/>
          <p:nvPr/>
        </p:nvGrpSpPr>
        <p:grpSpPr>
          <a:xfrm>
            <a:off x="129539" y="1115923"/>
            <a:ext cx="2069464" cy="1696272"/>
            <a:chOff x="127000" y="1106169"/>
            <a:chExt cx="2069464" cy="1696272"/>
          </a:xfrm>
          <a:solidFill>
            <a:srgbClr val="FFC000"/>
          </a:solidFill>
        </p:grpSpPr>
        <p:sp>
          <p:nvSpPr>
            <p:cNvPr id="25" name="object 30">
              <a:extLst>
                <a:ext uri="{FF2B5EF4-FFF2-40B4-BE49-F238E27FC236}">
                  <a16:creationId xmlns:a16="http://schemas.microsoft.com/office/drawing/2014/main" id="{94D75368-6C3B-93BB-91B9-52A732B7FA43}"/>
                </a:ext>
              </a:extLst>
            </p:cNvPr>
            <p:cNvSpPr/>
            <p:nvPr/>
          </p:nvSpPr>
          <p:spPr>
            <a:xfrm>
              <a:off x="1761489" y="1106169"/>
              <a:ext cx="434975" cy="583565"/>
            </a:xfrm>
            <a:custGeom>
              <a:avLst/>
              <a:gdLst/>
              <a:ahLst/>
              <a:cxnLst/>
              <a:rect l="l" t="t" r="r" b="b"/>
              <a:pathLst>
                <a:path w="434975" h="583564">
                  <a:moveTo>
                    <a:pt x="364853" y="169925"/>
                  </a:moveTo>
                  <a:lnTo>
                    <a:pt x="81534" y="169925"/>
                  </a:lnTo>
                  <a:lnTo>
                    <a:pt x="93980" y="187197"/>
                  </a:lnTo>
                  <a:lnTo>
                    <a:pt x="55346" y="221190"/>
                  </a:lnTo>
                  <a:lnTo>
                    <a:pt x="25701" y="263398"/>
                  </a:lnTo>
                  <a:lnTo>
                    <a:pt x="6701" y="312177"/>
                  </a:lnTo>
                  <a:lnTo>
                    <a:pt x="0" y="365887"/>
                  </a:lnTo>
                  <a:lnTo>
                    <a:pt x="5738" y="415712"/>
                  </a:lnTo>
                  <a:lnTo>
                    <a:pt x="22085" y="461450"/>
                  </a:lnTo>
                  <a:lnTo>
                    <a:pt x="47736" y="501797"/>
                  </a:lnTo>
                  <a:lnTo>
                    <a:pt x="81386" y="535447"/>
                  </a:lnTo>
                  <a:lnTo>
                    <a:pt x="121733" y="561098"/>
                  </a:lnTo>
                  <a:lnTo>
                    <a:pt x="167471" y="577445"/>
                  </a:lnTo>
                  <a:lnTo>
                    <a:pt x="217297" y="583183"/>
                  </a:lnTo>
                  <a:lnTo>
                    <a:pt x="267122" y="577445"/>
                  </a:lnTo>
                  <a:lnTo>
                    <a:pt x="312860" y="561098"/>
                  </a:lnTo>
                  <a:lnTo>
                    <a:pt x="341446" y="542925"/>
                  </a:lnTo>
                  <a:lnTo>
                    <a:pt x="217297" y="542925"/>
                  </a:lnTo>
                  <a:lnTo>
                    <a:pt x="170228" y="536602"/>
                  </a:lnTo>
                  <a:lnTo>
                    <a:pt x="127936" y="518757"/>
                  </a:lnTo>
                  <a:lnTo>
                    <a:pt x="92106" y="491077"/>
                  </a:lnTo>
                  <a:lnTo>
                    <a:pt x="64426" y="455247"/>
                  </a:lnTo>
                  <a:lnTo>
                    <a:pt x="46581" y="412955"/>
                  </a:lnTo>
                  <a:lnTo>
                    <a:pt x="40259" y="365887"/>
                  </a:lnTo>
                  <a:lnTo>
                    <a:pt x="46581" y="318818"/>
                  </a:lnTo>
                  <a:lnTo>
                    <a:pt x="64426" y="276526"/>
                  </a:lnTo>
                  <a:lnTo>
                    <a:pt x="92106" y="240696"/>
                  </a:lnTo>
                  <a:lnTo>
                    <a:pt x="127936" y="213016"/>
                  </a:lnTo>
                  <a:lnTo>
                    <a:pt x="170228" y="195171"/>
                  </a:lnTo>
                  <a:lnTo>
                    <a:pt x="217297" y="188849"/>
                  </a:lnTo>
                  <a:lnTo>
                    <a:pt x="342067" y="188849"/>
                  </a:lnTo>
                  <a:lnTo>
                    <a:pt x="338074" y="185419"/>
                  </a:lnTo>
                  <a:lnTo>
                    <a:pt x="349250" y="170052"/>
                  </a:lnTo>
                  <a:lnTo>
                    <a:pt x="364761" y="170052"/>
                  </a:lnTo>
                  <a:close/>
                </a:path>
                <a:path w="434975" h="583564">
                  <a:moveTo>
                    <a:pt x="342215" y="188975"/>
                  </a:moveTo>
                  <a:lnTo>
                    <a:pt x="218567" y="188975"/>
                  </a:lnTo>
                  <a:lnTo>
                    <a:pt x="265321" y="195545"/>
                  </a:lnTo>
                  <a:lnTo>
                    <a:pt x="307316" y="213505"/>
                  </a:lnTo>
                  <a:lnTo>
                    <a:pt x="342884" y="241188"/>
                  </a:lnTo>
                  <a:lnTo>
                    <a:pt x="370355" y="276925"/>
                  </a:lnTo>
                  <a:lnTo>
                    <a:pt x="388062" y="319048"/>
                  </a:lnTo>
                  <a:lnTo>
                    <a:pt x="394335" y="365887"/>
                  </a:lnTo>
                  <a:lnTo>
                    <a:pt x="388012" y="412955"/>
                  </a:lnTo>
                  <a:lnTo>
                    <a:pt x="370167" y="455247"/>
                  </a:lnTo>
                  <a:lnTo>
                    <a:pt x="342487" y="491077"/>
                  </a:lnTo>
                  <a:lnTo>
                    <a:pt x="306657" y="518757"/>
                  </a:lnTo>
                  <a:lnTo>
                    <a:pt x="264365" y="536602"/>
                  </a:lnTo>
                  <a:lnTo>
                    <a:pt x="217297" y="542925"/>
                  </a:lnTo>
                  <a:lnTo>
                    <a:pt x="341446" y="542925"/>
                  </a:lnTo>
                  <a:lnTo>
                    <a:pt x="386857" y="501797"/>
                  </a:lnTo>
                  <a:lnTo>
                    <a:pt x="412508" y="461450"/>
                  </a:lnTo>
                  <a:lnTo>
                    <a:pt x="428855" y="415712"/>
                  </a:lnTo>
                  <a:lnTo>
                    <a:pt x="434594" y="365887"/>
                  </a:lnTo>
                  <a:lnTo>
                    <a:pt x="427692" y="311435"/>
                  </a:lnTo>
                  <a:lnTo>
                    <a:pt x="408146" y="262032"/>
                  </a:lnTo>
                  <a:lnTo>
                    <a:pt x="377694" y="219440"/>
                  </a:lnTo>
                  <a:lnTo>
                    <a:pt x="342215" y="188975"/>
                  </a:lnTo>
                  <a:close/>
                </a:path>
                <a:path w="434975" h="583564">
                  <a:moveTo>
                    <a:pt x="342067" y="188849"/>
                  </a:moveTo>
                  <a:lnTo>
                    <a:pt x="217932" y="188849"/>
                  </a:lnTo>
                  <a:lnTo>
                    <a:pt x="218312" y="188975"/>
                  </a:lnTo>
                  <a:lnTo>
                    <a:pt x="201930" y="350646"/>
                  </a:lnTo>
                  <a:lnTo>
                    <a:pt x="195707" y="354964"/>
                  </a:lnTo>
                  <a:lnTo>
                    <a:pt x="191897" y="362330"/>
                  </a:lnTo>
                  <a:lnTo>
                    <a:pt x="191897" y="370585"/>
                  </a:lnTo>
                  <a:lnTo>
                    <a:pt x="193927" y="380615"/>
                  </a:lnTo>
                  <a:lnTo>
                    <a:pt x="199469" y="388810"/>
                  </a:lnTo>
                  <a:lnTo>
                    <a:pt x="207702" y="394338"/>
                  </a:lnTo>
                  <a:lnTo>
                    <a:pt x="217805" y="396366"/>
                  </a:lnTo>
                  <a:lnTo>
                    <a:pt x="227834" y="394338"/>
                  </a:lnTo>
                  <a:lnTo>
                    <a:pt x="236029" y="388810"/>
                  </a:lnTo>
                  <a:lnTo>
                    <a:pt x="241557" y="380615"/>
                  </a:lnTo>
                  <a:lnTo>
                    <a:pt x="243586" y="370585"/>
                  </a:lnTo>
                  <a:lnTo>
                    <a:pt x="243586" y="362965"/>
                  </a:lnTo>
                  <a:lnTo>
                    <a:pt x="240284" y="356107"/>
                  </a:lnTo>
                  <a:lnTo>
                    <a:pt x="234950" y="351535"/>
                  </a:lnTo>
                  <a:lnTo>
                    <a:pt x="218567" y="188975"/>
                  </a:lnTo>
                  <a:lnTo>
                    <a:pt x="342215" y="188975"/>
                  </a:lnTo>
                  <a:lnTo>
                    <a:pt x="342067" y="188849"/>
                  </a:lnTo>
                  <a:close/>
                </a:path>
                <a:path w="434975" h="583564">
                  <a:moveTo>
                    <a:pt x="364761" y="170052"/>
                  </a:moveTo>
                  <a:lnTo>
                    <a:pt x="349250" y="170052"/>
                  </a:lnTo>
                  <a:lnTo>
                    <a:pt x="350266" y="170687"/>
                  </a:lnTo>
                  <a:lnTo>
                    <a:pt x="355346" y="174370"/>
                  </a:lnTo>
                  <a:lnTo>
                    <a:pt x="362458" y="173227"/>
                  </a:lnTo>
                  <a:lnTo>
                    <a:pt x="364761" y="170052"/>
                  </a:lnTo>
                  <a:close/>
                </a:path>
                <a:path w="434975" h="583564">
                  <a:moveTo>
                    <a:pt x="92710" y="101472"/>
                  </a:moveTo>
                  <a:lnTo>
                    <a:pt x="89662" y="102107"/>
                  </a:lnTo>
                  <a:lnTo>
                    <a:pt x="87122" y="104012"/>
                  </a:lnTo>
                  <a:lnTo>
                    <a:pt x="46101" y="133476"/>
                  </a:lnTo>
                  <a:lnTo>
                    <a:pt x="44958" y="140588"/>
                  </a:lnTo>
                  <a:lnTo>
                    <a:pt x="48641" y="145668"/>
                  </a:lnTo>
                  <a:lnTo>
                    <a:pt x="64643" y="168020"/>
                  </a:lnTo>
                  <a:lnTo>
                    <a:pt x="68326" y="173100"/>
                  </a:lnTo>
                  <a:lnTo>
                    <a:pt x="75437" y="174243"/>
                  </a:lnTo>
                  <a:lnTo>
                    <a:pt x="80518" y="170560"/>
                  </a:lnTo>
                  <a:lnTo>
                    <a:pt x="81534" y="169925"/>
                  </a:lnTo>
                  <a:lnTo>
                    <a:pt x="364853" y="169925"/>
                  </a:lnTo>
                  <a:lnTo>
                    <a:pt x="367249" y="166624"/>
                  </a:lnTo>
                  <a:lnTo>
                    <a:pt x="130810" y="166624"/>
                  </a:lnTo>
                  <a:lnTo>
                    <a:pt x="115570" y="145414"/>
                  </a:lnTo>
                  <a:lnTo>
                    <a:pt x="121539" y="141096"/>
                  </a:lnTo>
                  <a:lnTo>
                    <a:pt x="122809" y="133984"/>
                  </a:lnTo>
                  <a:lnTo>
                    <a:pt x="102908" y="106425"/>
                  </a:lnTo>
                  <a:lnTo>
                    <a:pt x="101218" y="104012"/>
                  </a:lnTo>
                  <a:lnTo>
                    <a:pt x="98552" y="102488"/>
                  </a:lnTo>
                  <a:lnTo>
                    <a:pt x="92710" y="101472"/>
                  </a:lnTo>
                  <a:close/>
                </a:path>
                <a:path w="434975" h="583564">
                  <a:moveTo>
                    <a:pt x="217297" y="0"/>
                  </a:moveTo>
                  <a:lnTo>
                    <a:pt x="183731" y="6776"/>
                  </a:lnTo>
                  <a:lnTo>
                    <a:pt x="156321" y="25257"/>
                  </a:lnTo>
                  <a:lnTo>
                    <a:pt x="137840" y="52667"/>
                  </a:lnTo>
                  <a:lnTo>
                    <a:pt x="131064" y="86232"/>
                  </a:lnTo>
                  <a:lnTo>
                    <a:pt x="133496" y="106703"/>
                  </a:lnTo>
                  <a:lnTo>
                    <a:pt x="140430" y="125412"/>
                  </a:lnTo>
                  <a:lnTo>
                    <a:pt x="151316" y="141739"/>
                  </a:lnTo>
                  <a:lnTo>
                    <a:pt x="165608" y="155066"/>
                  </a:lnTo>
                  <a:lnTo>
                    <a:pt x="156634" y="157301"/>
                  </a:lnTo>
                  <a:lnTo>
                    <a:pt x="147828" y="159988"/>
                  </a:lnTo>
                  <a:lnTo>
                    <a:pt x="139211" y="163103"/>
                  </a:lnTo>
                  <a:lnTo>
                    <a:pt x="130810" y="166624"/>
                  </a:lnTo>
                  <a:lnTo>
                    <a:pt x="367249" y="166624"/>
                  </a:lnTo>
                  <a:lnTo>
                    <a:pt x="368171" y="165353"/>
                  </a:lnTo>
                  <a:lnTo>
                    <a:pt x="300863" y="165353"/>
                  </a:lnTo>
                  <a:lnTo>
                    <a:pt x="293149" y="162264"/>
                  </a:lnTo>
                  <a:lnTo>
                    <a:pt x="285257" y="159496"/>
                  </a:lnTo>
                  <a:lnTo>
                    <a:pt x="277199" y="157085"/>
                  </a:lnTo>
                  <a:lnTo>
                    <a:pt x="268986" y="155066"/>
                  </a:lnTo>
                  <a:lnTo>
                    <a:pt x="279026" y="145668"/>
                  </a:lnTo>
                  <a:lnTo>
                    <a:pt x="187071" y="145668"/>
                  </a:lnTo>
                  <a:lnTo>
                    <a:pt x="172120" y="135489"/>
                  </a:lnTo>
                  <a:lnTo>
                    <a:pt x="160528" y="121665"/>
                  </a:lnTo>
                  <a:lnTo>
                    <a:pt x="153031" y="104985"/>
                  </a:lnTo>
                  <a:lnTo>
                    <a:pt x="150368" y="86232"/>
                  </a:lnTo>
                  <a:lnTo>
                    <a:pt x="155628" y="60184"/>
                  </a:lnTo>
                  <a:lnTo>
                    <a:pt x="169973" y="38909"/>
                  </a:lnTo>
                  <a:lnTo>
                    <a:pt x="191248" y="24564"/>
                  </a:lnTo>
                  <a:lnTo>
                    <a:pt x="217297" y="19303"/>
                  </a:lnTo>
                  <a:lnTo>
                    <a:pt x="269443" y="19303"/>
                  </a:lnTo>
                  <a:lnTo>
                    <a:pt x="250862" y="6776"/>
                  </a:lnTo>
                  <a:lnTo>
                    <a:pt x="217297" y="0"/>
                  </a:lnTo>
                  <a:close/>
                </a:path>
                <a:path w="434975" h="583564">
                  <a:moveTo>
                    <a:pt x="338455" y="101472"/>
                  </a:moveTo>
                  <a:lnTo>
                    <a:pt x="308321" y="133730"/>
                  </a:lnTo>
                  <a:lnTo>
                    <a:pt x="308249" y="133984"/>
                  </a:lnTo>
                  <a:lnTo>
                    <a:pt x="309372" y="140969"/>
                  </a:lnTo>
                  <a:lnTo>
                    <a:pt x="314452" y="144652"/>
                  </a:lnTo>
                  <a:lnTo>
                    <a:pt x="315341" y="145414"/>
                  </a:lnTo>
                  <a:lnTo>
                    <a:pt x="300863" y="165353"/>
                  </a:lnTo>
                  <a:lnTo>
                    <a:pt x="368171" y="165353"/>
                  </a:lnTo>
                  <a:lnTo>
                    <a:pt x="382270" y="145922"/>
                  </a:lnTo>
                  <a:lnTo>
                    <a:pt x="385984" y="140969"/>
                  </a:lnTo>
                  <a:lnTo>
                    <a:pt x="386039" y="140588"/>
                  </a:lnTo>
                  <a:lnTo>
                    <a:pt x="384937" y="133730"/>
                  </a:lnTo>
                  <a:lnTo>
                    <a:pt x="379730" y="130047"/>
                  </a:lnTo>
                  <a:lnTo>
                    <a:pt x="344043" y="104012"/>
                  </a:lnTo>
                  <a:lnTo>
                    <a:pt x="341503" y="102107"/>
                  </a:lnTo>
                  <a:lnTo>
                    <a:pt x="338455" y="101472"/>
                  </a:lnTo>
                  <a:close/>
                </a:path>
                <a:path w="434975" h="583564">
                  <a:moveTo>
                    <a:pt x="247523" y="111759"/>
                  </a:moveTo>
                  <a:lnTo>
                    <a:pt x="187071" y="111759"/>
                  </a:lnTo>
                  <a:lnTo>
                    <a:pt x="187071" y="145668"/>
                  </a:lnTo>
                  <a:lnTo>
                    <a:pt x="247523" y="145668"/>
                  </a:lnTo>
                  <a:lnTo>
                    <a:pt x="247523" y="111759"/>
                  </a:lnTo>
                  <a:close/>
                </a:path>
                <a:path w="434975" h="583564">
                  <a:moveTo>
                    <a:pt x="269443" y="19303"/>
                  </a:moveTo>
                  <a:lnTo>
                    <a:pt x="217297" y="19303"/>
                  </a:lnTo>
                  <a:lnTo>
                    <a:pt x="243345" y="24564"/>
                  </a:lnTo>
                  <a:lnTo>
                    <a:pt x="264620" y="38909"/>
                  </a:lnTo>
                  <a:lnTo>
                    <a:pt x="278965" y="60184"/>
                  </a:lnTo>
                  <a:lnTo>
                    <a:pt x="284226" y="86232"/>
                  </a:lnTo>
                  <a:lnTo>
                    <a:pt x="281562" y="104985"/>
                  </a:lnTo>
                  <a:lnTo>
                    <a:pt x="274066" y="121665"/>
                  </a:lnTo>
                  <a:lnTo>
                    <a:pt x="262473" y="135489"/>
                  </a:lnTo>
                  <a:lnTo>
                    <a:pt x="247523" y="145668"/>
                  </a:lnTo>
                  <a:lnTo>
                    <a:pt x="279026" y="145668"/>
                  </a:lnTo>
                  <a:lnTo>
                    <a:pt x="283223" y="141739"/>
                  </a:lnTo>
                  <a:lnTo>
                    <a:pt x="294116" y="125412"/>
                  </a:lnTo>
                  <a:lnTo>
                    <a:pt x="301079" y="106703"/>
                  </a:lnTo>
                  <a:lnTo>
                    <a:pt x="303530" y="86232"/>
                  </a:lnTo>
                  <a:lnTo>
                    <a:pt x="296753" y="52667"/>
                  </a:lnTo>
                  <a:lnTo>
                    <a:pt x="278272" y="25257"/>
                  </a:lnTo>
                  <a:lnTo>
                    <a:pt x="269443" y="19303"/>
                  </a:lnTo>
                  <a:close/>
                </a:path>
                <a:path w="434975" h="583564">
                  <a:moveTo>
                    <a:pt x="260223" y="59181"/>
                  </a:moveTo>
                  <a:lnTo>
                    <a:pt x="174244" y="59181"/>
                  </a:lnTo>
                  <a:lnTo>
                    <a:pt x="168910" y="64515"/>
                  </a:lnTo>
                  <a:lnTo>
                    <a:pt x="169037" y="106552"/>
                  </a:lnTo>
                  <a:lnTo>
                    <a:pt x="174244" y="111759"/>
                  </a:lnTo>
                  <a:lnTo>
                    <a:pt x="260223" y="111759"/>
                  </a:lnTo>
                  <a:lnTo>
                    <a:pt x="265430" y="106552"/>
                  </a:lnTo>
                  <a:lnTo>
                    <a:pt x="265557" y="64515"/>
                  </a:lnTo>
                  <a:lnTo>
                    <a:pt x="260223" y="59181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26" name="object 31">
              <a:extLst>
                <a:ext uri="{FF2B5EF4-FFF2-40B4-BE49-F238E27FC236}">
                  <a16:creationId xmlns:a16="http://schemas.microsoft.com/office/drawing/2014/main" id="{B7E9F4A3-45AC-2926-58BC-FE11FF96C23D}"/>
                </a:ext>
              </a:extLst>
            </p:cNvPr>
            <p:cNvSpPr/>
            <p:nvPr/>
          </p:nvSpPr>
          <p:spPr>
            <a:xfrm>
              <a:off x="127000" y="2080259"/>
              <a:ext cx="1729739" cy="722182"/>
            </a:xfrm>
            <a:custGeom>
              <a:avLst/>
              <a:gdLst/>
              <a:ahLst/>
              <a:cxnLst/>
              <a:rect l="l" t="t" r="r" b="b"/>
              <a:pathLst>
                <a:path w="1729739" h="642619">
                  <a:moveTo>
                    <a:pt x="1729739" y="0"/>
                  </a:moveTo>
                  <a:lnTo>
                    <a:pt x="0" y="0"/>
                  </a:lnTo>
                  <a:lnTo>
                    <a:pt x="0" y="642620"/>
                  </a:lnTo>
                  <a:lnTo>
                    <a:pt x="1729739" y="642620"/>
                  </a:lnTo>
                  <a:lnTo>
                    <a:pt x="172973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sp>
        <p:nvSpPr>
          <p:cNvPr id="27" name="object 32">
            <a:extLst>
              <a:ext uri="{FF2B5EF4-FFF2-40B4-BE49-F238E27FC236}">
                <a16:creationId xmlns:a16="http://schemas.microsoft.com/office/drawing/2014/main" id="{79089CC3-D44A-32FC-2F1C-173514AD70B7}"/>
              </a:ext>
            </a:extLst>
          </p:cNvPr>
          <p:cNvSpPr txBox="1"/>
          <p:nvPr/>
        </p:nvSpPr>
        <p:spPr>
          <a:xfrm>
            <a:off x="367124" y="2290803"/>
            <a:ext cx="112718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QUALITY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2E62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5C60D8E3-1003-909C-4592-2B7D487B5295}"/>
              </a:ext>
            </a:extLst>
          </p:cNvPr>
          <p:cNvSpPr txBox="1"/>
          <p:nvPr/>
        </p:nvSpPr>
        <p:spPr>
          <a:xfrm>
            <a:off x="2248810" y="1089661"/>
            <a:ext cx="3840419" cy="7643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469900" marR="5080" lvl="0" indent="-22860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2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Pemilihan</a:t>
            </a:r>
            <a:r>
              <a:rPr kumimoji="0" lang="en-ID" sz="12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material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hanya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berdasarkan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jenis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gulma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yang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ada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di areal</a:t>
            </a:r>
          </a:p>
          <a:p>
            <a:pPr marL="469900" marR="5080" lvl="0" indent="-22860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2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Monitorin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g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hasil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pekerjaan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chemist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dilakukan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secara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manual dan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tidak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rutin</a:t>
            </a:r>
            <a:r>
              <a:rPr kumimoji="0" lang="en-ID" sz="12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</a:p>
        </p:txBody>
      </p:sp>
      <p:grpSp>
        <p:nvGrpSpPr>
          <p:cNvPr id="42" name="object 41">
            <a:extLst>
              <a:ext uri="{FF2B5EF4-FFF2-40B4-BE49-F238E27FC236}">
                <a16:creationId xmlns:a16="http://schemas.microsoft.com/office/drawing/2014/main" id="{F17D5088-AC2F-3197-72FE-EC3753E62865}"/>
              </a:ext>
            </a:extLst>
          </p:cNvPr>
          <p:cNvGrpSpPr/>
          <p:nvPr/>
        </p:nvGrpSpPr>
        <p:grpSpPr>
          <a:xfrm>
            <a:off x="101600" y="3500374"/>
            <a:ext cx="3593846" cy="1375649"/>
            <a:chOff x="101600" y="3500374"/>
            <a:chExt cx="3593846" cy="1375649"/>
          </a:xfrm>
        </p:grpSpPr>
        <p:sp>
          <p:nvSpPr>
            <p:cNvPr id="43" name="object 42">
              <a:extLst>
                <a:ext uri="{FF2B5EF4-FFF2-40B4-BE49-F238E27FC236}">
                  <a16:creationId xmlns:a16="http://schemas.microsoft.com/office/drawing/2014/main" id="{1CED831A-1525-1FF6-2524-9DA17603B127}"/>
                </a:ext>
              </a:extLst>
            </p:cNvPr>
            <p:cNvSpPr/>
            <p:nvPr/>
          </p:nvSpPr>
          <p:spPr>
            <a:xfrm>
              <a:off x="3678936" y="3500374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10" h="17779">
                  <a:moveTo>
                    <a:pt x="11049" y="0"/>
                  </a:moveTo>
                  <a:lnTo>
                    <a:pt x="8127" y="0"/>
                  </a:lnTo>
                  <a:lnTo>
                    <a:pt x="5079" y="0"/>
                  </a:lnTo>
                  <a:lnTo>
                    <a:pt x="2921" y="635"/>
                  </a:lnTo>
                  <a:lnTo>
                    <a:pt x="635" y="2921"/>
                  </a:lnTo>
                  <a:lnTo>
                    <a:pt x="0" y="5334"/>
                  </a:lnTo>
                  <a:lnTo>
                    <a:pt x="0" y="12318"/>
                  </a:lnTo>
                  <a:lnTo>
                    <a:pt x="508" y="14604"/>
                  </a:lnTo>
                  <a:lnTo>
                    <a:pt x="1650" y="15621"/>
                  </a:lnTo>
                  <a:lnTo>
                    <a:pt x="2793" y="16763"/>
                  </a:lnTo>
                  <a:lnTo>
                    <a:pt x="4952" y="17399"/>
                  </a:lnTo>
                  <a:lnTo>
                    <a:pt x="10922" y="17399"/>
                  </a:lnTo>
                  <a:lnTo>
                    <a:pt x="13080" y="16763"/>
                  </a:lnTo>
                  <a:lnTo>
                    <a:pt x="15366" y="14477"/>
                  </a:lnTo>
                  <a:lnTo>
                    <a:pt x="16001" y="12191"/>
                  </a:lnTo>
                  <a:lnTo>
                    <a:pt x="16001" y="5206"/>
                  </a:lnTo>
                  <a:lnTo>
                    <a:pt x="15366" y="2921"/>
                  </a:lnTo>
                  <a:lnTo>
                    <a:pt x="13080" y="635"/>
                  </a:lnTo>
                  <a:lnTo>
                    <a:pt x="11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45" name="object 43">
              <a:extLst>
                <a:ext uri="{FF2B5EF4-FFF2-40B4-BE49-F238E27FC236}">
                  <a16:creationId xmlns:a16="http://schemas.microsoft.com/office/drawing/2014/main" id="{E1B3843E-3EB7-5B6B-55F1-EFE6047954DB}"/>
                </a:ext>
              </a:extLst>
            </p:cNvPr>
            <p:cNvSpPr/>
            <p:nvPr/>
          </p:nvSpPr>
          <p:spPr>
            <a:xfrm>
              <a:off x="3678936" y="3500374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10" h="17779">
                  <a:moveTo>
                    <a:pt x="8127" y="0"/>
                  </a:moveTo>
                  <a:lnTo>
                    <a:pt x="11049" y="0"/>
                  </a:lnTo>
                  <a:lnTo>
                    <a:pt x="13080" y="635"/>
                  </a:lnTo>
                  <a:lnTo>
                    <a:pt x="14224" y="1777"/>
                  </a:lnTo>
                  <a:lnTo>
                    <a:pt x="15366" y="2921"/>
                  </a:lnTo>
                  <a:lnTo>
                    <a:pt x="16001" y="5206"/>
                  </a:lnTo>
                  <a:lnTo>
                    <a:pt x="16001" y="8636"/>
                  </a:lnTo>
                  <a:lnTo>
                    <a:pt x="16001" y="12191"/>
                  </a:lnTo>
                  <a:lnTo>
                    <a:pt x="15366" y="14477"/>
                  </a:lnTo>
                  <a:lnTo>
                    <a:pt x="14224" y="15621"/>
                  </a:lnTo>
                  <a:lnTo>
                    <a:pt x="13080" y="16763"/>
                  </a:lnTo>
                  <a:lnTo>
                    <a:pt x="10922" y="17399"/>
                  </a:lnTo>
                  <a:lnTo>
                    <a:pt x="7874" y="17399"/>
                  </a:lnTo>
                  <a:lnTo>
                    <a:pt x="4952" y="17399"/>
                  </a:lnTo>
                  <a:lnTo>
                    <a:pt x="2793" y="16763"/>
                  </a:lnTo>
                  <a:lnTo>
                    <a:pt x="1650" y="15621"/>
                  </a:lnTo>
                  <a:lnTo>
                    <a:pt x="508" y="14604"/>
                  </a:lnTo>
                  <a:lnTo>
                    <a:pt x="0" y="12318"/>
                  </a:lnTo>
                  <a:lnTo>
                    <a:pt x="0" y="8889"/>
                  </a:lnTo>
                  <a:lnTo>
                    <a:pt x="0" y="5334"/>
                  </a:lnTo>
                  <a:lnTo>
                    <a:pt x="635" y="2921"/>
                  </a:lnTo>
                  <a:lnTo>
                    <a:pt x="1777" y="1777"/>
                  </a:lnTo>
                  <a:lnTo>
                    <a:pt x="2921" y="635"/>
                  </a:lnTo>
                  <a:lnTo>
                    <a:pt x="5079" y="0"/>
                  </a:lnTo>
                  <a:lnTo>
                    <a:pt x="8127" y="0"/>
                  </a:lnTo>
                  <a:close/>
                </a:path>
              </a:pathLst>
            </a:custGeom>
            <a:ln w="1016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46" name="object 44">
              <a:extLst>
                <a:ext uri="{FF2B5EF4-FFF2-40B4-BE49-F238E27FC236}">
                  <a16:creationId xmlns:a16="http://schemas.microsoft.com/office/drawing/2014/main" id="{20EDB160-25A0-7DDC-79EF-E6542006270A}"/>
                </a:ext>
              </a:extLst>
            </p:cNvPr>
            <p:cNvSpPr/>
            <p:nvPr/>
          </p:nvSpPr>
          <p:spPr>
            <a:xfrm>
              <a:off x="101600" y="4125218"/>
              <a:ext cx="1973580" cy="750805"/>
            </a:xfrm>
            <a:custGeom>
              <a:avLst/>
              <a:gdLst/>
              <a:ahLst/>
              <a:cxnLst/>
              <a:rect l="l" t="t" r="r" b="b"/>
              <a:pathLst>
                <a:path w="1973580" h="642620">
                  <a:moveTo>
                    <a:pt x="1973580" y="0"/>
                  </a:moveTo>
                  <a:lnTo>
                    <a:pt x="0" y="0"/>
                  </a:lnTo>
                  <a:lnTo>
                    <a:pt x="0" y="642619"/>
                  </a:lnTo>
                  <a:lnTo>
                    <a:pt x="1973580" y="642619"/>
                  </a:lnTo>
                  <a:lnTo>
                    <a:pt x="19735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sp>
        <p:nvSpPr>
          <p:cNvPr id="47" name="object 47">
            <a:extLst>
              <a:ext uri="{FF2B5EF4-FFF2-40B4-BE49-F238E27FC236}">
                <a16:creationId xmlns:a16="http://schemas.microsoft.com/office/drawing/2014/main" id="{4C4DDB6D-3CB8-9F63-B273-B1F9A987DD3A}"/>
              </a:ext>
            </a:extLst>
          </p:cNvPr>
          <p:cNvSpPr txBox="1"/>
          <p:nvPr/>
        </p:nvSpPr>
        <p:spPr>
          <a:xfrm>
            <a:off x="2288153" y="6151814"/>
            <a:ext cx="3827373" cy="3821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1300" marR="5080" lvl="0" indent="-22860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1.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Sulit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menentukan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tanggung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jawab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Ketika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terjadi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selisih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pemakaian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material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atau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hasil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semprot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kurang</a:t>
            </a:r>
            <a:r>
              <a:rPr lang="en-US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baik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70F0B2D5-45EB-022E-02D3-614A50601D38}"/>
              </a:ext>
            </a:extLst>
          </p:cNvPr>
          <p:cNvSpPr txBox="1"/>
          <p:nvPr/>
        </p:nvSpPr>
        <p:spPr>
          <a:xfrm>
            <a:off x="419879" y="4266945"/>
            <a:ext cx="10270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-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DE</a:t>
            </a:r>
            <a:r>
              <a:rPr kumimoji="0" b="1" i="0" u="none" strike="noStrike" kern="1200" cap="none" spc="-10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L</a:t>
            </a:r>
            <a:r>
              <a:rPr kumimoji="0" b="1" i="0" u="none" strike="noStrike" kern="1200" cap="none" spc="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I</a:t>
            </a: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V</a:t>
            </a:r>
            <a:r>
              <a:rPr kumimoji="0" b="1" i="0" u="none" strike="noStrike" kern="1200" cap="none" spc="-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ERY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2E62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BA11282E-7A6F-51DC-1907-53DD9F658B86}"/>
              </a:ext>
            </a:extLst>
          </p:cNvPr>
          <p:cNvGrpSpPr/>
          <p:nvPr/>
        </p:nvGrpSpPr>
        <p:grpSpPr>
          <a:xfrm>
            <a:off x="111697" y="4102358"/>
            <a:ext cx="2210117" cy="1683148"/>
            <a:chOff x="111697" y="4051300"/>
            <a:chExt cx="2210117" cy="1683148"/>
          </a:xfrm>
        </p:grpSpPr>
        <p:pic>
          <p:nvPicPr>
            <p:cNvPr id="50" name="object 51">
              <a:extLst>
                <a:ext uri="{FF2B5EF4-FFF2-40B4-BE49-F238E27FC236}">
                  <a16:creationId xmlns:a16="http://schemas.microsoft.com/office/drawing/2014/main" id="{BF439F2B-C321-C784-2B9A-A6304419FCC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7660" y="4051300"/>
              <a:ext cx="724154" cy="721613"/>
            </a:xfrm>
            <a:prstGeom prst="rect">
              <a:avLst/>
            </a:prstGeom>
          </p:spPr>
        </p:pic>
        <p:sp>
          <p:nvSpPr>
            <p:cNvPr id="51" name="object 52">
              <a:extLst>
                <a:ext uri="{FF2B5EF4-FFF2-40B4-BE49-F238E27FC236}">
                  <a16:creationId xmlns:a16="http://schemas.microsoft.com/office/drawing/2014/main" id="{3B6F73CA-30B4-CA99-FBC2-54C2D1B0C202}"/>
                </a:ext>
              </a:extLst>
            </p:cNvPr>
            <p:cNvSpPr/>
            <p:nvPr/>
          </p:nvSpPr>
          <p:spPr>
            <a:xfrm>
              <a:off x="1640840" y="4074159"/>
              <a:ext cx="640080" cy="758026"/>
            </a:xfrm>
            <a:custGeom>
              <a:avLst/>
              <a:gdLst/>
              <a:ahLst/>
              <a:cxnLst/>
              <a:rect l="l" t="t" r="r" b="b"/>
              <a:pathLst>
                <a:path w="640080" h="637539">
                  <a:moveTo>
                    <a:pt x="640080" y="0"/>
                  </a:moveTo>
                  <a:lnTo>
                    <a:pt x="0" y="0"/>
                  </a:lnTo>
                  <a:lnTo>
                    <a:pt x="0" y="637539"/>
                  </a:lnTo>
                  <a:lnTo>
                    <a:pt x="640080" y="637539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pic>
          <p:nvPicPr>
            <p:cNvPr id="52" name="object 53">
              <a:extLst>
                <a:ext uri="{FF2B5EF4-FFF2-40B4-BE49-F238E27FC236}">
                  <a16:creationId xmlns:a16="http://schemas.microsoft.com/office/drawing/2014/main" id="{F7074409-1196-B5E1-5533-B7CCE2E2C70B}"/>
                </a:ext>
              </a:extLst>
            </p:cNvPr>
            <p:cNvPicPr/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02710" y="4119879"/>
              <a:ext cx="546100" cy="546100"/>
            </a:xfrm>
            <a:prstGeom prst="rect">
              <a:avLst/>
            </a:prstGeom>
          </p:spPr>
        </p:pic>
        <p:sp>
          <p:nvSpPr>
            <p:cNvPr id="53" name="object 54">
              <a:extLst>
                <a:ext uri="{FF2B5EF4-FFF2-40B4-BE49-F238E27FC236}">
                  <a16:creationId xmlns:a16="http://schemas.microsoft.com/office/drawing/2014/main" id="{A989B626-CB71-DD50-2F27-46DBB4E37359}"/>
                </a:ext>
              </a:extLst>
            </p:cNvPr>
            <p:cNvSpPr/>
            <p:nvPr/>
          </p:nvSpPr>
          <p:spPr>
            <a:xfrm>
              <a:off x="111697" y="5091828"/>
              <a:ext cx="1846580" cy="642620"/>
            </a:xfrm>
            <a:custGeom>
              <a:avLst/>
              <a:gdLst/>
              <a:ahLst/>
              <a:cxnLst/>
              <a:rect l="l" t="t" r="r" b="b"/>
              <a:pathLst>
                <a:path w="1846580" h="642620">
                  <a:moveTo>
                    <a:pt x="1846580" y="0"/>
                  </a:moveTo>
                  <a:lnTo>
                    <a:pt x="0" y="0"/>
                  </a:lnTo>
                  <a:lnTo>
                    <a:pt x="0" y="642620"/>
                  </a:lnTo>
                  <a:lnTo>
                    <a:pt x="1846580" y="642620"/>
                  </a:lnTo>
                  <a:lnTo>
                    <a:pt x="18465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sp>
        <p:nvSpPr>
          <p:cNvPr id="54" name="object 55">
            <a:extLst>
              <a:ext uri="{FF2B5EF4-FFF2-40B4-BE49-F238E27FC236}">
                <a16:creationId xmlns:a16="http://schemas.microsoft.com/office/drawing/2014/main" id="{7EC81F45-12B4-252D-E824-1183CEE73FA9}"/>
              </a:ext>
            </a:extLst>
          </p:cNvPr>
          <p:cNvSpPr txBox="1"/>
          <p:nvPr/>
        </p:nvSpPr>
        <p:spPr>
          <a:xfrm>
            <a:off x="505602" y="5298367"/>
            <a:ext cx="85023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-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S</a:t>
            </a: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A</a:t>
            </a:r>
            <a:r>
              <a:rPr kumimoji="0" b="1" i="0" u="none" strike="noStrike" kern="1200" cap="none" spc="-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F</a:t>
            </a:r>
            <a:r>
              <a:rPr kumimoji="0" b="1" i="0" u="none" strike="noStrike" kern="1200" cap="none" spc="-10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E</a:t>
            </a:r>
            <a:r>
              <a:rPr kumimoji="0" b="1" i="0" u="none" strike="noStrike" kern="1200" cap="none" spc="-5" normalizeH="0" baseline="0" noProof="0" dirty="0">
                <a:ln>
                  <a:noFill/>
                </a:ln>
                <a:solidFill>
                  <a:srgbClr val="002E62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TY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2E62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55" name="object 56">
            <a:extLst>
              <a:ext uri="{FF2B5EF4-FFF2-40B4-BE49-F238E27FC236}">
                <a16:creationId xmlns:a16="http://schemas.microsoft.com/office/drawing/2014/main" id="{F965DE5B-9898-F5B2-907A-E8DB41F9BA9E}"/>
              </a:ext>
            </a:extLst>
          </p:cNvPr>
          <p:cNvGrpSpPr/>
          <p:nvPr/>
        </p:nvGrpSpPr>
        <p:grpSpPr>
          <a:xfrm>
            <a:off x="1638299" y="5139898"/>
            <a:ext cx="640080" cy="637540"/>
            <a:chOff x="1638299" y="5139898"/>
            <a:chExt cx="640080" cy="637540"/>
          </a:xfrm>
        </p:grpSpPr>
        <p:sp>
          <p:nvSpPr>
            <p:cNvPr id="57" name="object 58">
              <a:extLst>
                <a:ext uri="{FF2B5EF4-FFF2-40B4-BE49-F238E27FC236}">
                  <a16:creationId xmlns:a16="http://schemas.microsoft.com/office/drawing/2014/main" id="{B8C3FBC3-74E2-9F85-49DB-4077CC50CAEC}"/>
                </a:ext>
              </a:extLst>
            </p:cNvPr>
            <p:cNvSpPr/>
            <p:nvPr/>
          </p:nvSpPr>
          <p:spPr>
            <a:xfrm>
              <a:off x="1638299" y="5139898"/>
              <a:ext cx="640080" cy="637540"/>
            </a:xfrm>
            <a:custGeom>
              <a:avLst/>
              <a:gdLst/>
              <a:ahLst/>
              <a:cxnLst/>
              <a:rect l="l" t="t" r="r" b="b"/>
              <a:pathLst>
                <a:path w="640080" h="637539">
                  <a:moveTo>
                    <a:pt x="640080" y="0"/>
                  </a:moveTo>
                  <a:lnTo>
                    <a:pt x="0" y="0"/>
                  </a:lnTo>
                  <a:lnTo>
                    <a:pt x="0" y="637540"/>
                  </a:lnTo>
                  <a:lnTo>
                    <a:pt x="640080" y="637540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pic>
          <p:nvPicPr>
            <p:cNvPr id="58" name="object 59">
              <a:extLst>
                <a:ext uri="{FF2B5EF4-FFF2-40B4-BE49-F238E27FC236}">
                  <a16:creationId xmlns:a16="http://schemas.microsoft.com/office/drawing/2014/main" id="{BF77BE5E-37BD-E12A-6998-2D2B562804E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1091" y="5214828"/>
              <a:ext cx="490219" cy="487680"/>
            </a:xfrm>
            <a:prstGeom prst="rect">
              <a:avLst/>
            </a:prstGeom>
          </p:spPr>
        </p:pic>
      </p:grpSp>
      <p:sp>
        <p:nvSpPr>
          <p:cNvPr id="59" name="object 60">
            <a:extLst>
              <a:ext uri="{FF2B5EF4-FFF2-40B4-BE49-F238E27FC236}">
                <a16:creationId xmlns:a16="http://schemas.microsoft.com/office/drawing/2014/main" id="{1F8ED317-6C3F-EB2E-EBEB-2F8F040225B6}"/>
              </a:ext>
            </a:extLst>
          </p:cNvPr>
          <p:cNvSpPr txBox="1"/>
          <p:nvPr/>
        </p:nvSpPr>
        <p:spPr>
          <a:xfrm>
            <a:off x="2268092" y="2089979"/>
            <a:ext cx="3780545" cy="94897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13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Pemilihan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jenis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herbisida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mengikuti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dengan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ketentuan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IK dan budget yang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sudah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ditentukan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oleh function,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tidak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relevan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kondisi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real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dilapangan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1300" algn="l"/>
              </a:tabLst>
              <a:defRPr/>
            </a:pPr>
            <a:r>
              <a:rPr lang="en-US" sz="1200" kern="120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Kualitas</a:t>
            </a:r>
            <a:r>
              <a:rPr lang="en-US" sz="1200" kern="120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semprot</a:t>
            </a:r>
            <a:r>
              <a:rPr lang="en-US" sz="1200" kern="120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tidak</a:t>
            </a:r>
            <a:r>
              <a:rPr lang="en-US" sz="1200" kern="120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merata</a:t>
            </a:r>
            <a:r>
              <a:rPr lang="en-US" sz="1200" kern="120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karena</a:t>
            </a:r>
            <a:r>
              <a:rPr lang="en-US" sz="1200" kern="120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dosis</a:t>
            </a:r>
            <a:r>
              <a:rPr lang="en-US" sz="1200" kern="120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tidak</a:t>
            </a:r>
            <a:r>
              <a:rPr lang="en-US" sz="1200" kern="120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tepat</a:t>
            </a:r>
            <a:r>
              <a:rPr lang="en-US" sz="1200" kern="120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sasaran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60" name="object 39">
            <a:extLst>
              <a:ext uri="{FF2B5EF4-FFF2-40B4-BE49-F238E27FC236}">
                <a16:creationId xmlns:a16="http://schemas.microsoft.com/office/drawing/2014/main" id="{3F88B068-B190-57C2-E5D0-9611D86F41DF}"/>
              </a:ext>
            </a:extLst>
          </p:cNvPr>
          <p:cNvSpPr txBox="1"/>
          <p:nvPr/>
        </p:nvSpPr>
        <p:spPr>
          <a:xfrm>
            <a:off x="2321814" y="3126303"/>
            <a:ext cx="3805435" cy="5206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82880" marR="5080" lvl="0" indent="-2286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Terjadi</a:t>
            </a:r>
            <a:r>
              <a:rPr kumimoji="0" lang="en-ID" sz="11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potensi</a:t>
            </a:r>
            <a:r>
              <a:rPr kumimoji="0" lang="en-ID" sz="11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pemboroson</a:t>
            </a:r>
            <a:r>
              <a:rPr kumimoji="0" lang="en-ID" sz="11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herbisida</a:t>
            </a:r>
            <a:r>
              <a:rPr kumimoji="0" lang="en-ID" sz="11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akibat</a:t>
            </a:r>
            <a:r>
              <a:rPr kumimoji="0" lang="en-ID" sz="11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overdosis</a:t>
            </a:r>
            <a:endParaRPr kumimoji="0" lang="en-ID" sz="11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  <a:p>
            <a:pPr marL="182880" marR="5080" lvl="0" indent="-2286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Pengambilan</a:t>
            </a:r>
            <a:r>
              <a:rPr kumimoji="0" lang="en-ID" sz="11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material di Gudang </a:t>
            </a: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afdeling</a:t>
            </a:r>
            <a:r>
              <a:rPr kumimoji="0" lang="en-ID" sz="11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tidak</a:t>
            </a:r>
            <a:r>
              <a:rPr kumimoji="0" lang="en-ID" sz="11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100" b="0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terkontrol</a:t>
            </a:r>
            <a:r>
              <a:rPr lang="en-ID" sz="11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1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potensi</a:t>
            </a:r>
            <a:r>
              <a:rPr lang="en-ID" sz="11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1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terjadi</a:t>
            </a:r>
            <a:r>
              <a:rPr lang="en-ID" sz="11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over </a:t>
            </a:r>
            <a:endParaRPr kumimoji="0" lang="en-ID" sz="11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61" name="object 60">
            <a:extLst>
              <a:ext uri="{FF2B5EF4-FFF2-40B4-BE49-F238E27FC236}">
                <a16:creationId xmlns:a16="http://schemas.microsoft.com/office/drawing/2014/main" id="{68A4F189-8104-F924-3077-235CF5F73F06}"/>
              </a:ext>
            </a:extLst>
          </p:cNvPr>
          <p:cNvSpPr txBox="1"/>
          <p:nvPr/>
        </p:nvSpPr>
        <p:spPr>
          <a:xfrm>
            <a:off x="2269121" y="4169513"/>
            <a:ext cx="3911617" cy="5668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1300" algn="l"/>
                <a:tab pos="718185" algn="l"/>
                <a:tab pos="1089025" algn="l"/>
                <a:tab pos="1544320" algn="l"/>
                <a:tab pos="2219960" algn="l"/>
                <a:tab pos="2804160" algn="l"/>
              </a:tabLst>
              <a:defRPr/>
            </a:pP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Data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pemakaian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material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herbisida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terlambat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sampai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di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asisten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dan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kepala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kebun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karena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metode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monitoring </a:t>
            </a:r>
            <a:r>
              <a:rPr lang="en-US" sz="1200" kern="1200" spc="-10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secara</a:t>
            </a:r>
            <a:r>
              <a:rPr lang="en-US" sz="1200" kern="1200" spc="-10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manual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62" name="object 39">
            <a:extLst>
              <a:ext uri="{FF2B5EF4-FFF2-40B4-BE49-F238E27FC236}">
                <a16:creationId xmlns:a16="http://schemas.microsoft.com/office/drawing/2014/main" id="{FEECAAF5-7E91-5B7E-A659-70B6C2131EE9}"/>
              </a:ext>
            </a:extLst>
          </p:cNvPr>
          <p:cNvSpPr txBox="1"/>
          <p:nvPr/>
        </p:nvSpPr>
        <p:spPr>
          <a:xfrm>
            <a:off x="2267132" y="5291579"/>
            <a:ext cx="3848394" cy="3821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R="5080" lvl="0" indent="-228600" algn="just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Penggunaan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dosis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berlebih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meningkatkan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resiko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paparan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bahan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kimia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untuk</a:t>
            </a:r>
            <a:r>
              <a:rPr lang="en-ID" sz="1200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 Kesehatan </a:t>
            </a:r>
            <a:r>
              <a:rPr lang="en-ID" sz="1200" kern="1200" spc="-5" dirty="0" err="1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pekerja</a:t>
            </a:r>
            <a:endParaRPr kumimoji="0" lang="en-ID" sz="12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32DF618-EEAE-B79B-A872-DE46138FFBF2}"/>
              </a:ext>
            </a:extLst>
          </p:cNvPr>
          <p:cNvGrpSpPr/>
          <p:nvPr/>
        </p:nvGrpSpPr>
        <p:grpSpPr>
          <a:xfrm>
            <a:off x="6214481" y="813009"/>
            <a:ext cx="2864871" cy="2561140"/>
            <a:chOff x="6047759" y="3950510"/>
            <a:chExt cx="2864871" cy="256114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898BE52-C893-858E-81A4-1C113E95786B}"/>
                </a:ext>
              </a:extLst>
            </p:cNvPr>
            <p:cNvSpPr txBox="1"/>
            <p:nvPr/>
          </p:nvSpPr>
          <p:spPr>
            <a:xfrm>
              <a:off x="6047759" y="5313905"/>
              <a:ext cx="13949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1200" cap="none" spc="0" normalizeH="0" baseline="0" noProof="0" dirty="0">
                  <a:ln w="10541" cmpd="sng">
                    <a:solidFill>
                      <a:srgbClr val="7D7D7D">
                        <a:tint val="100000"/>
                        <a:shade val="100000"/>
                        <a:satMod val="110000"/>
                      </a:srgbClr>
                    </a:solidFill>
                    <a:prstDash val="solid"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Vagabond" pitchFamily="2" charset="0"/>
                  <a:ea typeface="Arial" panose="020B0604020202020204" pitchFamily="34" charset="0"/>
                  <a:cs typeface="Poppins" panose="00000500000000000000" pitchFamily="2" charset="0"/>
                </a:rPr>
                <a:t>2. TARGET HASIL</a:t>
              </a:r>
              <a:endParaRPr kumimoji="0" lang="id-ID" altLang="en-US" sz="1200" b="1" i="0" u="none" strike="noStrike" kern="1200" cap="none" spc="0" normalizeH="0" baseline="0" noProof="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Vagabond" pitchFamily="2" charset="0"/>
                <a:ea typeface="Arial" panose="020B060402020202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79A124DD-49A0-79B8-D783-E96C583ACB6E}"/>
                </a:ext>
              </a:extLst>
            </p:cNvPr>
            <p:cNvSpPr/>
            <p:nvPr/>
          </p:nvSpPr>
          <p:spPr>
            <a:xfrm>
              <a:off x="6051304" y="4142771"/>
              <a:ext cx="2861326" cy="2368879"/>
            </a:xfrm>
            <a:prstGeom prst="roundRect">
              <a:avLst>
                <a:gd name="adj" fmla="val 6166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5EC0CA"/>
              </a:solidFill>
            </a:ln>
            <a:effectLst>
              <a:outerShdw blurRad="6350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B44C44C-4D58-B864-85A2-6DF8EB739C23}"/>
                </a:ext>
              </a:extLst>
            </p:cNvPr>
            <p:cNvSpPr/>
            <p:nvPr/>
          </p:nvSpPr>
          <p:spPr>
            <a:xfrm>
              <a:off x="6158499" y="4405198"/>
              <a:ext cx="2398874" cy="184666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D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TARGET PROSES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AD9C541-03AF-DC2A-97D2-29E68B0EA8F6}"/>
                </a:ext>
              </a:extLst>
            </p:cNvPr>
            <p:cNvGrpSpPr/>
            <p:nvPr/>
          </p:nvGrpSpPr>
          <p:grpSpPr>
            <a:xfrm>
              <a:off x="6382265" y="3950510"/>
              <a:ext cx="227572" cy="250318"/>
              <a:chOff x="3390900" y="5051425"/>
              <a:chExt cx="346075" cy="361950"/>
            </a:xfrm>
            <a:solidFill>
              <a:schemeClr val="bg1"/>
            </a:solidFill>
          </p:grpSpPr>
          <p:sp>
            <p:nvSpPr>
              <p:cNvPr id="73" name="Freeform 1554">
                <a:extLst>
                  <a:ext uri="{FF2B5EF4-FFF2-40B4-BE49-F238E27FC236}">
                    <a16:creationId xmlns:a16="http://schemas.microsoft.com/office/drawing/2014/main" id="{526E3E1B-125F-1DD2-E80B-DF145F0A14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90900" y="5051425"/>
                <a:ext cx="346075" cy="60325"/>
              </a:xfrm>
              <a:custGeom>
                <a:avLst/>
                <a:gdLst>
                  <a:gd name="T0" fmla="*/ 90 w 92"/>
                  <a:gd name="T1" fmla="*/ 16 h 16"/>
                  <a:gd name="T2" fmla="*/ 2 w 92"/>
                  <a:gd name="T3" fmla="*/ 16 h 16"/>
                  <a:gd name="T4" fmla="*/ 0 w 92"/>
                  <a:gd name="T5" fmla="*/ 14 h 16"/>
                  <a:gd name="T6" fmla="*/ 0 w 92"/>
                  <a:gd name="T7" fmla="*/ 2 h 16"/>
                  <a:gd name="T8" fmla="*/ 2 w 92"/>
                  <a:gd name="T9" fmla="*/ 0 h 16"/>
                  <a:gd name="T10" fmla="*/ 90 w 92"/>
                  <a:gd name="T11" fmla="*/ 0 h 16"/>
                  <a:gd name="T12" fmla="*/ 92 w 92"/>
                  <a:gd name="T13" fmla="*/ 2 h 16"/>
                  <a:gd name="T14" fmla="*/ 92 w 92"/>
                  <a:gd name="T15" fmla="*/ 14 h 16"/>
                  <a:gd name="T16" fmla="*/ 90 w 92"/>
                  <a:gd name="T17" fmla="*/ 16 h 16"/>
                  <a:gd name="T18" fmla="*/ 4 w 92"/>
                  <a:gd name="T19" fmla="*/ 12 h 16"/>
                  <a:gd name="T20" fmla="*/ 88 w 92"/>
                  <a:gd name="T21" fmla="*/ 12 h 16"/>
                  <a:gd name="T22" fmla="*/ 88 w 92"/>
                  <a:gd name="T23" fmla="*/ 4 h 16"/>
                  <a:gd name="T24" fmla="*/ 4 w 92"/>
                  <a:gd name="T25" fmla="*/ 4 h 16"/>
                  <a:gd name="T26" fmla="*/ 4 w 92"/>
                  <a:gd name="T27" fmla="*/ 1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16">
                    <a:moveTo>
                      <a:pt x="90" y="16"/>
                    </a:moveTo>
                    <a:cubicBezTo>
                      <a:pt x="2" y="16"/>
                      <a:pt x="2" y="16"/>
                      <a:pt x="2" y="16"/>
                    </a:cubicBezTo>
                    <a:cubicBezTo>
                      <a:pt x="1" y="16"/>
                      <a:pt x="0" y="15"/>
                      <a:pt x="0" y="1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1" y="0"/>
                      <a:pt x="92" y="1"/>
                      <a:pt x="92" y="2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15"/>
                      <a:pt x="91" y="16"/>
                      <a:pt x="90" y="16"/>
                    </a:cubicBezTo>
                    <a:close/>
                    <a:moveTo>
                      <a:pt x="4" y="12"/>
                    </a:move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74" name="Freeform 1555">
                <a:extLst>
                  <a:ext uri="{FF2B5EF4-FFF2-40B4-BE49-F238E27FC236}">
                    <a16:creationId xmlns:a16="http://schemas.microsoft.com/office/drawing/2014/main" id="{68882DD6-928D-889E-6EB5-1D41AB361D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0900" y="5307013"/>
                <a:ext cx="346075" cy="15875"/>
              </a:xfrm>
              <a:custGeom>
                <a:avLst/>
                <a:gdLst>
                  <a:gd name="T0" fmla="*/ 90 w 92"/>
                  <a:gd name="T1" fmla="*/ 4 h 4"/>
                  <a:gd name="T2" fmla="*/ 2 w 92"/>
                  <a:gd name="T3" fmla="*/ 4 h 4"/>
                  <a:gd name="T4" fmla="*/ 0 w 92"/>
                  <a:gd name="T5" fmla="*/ 2 h 4"/>
                  <a:gd name="T6" fmla="*/ 2 w 92"/>
                  <a:gd name="T7" fmla="*/ 0 h 4"/>
                  <a:gd name="T8" fmla="*/ 90 w 92"/>
                  <a:gd name="T9" fmla="*/ 0 h 4"/>
                  <a:gd name="T10" fmla="*/ 92 w 92"/>
                  <a:gd name="T11" fmla="*/ 2 h 4"/>
                  <a:gd name="T12" fmla="*/ 90 w 9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4">
                    <a:moveTo>
                      <a:pt x="9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1" y="0"/>
                      <a:pt x="92" y="1"/>
                      <a:pt x="92" y="2"/>
                    </a:cubicBezTo>
                    <a:cubicBezTo>
                      <a:pt x="92" y="3"/>
                      <a:pt x="91" y="4"/>
                      <a:pt x="9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75" name="Freeform 1556">
                <a:extLst>
                  <a:ext uri="{FF2B5EF4-FFF2-40B4-BE49-F238E27FC236}">
                    <a16:creationId xmlns:a16="http://schemas.microsoft.com/office/drawing/2014/main" id="{C285BB29-0892-A356-85B5-FFA4D7B317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21063" y="5097463"/>
                <a:ext cx="285750" cy="225425"/>
              </a:xfrm>
              <a:custGeom>
                <a:avLst/>
                <a:gdLst>
                  <a:gd name="T0" fmla="*/ 74 w 76"/>
                  <a:gd name="T1" fmla="*/ 60 h 60"/>
                  <a:gd name="T2" fmla="*/ 2 w 76"/>
                  <a:gd name="T3" fmla="*/ 60 h 60"/>
                  <a:gd name="T4" fmla="*/ 0 w 76"/>
                  <a:gd name="T5" fmla="*/ 58 h 60"/>
                  <a:gd name="T6" fmla="*/ 0 w 76"/>
                  <a:gd name="T7" fmla="*/ 2 h 60"/>
                  <a:gd name="T8" fmla="*/ 2 w 76"/>
                  <a:gd name="T9" fmla="*/ 0 h 60"/>
                  <a:gd name="T10" fmla="*/ 74 w 76"/>
                  <a:gd name="T11" fmla="*/ 0 h 60"/>
                  <a:gd name="T12" fmla="*/ 76 w 76"/>
                  <a:gd name="T13" fmla="*/ 2 h 60"/>
                  <a:gd name="T14" fmla="*/ 76 w 76"/>
                  <a:gd name="T15" fmla="*/ 58 h 60"/>
                  <a:gd name="T16" fmla="*/ 74 w 76"/>
                  <a:gd name="T17" fmla="*/ 60 h 60"/>
                  <a:gd name="T18" fmla="*/ 4 w 76"/>
                  <a:gd name="T19" fmla="*/ 56 h 60"/>
                  <a:gd name="T20" fmla="*/ 72 w 76"/>
                  <a:gd name="T21" fmla="*/ 56 h 60"/>
                  <a:gd name="T22" fmla="*/ 72 w 76"/>
                  <a:gd name="T23" fmla="*/ 4 h 60"/>
                  <a:gd name="T24" fmla="*/ 4 w 76"/>
                  <a:gd name="T25" fmla="*/ 4 h 60"/>
                  <a:gd name="T26" fmla="*/ 4 w 76"/>
                  <a:gd name="T27" fmla="*/ 56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60">
                    <a:moveTo>
                      <a:pt x="74" y="60"/>
                    </a:moveTo>
                    <a:cubicBezTo>
                      <a:pt x="2" y="60"/>
                      <a:pt x="2" y="60"/>
                      <a:pt x="2" y="60"/>
                    </a:cubicBezTo>
                    <a:cubicBezTo>
                      <a:pt x="1" y="60"/>
                      <a:pt x="0" y="59"/>
                      <a:pt x="0" y="5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5" y="0"/>
                      <a:pt x="76" y="1"/>
                      <a:pt x="76" y="2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6" y="59"/>
                      <a:pt x="75" y="60"/>
                      <a:pt x="74" y="60"/>
                    </a:cubicBezTo>
                    <a:close/>
                    <a:moveTo>
                      <a:pt x="4" y="56"/>
                    </a:moveTo>
                    <a:cubicBezTo>
                      <a:pt x="72" y="56"/>
                      <a:pt x="72" y="56"/>
                      <a:pt x="72" y="56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76" name="Rectangle 1557">
                <a:extLst>
                  <a:ext uri="{FF2B5EF4-FFF2-40B4-BE49-F238E27FC236}">
                    <a16:creationId xmlns:a16="http://schemas.microsoft.com/office/drawing/2014/main" id="{2887104C-0FE2-384B-285B-74B6B0F0F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7588" y="5314950"/>
                <a:ext cx="14288" cy="460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77" name="Freeform 1558">
                <a:extLst>
                  <a:ext uri="{FF2B5EF4-FFF2-40B4-BE49-F238E27FC236}">
                    <a16:creationId xmlns:a16="http://schemas.microsoft.com/office/drawing/2014/main" id="{43079E5C-B422-803B-B406-8E5440D21D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33775" y="5353050"/>
                <a:ext cx="60325" cy="60325"/>
              </a:xfrm>
              <a:custGeom>
                <a:avLst/>
                <a:gdLst>
                  <a:gd name="T0" fmla="*/ 8 w 16"/>
                  <a:gd name="T1" fmla="*/ 16 h 16"/>
                  <a:gd name="T2" fmla="*/ 0 w 16"/>
                  <a:gd name="T3" fmla="*/ 8 h 16"/>
                  <a:gd name="T4" fmla="*/ 8 w 16"/>
                  <a:gd name="T5" fmla="*/ 0 h 16"/>
                  <a:gd name="T6" fmla="*/ 16 w 16"/>
                  <a:gd name="T7" fmla="*/ 8 h 16"/>
                  <a:gd name="T8" fmla="*/ 8 w 16"/>
                  <a:gd name="T9" fmla="*/ 16 h 16"/>
                  <a:gd name="T10" fmla="*/ 8 w 16"/>
                  <a:gd name="T11" fmla="*/ 4 h 16"/>
                  <a:gd name="T12" fmla="*/ 4 w 16"/>
                  <a:gd name="T13" fmla="*/ 8 h 16"/>
                  <a:gd name="T14" fmla="*/ 8 w 16"/>
                  <a:gd name="T15" fmla="*/ 12 h 16"/>
                  <a:gd name="T16" fmla="*/ 12 w 16"/>
                  <a:gd name="T17" fmla="*/ 8 h 16"/>
                  <a:gd name="T18" fmla="*/ 8 w 16"/>
                  <a:gd name="T19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16">
                    <a:moveTo>
                      <a:pt x="8" y="16"/>
                    </a:moveTo>
                    <a:cubicBezTo>
                      <a:pt x="4" y="16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2" y="0"/>
                      <a:pt x="16" y="4"/>
                      <a:pt x="16" y="8"/>
                    </a:cubicBezTo>
                    <a:cubicBezTo>
                      <a:pt x="16" y="12"/>
                      <a:pt x="12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0"/>
                      <a:pt x="6" y="12"/>
                      <a:pt x="8" y="12"/>
                    </a:cubicBezTo>
                    <a:cubicBezTo>
                      <a:pt x="10" y="12"/>
                      <a:pt x="12" y="10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78" name="Freeform 1559">
                <a:extLst>
                  <a:ext uri="{FF2B5EF4-FFF2-40B4-BE49-F238E27FC236}">
                    <a16:creationId xmlns:a16="http://schemas.microsoft.com/office/drawing/2014/main" id="{12ADE549-46A7-6C86-10E5-0AF168BA82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1388" y="5187950"/>
                <a:ext cx="46039" cy="104774"/>
              </a:xfrm>
              <a:custGeom>
                <a:avLst/>
                <a:gdLst>
                  <a:gd name="T0" fmla="*/ 10 w 12"/>
                  <a:gd name="T1" fmla="*/ 28 h 28"/>
                  <a:gd name="T2" fmla="*/ 2 w 12"/>
                  <a:gd name="T3" fmla="*/ 28 h 28"/>
                  <a:gd name="T4" fmla="*/ 0 w 12"/>
                  <a:gd name="T5" fmla="*/ 26 h 28"/>
                  <a:gd name="T6" fmla="*/ 0 w 12"/>
                  <a:gd name="T7" fmla="*/ 2 h 28"/>
                  <a:gd name="T8" fmla="*/ 2 w 12"/>
                  <a:gd name="T9" fmla="*/ 0 h 28"/>
                  <a:gd name="T10" fmla="*/ 10 w 12"/>
                  <a:gd name="T11" fmla="*/ 0 h 28"/>
                  <a:gd name="T12" fmla="*/ 12 w 12"/>
                  <a:gd name="T13" fmla="*/ 2 h 28"/>
                  <a:gd name="T14" fmla="*/ 12 w 12"/>
                  <a:gd name="T15" fmla="*/ 26 h 28"/>
                  <a:gd name="T16" fmla="*/ 10 w 12"/>
                  <a:gd name="T17" fmla="*/ 28 h 28"/>
                  <a:gd name="T18" fmla="*/ 4 w 12"/>
                  <a:gd name="T19" fmla="*/ 24 h 28"/>
                  <a:gd name="T20" fmla="*/ 8 w 12"/>
                  <a:gd name="T21" fmla="*/ 24 h 28"/>
                  <a:gd name="T22" fmla="*/ 8 w 12"/>
                  <a:gd name="T23" fmla="*/ 4 h 28"/>
                  <a:gd name="T24" fmla="*/ 4 w 12"/>
                  <a:gd name="T25" fmla="*/ 4 h 28"/>
                  <a:gd name="T26" fmla="*/ 4 w 12"/>
                  <a:gd name="T27" fmla="*/ 2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" h="28">
                    <a:moveTo>
                      <a:pt x="10" y="28"/>
                    </a:move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0" y="27"/>
                      <a:pt x="0" y="2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0"/>
                      <a:pt x="12" y="1"/>
                      <a:pt x="12" y="2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2" y="27"/>
                      <a:pt x="11" y="28"/>
                      <a:pt x="10" y="28"/>
                    </a:cubicBezTo>
                    <a:close/>
                    <a:moveTo>
                      <a:pt x="4" y="24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79" name="Freeform 1560">
                <a:extLst>
                  <a:ext uri="{FF2B5EF4-FFF2-40B4-BE49-F238E27FC236}">
                    <a16:creationId xmlns:a16="http://schemas.microsoft.com/office/drawing/2014/main" id="{D541AF18-313C-4F9B-BC17-62731AD964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41713" y="5218113"/>
                <a:ext cx="44450" cy="74613"/>
              </a:xfrm>
              <a:custGeom>
                <a:avLst/>
                <a:gdLst>
                  <a:gd name="T0" fmla="*/ 10 w 12"/>
                  <a:gd name="T1" fmla="*/ 20 h 20"/>
                  <a:gd name="T2" fmla="*/ 2 w 12"/>
                  <a:gd name="T3" fmla="*/ 20 h 20"/>
                  <a:gd name="T4" fmla="*/ 0 w 12"/>
                  <a:gd name="T5" fmla="*/ 18 h 20"/>
                  <a:gd name="T6" fmla="*/ 0 w 12"/>
                  <a:gd name="T7" fmla="*/ 2 h 20"/>
                  <a:gd name="T8" fmla="*/ 2 w 12"/>
                  <a:gd name="T9" fmla="*/ 0 h 20"/>
                  <a:gd name="T10" fmla="*/ 10 w 12"/>
                  <a:gd name="T11" fmla="*/ 0 h 20"/>
                  <a:gd name="T12" fmla="*/ 12 w 12"/>
                  <a:gd name="T13" fmla="*/ 2 h 20"/>
                  <a:gd name="T14" fmla="*/ 12 w 12"/>
                  <a:gd name="T15" fmla="*/ 18 h 20"/>
                  <a:gd name="T16" fmla="*/ 10 w 12"/>
                  <a:gd name="T17" fmla="*/ 20 h 20"/>
                  <a:gd name="T18" fmla="*/ 4 w 12"/>
                  <a:gd name="T19" fmla="*/ 16 h 20"/>
                  <a:gd name="T20" fmla="*/ 8 w 12"/>
                  <a:gd name="T21" fmla="*/ 16 h 20"/>
                  <a:gd name="T22" fmla="*/ 8 w 12"/>
                  <a:gd name="T23" fmla="*/ 4 h 20"/>
                  <a:gd name="T24" fmla="*/ 4 w 12"/>
                  <a:gd name="T25" fmla="*/ 4 h 20"/>
                  <a:gd name="T26" fmla="*/ 4 w 12"/>
                  <a:gd name="T27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" h="20">
                    <a:moveTo>
                      <a:pt x="10" y="20"/>
                    </a:moveTo>
                    <a:cubicBezTo>
                      <a:pt x="2" y="20"/>
                      <a:pt x="2" y="20"/>
                      <a:pt x="2" y="20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0"/>
                      <a:pt x="12" y="1"/>
                      <a:pt x="12" y="2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9"/>
                      <a:pt x="11" y="20"/>
                      <a:pt x="10" y="20"/>
                    </a:cubicBezTo>
                    <a:close/>
                    <a:moveTo>
                      <a:pt x="4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80" name="Freeform 1561">
                <a:extLst>
                  <a:ext uri="{FF2B5EF4-FFF2-40B4-BE49-F238E27FC236}">
                    <a16:creationId xmlns:a16="http://schemas.microsoft.com/office/drawing/2014/main" id="{B0F3C48C-5F8B-010A-3CAB-1BF3535AC6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02035" y="5127628"/>
                <a:ext cx="44449" cy="165100"/>
              </a:xfrm>
              <a:custGeom>
                <a:avLst/>
                <a:gdLst>
                  <a:gd name="T0" fmla="*/ 10 w 12"/>
                  <a:gd name="T1" fmla="*/ 44 h 44"/>
                  <a:gd name="T2" fmla="*/ 2 w 12"/>
                  <a:gd name="T3" fmla="*/ 44 h 44"/>
                  <a:gd name="T4" fmla="*/ 0 w 12"/>
                  <a:gd name="T5" fmla="*/ 42 h 44"/>
                  <a:gd name="T6" fmla="*/ 0 w 12"/>
                  <a:gd name="T7" fmla="*/ 2 h 44"/>
                  <a:gd name="T8" fmla="*/ 2 w 12"/>
                  <a:gd name="T9" fmla="*/ 0 h 44"/>
                  <a:gd name="T10" fmla="*/ 10 w 12"/>
                  <a:gd name="T11" fmla="*/ 0 h 44"/>
                  <a:gd name="T12" fmla="*/ 12 w 12"/>
                  <a:gd name="T13" fmla="*/ 2 h 44"/>
                  <a:gd name="T14" fmla="*/ 12 w 12"/>
                  <a:gd name="T15" fmla="*/ 42 h 44"/>
                  <a:gd name="T16" fmla="*/ 10 w 12"/>
                  <a:gd name="T17" fmla="*/ 44 h 44"/>
                  <a:gd name="T18" fmla="*/ 4 w 12"/>
                  <a:gd name="T19" fmla="*/ 40 h 44"/>
                  <a:gd name="T20" fmla="*/ 8 w 12"/>
                  <a:gd name="T21" fmla="*/ 40 h 44"/>
                  <a:gd name="T22" fmla="*/ 8 w 12"/>
                  <a:gd name="T23" fmla="*/ 4 h 44"/>
                  <a:gd name="T24" fmla="*/ 4 w 12"/>
                  <a:gd name="T25" fmla="*/ 4 h 44"/>
                  <a:gd name="T26" fmla="*/ 4 w 12"/>
                  <a:gd name="T27" fmla="*/ 4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" h="44">
                    <a:moveTo>
                      <a:pt x="10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3"/>
                      <a:pt x="0" y="4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0"/>
                      <a:pt x="12" y="1"/>
                      <a:pt x="12" y="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3"/>
                      <a:pt x="11" y="44"/>
                      <a:pt x="10" y="44"/>
                    </a:cubicBezTo>
                    <a:close/>
                    <a:moveTo>
                      <a:pt x="4" y="40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  <p:sp>
            <p:nvSpPr>
              <p:cNvPr id="81" name="Freeform 1562">
                <a:extLst>
                  <a:ext uri="{FF2B5EF4-FFF2-40B4-BE49-F238E27FC236}">
                    <a16:creationId xmlns:a16="http://schemas.microsoft.com/office/drawing/2014/main" id="{408EB724-8515-25D7-D125-3AD0BD388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1225" y="5127625"/>
                <a:ext cx="225425" cy="165100"/>
              </a:xfrm>
              <a:custGeom>
                <a:avLst/>
                <a:gdLst>
                  <a:gd name="T0" fmla="*/ 58 w 60"/>
                  <a:gd name="T1" fmla="*/ 44 h 44"/>
                  <a:gd name="T2" fmla="*/ 2 w 60"/>
                  <a:gd name="T3" fmla="*/ 44 h 44"/>
                  <a:gd name="T4" fmla="*/ 0 w 60"/>
                  <a:gd name="T5" fmla="*/ 42 h 44"/>
                  <a:gd name="T6" fmla="*/ 0 w 60"/>
                  <a:gd name="T7" fmla="*/ 2 h 44"/>
                  <a:gd name="T8" fmla="*/ 2 w 60"/>
                  <a:gd name="T9" fmla="*/ 0 h 44"/>
                  <a:gd name="T10" fmla="*/ 4 w 60"/>
                  <a:gd name="T11" fmla="*/ 2 h 44"/>
                  <a:gd name="T12" fmla="*/ 4 w 60"/>
                  <a:gd name="T13" fmla="*/ 40 h 44"/>
                  <a:gd name="T14" fmla="*/ 58 w 60"/>
                  <a:gd name="T15" fmla="*/ 40 h 44"/>
                  <a:gd name="T16" fmla="*/ 60 w 60"/>
                  <a:gd name="T17" fmla="*/ 42 h 44"/>
                  <a:gd name="T18" fmla="*/ 58 w 60"/>
                  <a:gd name="T1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44">
                    <a:moveTo>
                      <a:pt x="58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3"/>
                      <a:pt x="0" y="4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58" y="40"/>
                      <a:pt x="58" y="40"/>
                      <a:pt x="58" y="40"/>
                    </a:cubicBezTo>
                    <a:cubicBezTo>
                      <a:pt x="59" y="40"/>
                      <a:pt x="60" y="41"/>
                      <a:pt x="60" y="42"/>
                    </a:cubicBezTo>
                    <a:cubicBezTo>
                      <a:pt x="60" y="43"/>
                      <a:pt x="59" y="44"/>
                      <a:pt x="58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943B5E0-1511-4612-97F2-A9BE8F72F8C5}"/>
                </a:ext>
              </a:extLst>
            </p:cNvPr>
            <p:cNvSpPr/>
            <p:nvPr/>
          </p:nvSpPr>
          <p:spPr>
            <a:xfrm>
              <a:off x="6166869" y="5136442"/>
              <a:ext cx="2630195" cy="738664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Integrasi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semua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 proses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pekerjaan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rawat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 chemist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dari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sebelum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sesaat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 dan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sesudah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dalam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satu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 system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cs typeface="Poppins" panose="00000500000000000000" pitchFamily="2" charset="0"/>
                </a:rPr>
                <a:t>digitalisasi</a:t>
              </a:r>
              <a:endParaRPr lang="en-US" sz="1200" kern="1200" dirty="0">
                <a:solidFill>
                  <a:prstClr val="black"/>
                </a:solidFill>
                <a:latin typeface="Vagabond" pitchFamily="2" charset="0"/>
                <a:cs typeface="Poppins" panose="00000500000000000000" pitchFamily="2" charset="0"/>
              </a:endParaRP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AB7348F-4D3B-9583-92FD-A33B6469EA9B}"/>
              </a:ext>
            </a:extLst>
          </p:cNvPr>
          <p:cNvGrpSpPr/>
          <p:nvPr/>
        </p:nvGrpSpPr>
        <p:grpSpPr>
          <a:xfrm>
            <a:off x="9249914" y="600368"/>
            <a:ext cx="2743801" cy="2716183"/>
            <a:chOff x="9064047" y="3796165"/>
            <a:chExt cx="2851607" cy="271618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44F0D2B4-6A37-2C81-E262-FB89E7C312BA}"/>
                </a:ext>
              </a:extLst>
            </p:cNvPr>
            <p:cNvSpPr/>
            <p:nvPr/>
          </p:nvSpPr>
          <p:spPr>
            <a:xfrm>
              <a:off x="9064047" y="4143470"/>
              <a:ext cx="2851607" cy="2368878"/>
            </a:xfrm>
            <a:prstGeom prst="roundRect">
              <a:avLst>
                <a:gd name="adj" fmla="val 6166"/>
              </a:avLst>
            </a:prstGeom>
            <a:grpFill/>
            <a:ln>
              <a:solidFill>
                <a:srgbClr val="5EC0CA"/>
              </a:solidFill>
            </a:ln>
            <a:effectLst>
              <a:outerShdw blurRad="6350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479FA08-3DF9-1B39-FD7C-632E79535B6A}"/>
                </a:ext>
              </a:extLst>
            </p:cNvPr>
            <p:cNvSpPr/>
            <p:nvPr/>
          </p:nvSpPr>
          <p:spPr>
            <a:xfrm>
              <a:off x="9207450" y="4502278"/>
              <a:ext cx="2398874" cy="184666"/>
            </a:xfrm>
            <a:prstGeom prst="rect">
              <a:avLst/>
            </a:prstGeom>
            <a:grp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D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TARGET HASIL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92" name="Freeform 109">
              <a:extLst>
                <a:ext uri="{FF2B5EF4-FFF2-40B4-BE49-F238E27FC236}">
                  <a16:creationId xmlns:a16="http://schemas.microsoft.com/office/drawing/2014/main" id="{52FC17B3-1322-0240-F354-C44633DEDF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48737" y="3796165"/>
              <a:ext cx="227856" cy="106424"/>
            </a:xfrm>
            <a:custGeom>
              <a:avLst/>
              <a:gdLst>
                <a:gd name="T0" fmla="*/ 691 w 722"/>
                <a:gd name="T1" fmla="*/ 391 h 421"/>
                <a:gd name="T2" fmla="*/ 30 w 722"/>
                <a:gd name="T3" fmla="*/ 241 h 421"/>
                <a:gd name="T4" fmla="*/ 153 w 722"/>
                <a:gd name="T5" fmla="*/ 240 h 421"/>
                <a:gd name="T6" fmla="*/ 159 w 722"/>
                <a:gd name="T7" fmla="*/ 238 h 421"/>
                <a:gd name="T8" fmla="*/ 229 w 722"/>
                <a:gd name="T9" fmla="*/ 165 h 421"/>
                <a:gd name="T10" fmla="*/ 288 w 722"/>
                <a:gd name="T11" fmla="*/ 310 h 421"/>
                <a:gd name="T12" fmla="*/ 294 w 722"/>
                <a:gd name="T13" fmla="*/ 314 h 421"/>
                <a:gd name="T14" fmla="*/ 299 w 722"/>
                <a:gd name="T15" fmla="*/ 316 h 421"/>
                <a:gd name="T16" fmla="*/ 303 w 722"/>
                <a:gd name="T17" fmla="*/ 316 h 421"/>
                <a:gd name="T18" fmla="*/ 309 w 722"/>
                <a:gd name="T19" fmla="*/ 313 h 421"/>
                <a:gd name="T20" fmla="*/ 406 w 722"/>
                <a:gd name="T21" fmla="*/ 216 h 421"/>
                <a:gd name="T22" fmla="*/ 472 w 722"/>
                <a:gd name="T23" fmla="*/ 283 h 421"/>
                <a:gd name="T24" fmla="*/ 479 w 722"/>
                <a:gd name="T25" fmla="*/ 286 h 421"/>
                <a:gd name="T26" fmla="*/ 485 w 722"/>
                <a:gd name="T27" fmla="*/ 285 h 421"/>
                <a:gd name="T28" fmla="*/ 491 w 722"/>
                <a:gd name="T29" fmla="*/ 283 h 421"/>
                <a:gd name="T30" fmla="*/ 628 w 722"/>
                <a:gd name="T31" fmla="*/ 115 h 421"/>
                <a:gd name="T32" fmla="*/ 631 w 722"/>
                <a:gd name="T33" fmla="*/ 109 h 421"/>
                <a:gd name="T34" fmla="*/ 631 w 722"/>
                <a:gd name="T35" fmla="*/ 104 h 421"/>
                <a:gd name="T36" fmla="*/ 630 w 722"/>
                <a:gd name="T37" fmla="*/ 99 h 421"/>
                <a:gd name="T38" fmla="*/ 626 w 722"/>
                <a:gd name="T39" fmla="*/ 93 h 421"/>
                <a:gd name="T40" fmla="*/ 620 w 722"/>
                <a:gd name="T41" fmla="*/ 91 h 421"/>
                <a:gd name="T42" fmla="*/ 615 w 722"/>
                <a:gd name="T43" fmla="*/ 90 h 421"/>
                <a:gd name="T44" fmla="*/ 610 w 722"/>
                <a:gd name="T45" fmla="*/ 92 h 421"/>
                <a:gd name="T46" fmla="*/ 604 w 722"/>
                <a:gd name="T47" fmla="*/ 95 h 421"/>
                <a:gd name="T48" fmla="*/ 417 w 722"/>
                <a:gd name="T49" fmla="*/ 185 h 421"/>
                <a:gd name="T50" fmla="*/ 411 w 722"/>
                <a:gd name="T51" fmla="*/ 181 h 421"/>
                <a:gd name="T52" fmla="*/ 406 w 722"/>
                <a:gd name="T53" fmla="*/ 180 h 421"/>
                <a:gd name="T54" fmla="*/ 400 w 722"/>
                <a:gd name="T55" fmla="*/ 181 h 421"/>
                <a:gd name="T56" fmla="*/ 395 w 722"/>
                <a:gd name="T57" fmla="*/ 185 h 421"/>
                <a:gd name="T58" fmla="*/ 249 w 722"/>
                <a:gd name="T59" fmla="*/ 132 h 421"/>
                <a:gd name="T60" fmla="*/ 243 w 722"/>
                <a:gd name="T61" fmla="*/ 126 h 421"/>
                <a:gd name="T62" fmla="*/ 237 w 722"/>
                <a:gd name="T63" fmla="*/ 123 h 421"/>
                <a:gd name="T64" fmla="*/ 229 w 722"/>
                <a:gd name="T65" fmla="*/ 123 h 421"/>
                <a:gd name="T66" fmla="*/ 223 w 722"/>
                <a:gd name="T67" fmla="*/ 128 h 421"/>
                <a:gd name="T68" fmla="*/ 30 w 722"/>
                <a:gd name="T69" fmla="*/ 211 h 421"/>
                <a:gd name="T70" fmla="*/ 691 w 722"/>
                <a:gd name="T71" fmla="*/ 30 h 421"/>
                <a:gd name="T72" fmla="*/ 707 w 722"/>
                <a:gd name="T73" fmla="*/ 421 h 421"/>
                <a:gd name="T74" fmla="*/ 712 w 722"/>
                <a:gd name="T75" fmla="*/ 420 h 421"/>
                <a:gd name="T76" fmla="*/ 717 w 722"/>
                <a:gd name="T77" fmla="*/ 417 h 421"/>
                <a:gd name="T78" fmla="*/ 720 w 722"/>
                <a:gd name="T79" fmla="*/ 411 h 421"/>
                <a:gd name="T80" fmla="*/ 722 w 722"/>
                <a:gd name="T81" fmla="*/ 406 h 421"/>
                <a:gd name="T82" fmla="*/ 721 w 722"/>
                <a:gd name="T83" fmla="*/ 12 h 421"/>
                <a:gd name="T84" fmla="*/ 719 w 722"/>
                <a:gd name="T85" fmla="*/ 6 h 421"/>
                <a:gd name="T86" fmla="*/ 715 w 722"/>
                <a:gd name="T87" fmla="*/ 2 h 421"/>
                <a:gd name="T88" fmla="*/ 709 w 722"/>
                <a:gd name="T89" fmla="*/ 0 h 421"/>
                <a:gd name="T90" fmla="*/ 15 w 722"/>
                <a:gd name="T91" fmla="*/ 0 h 421"/>
                <a:gd name="T92" fmla="*/ 9 w 722"/>
                <a:gd name="T93" fmla="*/ 1 h 421"/>
                <a:gd name="T94" fmla="*/ 4 w 722"/>
                <a:gd name="T95" fmla="*/ 4 h 421"/>
                <a:gd name="T96" fmla="*/ 1 w 722"/>
                <a:gd name="T97" fmla="*/ 10 h 421"/>
                <a:gd name="T98" fmla="*/ 0 w 722"/>
                <a:gd name="T99" fmla="*/ 15 h 421"/>
                <a:gd name="T100" fmla="*/ 0 w 722"/>
                <a:gd name="T101" fmla="*/ 409 h 421"/>
                <a:gd name="T102" fmla="*/ 2 w 722"/>
                <a:gd name="T103" fmla="*/ 415 h 421"/>
                <a:gd name="T104" fmla="*/ 6 w 722"/>
                <a:gd name="T105" fmla="*/ 419 h 421"/>
                <a:gd name="T106" fmla="*/ 12 w 722"/>
                <a:gd name="T107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22" h="421">
                  <a:moveTo>
                    <a:pt x="691" y="30"/>
                  </a:moveTo>
                  <a:lnTo>
                    <a:pt x="691" y="391"/>
                  </a:lnTo>
                  <a:lnTo>
                    <a:pt x="30" y="391"/>
                  </a:lnTo>
                  <a:lnTo>
                    <a:pt x="30" y="241"/>
                  </a:lnTo>
                  <a:lnTo>
                    <a:pt x="150" y="241"/>
                  </a:lnTo>
                  <a:lnTo>
                    <a:pt x="153" y="240"/>
                  </a:lnTo>
                  <a:lnTo>
                    <a:pt x="156" y="239"/>
                  </a:lnTo>
                  <a:lnTo>
                    <a:pt x="159" y="238"/>
                  </a:lnTo>
                  <a:lnTo>
                    <a:pt x="161" y="236"/>
                  </a:lnTo>
                  <a:lnTo>
                    <a:pt x="229" y="165"/>
                  </a:lnTo>
                  <a:lnTo>
                    <a:pt x="287" y="306"/>
                  </a:lnTo>
                  <a:lnTo>
                    <a:pt x="288" y="310"/>
                  </a:lnTo>
                  <a:lnTo>
                    <a:pt x="291" y="313"/>
                  </a:lnTo>
                  <a:lnTo>
                    <a:pt x="294" y="314"/>
                  </a:lnTo>
                  <a:lnTo>
                    <a:pt x="298" y="316"/>
                  </a:lnTo>
                  <a:lnTo>
                    <a:pt x="299" y="316"/>
                  </a:lnTo>
                  <a:lnTo>
                    <a:pt x="301" y="316"/>
                  </a:lnTo>
                  <a:lnTo>
                    <a:pt x="303" y="316"/>
                  </a:lnTo>
                  <a:lnTo>
                    <a:pt x="306" y="315"/>
                  </a:lnTo>
                  <a:lnTo>
                    <a:pt x="309" y="313"/>
                  </a:lnTo>
                  <a:lnTo>
                    <a:pt x="312" y="312"/>
                  </a:lnTo>
                  <a:lnTo>
                    <a:pt x="406" y="216"/>
                  </a:lnTo>
                  <a:lnTo>
                    <a:pt x="470" y="282"/>
                  </a:lnTo>
                  <a:lnTo>
                    <a:pt x="472" y="283"/>
                  </a:lnTo>
                  <a:lnTo>
                    <a:pt x="476" y="285"/>
                  </a:lnTo>
                  <a:lnTo>
                    <a:pt x="479" y="286"/>
                  </a:lnTo>
                  <a:lnTo>
                    <a:pt x="482" y="286"/>
                  </a:lnTo>
                  <a:lnTo>
                    <a:pt x="485" y="285"/>
                  </a:lnTo>
                  <a:lnTo>
                    <a:pt x="487" y="284"/>
                  </a:lnTo>
                  <a:lnTo>
                    <a:pt x="491" y="283"/>
                  </a:lnTo>
                  <a:lnTo>
                    <a:pt x="493" y="281"/>
                  </a:lnTo>
                  <a:lnTo>
                    <a:pt x="628" y="115"/>
                  </a:lnTo>
                  <a:lnTo>
                    <a:pt x="630" y="113"/>
                  </a:lnTo>
                  <a:lnTo>
                    <a:pt x="631" y="109"/>
                  </a:lnTo>
                  <a:lnTo>
                    <a:pt x="631" y="106"/>
                  </a:lnTo>
                  <a:lnTo>
                    <a:pt x="631" y="104"/>
                  </a:lnTo>
                  <a:lnTo>
                    <a:pt x="631" y="101"/>
                  </a:lnTo>
                  <a:lnTo>
                    <a:pt x="630" y="99"/>
                  </a:lnTo>
                  <a:lnTo>
                    <a:pt x="628" y="95"/>
                  </a:lnTo>
                  <a:lnTo>
                    <a:pt x="626" y="93"/>
                  </a:lnTo>
                  <a:lnTo>
                    <a:pt x="623" y="92"/>
                  </a:lnTo>
                  <a:lnTo>
                    <a:pt x="620" y="91"/>
                  </a:lnTo>
                  <a:lnTo>
                    <a:pt x="618" y="90"/>
                  </a:lnTo>
                  <a:lnTo>
                    <a:pt x="615" y="90"/>
                  </a:lnTo>
                  <a:lnTo>
                    <a:pt x="612" y="91"/>
                  </a:lnTo>
                  <a:lnTo>
                    <a:pt x="610" y="92"/>
                  </a:lnTo>
                  <a:lnTo>
                    <a:pt x="606" y="93"/>
                  </a:lnTo>
                  <a:lnTo>
                    <a:pt x="604" y="95"/>
                  </a:lnTo>
                  <a:lnTo>
                    <a:pt x="480" y="249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1" y="181"/>
                  </a:lnTo>
                  <a:lnTo>
                    <a:pt x="409" y="181"/>
                  </a:lnTo>
                  <a:lnTo>
                    <a:pt x="406" y="180"/>
                  </a:lnTo>
                  <a:lnTo>
                    <a:pt x="403" y="181"/>
                  </a:lnTo>
                  <a:lnTo>
                    <a:pt x="400" y="181"/>
                  </a:lnTo>
                  <a:lnTo>
                    <a:pt x="397" y="183"/>
                  </a:lnTo>
                  <a:lnTo>
                    <a:pt x="395" y="185"/>
                  </a:lnTo>
                  <a:lnTo>
                    <a:pt x="306" y="274"/>
                  </a:lnTo>
                  <a:lnTo>
                    <a:pt x="249" y="132"/>
                  </a:lnTo>
                  <a:lnTo>
                    <a:pt x="246" y="129"/>
                  </a:lnTo>
                  <a:lnTo>
                    <a:pt x="243" y="126"/>
                  </a:lnTo>
                  <a:lnTo>
                    <a:pt x="241" y="124"/>
                  </a:lnTo>
                  <a:lnTo>
                    <a:pt x="237" y="123"/>
                  </a:lnTo>
                  <a:lnTo>
                    <a:pt x="234" y="123"/>
                  </a:lnTo>
                  <a:lnTo>
                    <a:pt x="229" y="123"/>
                  </a:lnTo>
                  <a:lnTo>
                    <a:pt x="226" y="125"/>
                  </a:lnTo>
                  <a:lnTo>
                    <a:pt x="223" y="128"/>
                  </a:lnTo>
                  <a:lnTo>
                    <a:pt x="144" y="211"/>
                  </a:lnTo>
                  <a:lnTo>
                    <a:pt x="30" y="211"/>
                  </a:lnTo>
                  <a:lnTo>
                    <a:pt x="30" y="30"/>
                  </a:lnTo>
                  <a:lnTo>
                    <a:pt x="691" y="30"/>
                  </a:lnTo>
                  <a:close/>
                  <a:moveTo>
                    <a:pt x="15" y="421"/>
                  </a:moveTo>
                  <a:lnTo>
                    <a:pt x="707" y="421"/>
                  </a:lnTo>
                  <a:lnTo>
                    <a:pt x="709" y="421"/>
                  </a:lnTo>
                  <a:lnTo>
                    <a:pt x="712" y="420"/>
                  </a:lnTo>
                  <a:lnTo>
                    <a:pt x="715" y="419"/>
                  </a:lnTo>
                  <a:lnTo>
                    <a:pt x="717" y="417"/>
                  </a:lnTo>
                  <a:lnTo>
                    <a:pt x="719" y="415"/>
                  </a:lnTo>
                  <a:lnTo>
                    <a:pt x="720" y="411"/>
                  </a:lnTo>
                  <a:lnTo>
                    <a:pt x="721" y="409"/>
                  </a:lnTo>
                  <a:lnTo>
                    <a:pt x="722" y="406"/>
                  </a:lnTo>
                  <a:lnTo>
                    <a:pt x="722" y="15"/>
                  </a:lnTo>
                  <a:lnTo>
                    <a:pt x="721" y="12"/>
                  </a:lnTo>
                  <a:lnTo>
                    <a:pt x="720" y="10"/>
                  </a:lnTo>
                  <a:lnTo>
                    <a:pt x="719" y="6"/>
                  </a:lnTo>
                  <a:lnTo>
                    <a:pt x="717" y="4"/>
                  </a:lnTo>
                  <a:lnTo>
                    <a:pt x="715" y="2"/>
                  </a:lnTo>
                  <a:lnTo>
                    <a:pt x="712" y="1"/>
                  </a:lnTo>
                  <a:lnTo>
                    <a:pt x="709" y="0"/>
                  </a:lnTo>
                  <a:lnTo>
                    <a:pt x="70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406"/>
                  </a:lnTo>
                  <a:lnTo>
                    <a:pt x="0" y="409"/>
                  </a:lnTo>
                  <a:lnTo>
                    <a:pt x="1" y="411"/>
                  </a:lnTo>
                  <a:lnTo>
                    <a:pt x="2" y="415"/>
                  </a:lnTo>
                  <a:lnTo>
                    <a:pt x="4" y="417"/>
                  </a:lnTo>
                  <a:lnTo>
                    <a:pt x="6" y="419"/>
                  </a:lnTo>
                  <a:lnTo>
                    <a:pt x="9" y="420"/>
                  </a:lnTo>
                  <a:lnTo>
                    <a:pt x="12" y="421"/>
                  </a:lnTo>
                  <a:lnTo>
                    <a:pt x="15" y="4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32AD31C-FF62-644E-5F6F-DC840EFF68BA}"/>
                </a:ext>
              </a:extLst>
            </p:cNvPr>
            <p:cNvSpPr/>
            <p:nvPr/>
          </p:nvSpPr>
          <p:spPr>
            <a:xfrm>
              <a:off x="9235034" y="4505985"/>
              <a:ext cx="2505147" cy="1846659"/>
            </a:xfrm>
            <a:prstGeom prst="rect">
              <a:avLst/>
            </a:prstGeom>
            <a:grpFill/>
          </p:spPr>
          <p:txBody>
            <a:bodyPr wrap="square" lIns="0" tIns="0" rIns="0" bIns="0" anchor="ctr">
              <a:spAutoFit/>
            </a:bodyPr>
            <a:lstStyle/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Menentukan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rekomendasi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jenis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dan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dosis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material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berdasarkan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kondisi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dilapangan</a:t>
              </a:r>
              <a:endParaRPr lang="en-US" sz="1200" kern="1200" dirty="0">
                <a:solidFill>
                  <a:prstClr val="black"/>
                </a:solidFill>
                <a:latin typeface="Vagabond" pitchFamily="2" charset="0"/>
                <a:ea typeface="+mn-ea"/>
                <a:cs typeface="Poppins" panose="00000500000000000000" pitchFamily="2" charset="0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Pengambilan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 dan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penggunaan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 material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termonitoring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 dan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menekan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jumlah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 overuse material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Kualitas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pekerjaan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chemist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termonitoring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sampai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dengan</a:t>
              </a:r>
              <a:r>
                <a:rPr lang="en-US" sz="1200" kern="1200" dirty="0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 1 </a:t>
              </a:r>
              <a:r>
                <a:rPr lang="en-US" sz="1200" kern="1200" dirty="0" err="1">
                  <a:solidFill>
                    <a:prstClr val="black"/>
                  </a:solidFill>
                  <a:latin typeface="Vagabond" pitchFamily="2" charset="0"/>
                  <a:ea typeface="+mn-ea"/>
                  <a:cs typeface="Poppins" panose="00000500000000000000" pitchFamily="2" charset="0"/>
                </a:rPr>
                <a:t>bulan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6E39DB3-D501-3AC0-5614-BF7079613A6D}"/>
              </a:ext>
            </a:extLst>
          </p:cNvPr>
          <p:cNvGrpSpPr/>
          <p:nvPr/>
        </p:nvGrpSpPr>
        <p:grpSpPr>
          <a:xfrm>
            <a:off x="6290711" y="3495218"/>
            <a:ext cx="2771588" cy="1287655"/>
            <a:chOff x="6201906" y="3946000"/>
            <a:chExt cx="2614434" cy="1287655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5623DFB-7B62-B99B-B8CC-290280CCCE35}"/>
                </a:ext>
              </a:extLst>
            </p:cNvPr>
            <p:cNvSpPr txBox="1"/>
            <p:nvPr/>
          </p:nvSpPr>
          <p:spPr>
            <a:xfrm>
              <a:off x="6201907" y="3946000"/>
              <a:ext cx="2614433" cy="312783"/>
            </a:xfrm>
            <a:prstGeom prst="roundRe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txBody>
            <a:bodyPr wrap="square" lIns="112334" tIns="56167" rIns="112334" bIns="56167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S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pesific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CF1447A-537B-CD68-A563-7B195F9210B6}"/>
                </a:ext>
              </a:extLst>
            </p:cNvPr>
            <p:cNvSpPr txBox="1"/>
            <p:nvPr/>
          </p:nvSpPr>
          <p:spPr>
            <a:xfrm>
              <a:off x="6201906" y="4273838"/>
              <a:ext cx="2614433" cy="95981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5EC0CA"/>
              </a:solidFill>
            </a:ln>
          </p:spPr>
          <p:txBody>
            <a:bodyPr wrap="square" lIns="112334" tIns="56167" rIns="112334" bIns="56167" rtlCol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Membuat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tool yang </a:t>
              </a:r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mengintegrasikan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rekomendasi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pelaporan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, dan monitoring </a:t>
              </a:r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dalam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sistem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digital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FA8F5ABE-7B10-2438-7483-CCE613C9E0ED}"/>
              </a:ext>
            </a:extLst>
          </p:cNvPr>
          <p:cNvSpPr txBox="1"/>
          <p:nvPr/>
        </p:nvSpPr>
        <p:spPr>
          <a:xfrm>
            <a:off x="9251043" y="3495218"/>
            <a:ext cx="2748114" cy="329809"/>
          </a:xfrm>
          <a:prstGeom prst="roundRect">
            <a:avLst/>
          </a:prstGeom>
          <a:solidFill>
            <a:srgbClr val="FFE699"/>
          </a:solidFill>
          <a:ln>
            <a:solidFill>
              <a:srgbClr val="FFE699"/>
            </a:solidFill>
          </a:ln>
        </p:spPr>
        <p:txBody>
          <a:bodyPr wrap="square" lIns="112334" tIns="56167" rIns="112334" bIns="56167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easurable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309207D-76C2-4993-770E-53976D3FF80D}"/>
              </a:ext>
            </a:extLst>
          </p:cNvPr>
          <p:cNvGrpSpPr/>
          <p:nvPr/>
        </p:nvGrpSpPr>
        <p:grpSpPr>
          <a:xfrm>
            <a:off x="6302408" y="4980963"/>
            <a:ext cx="2780529" cy="610196"/>
            <a:chOff x="6199500" y="5827686"/>
            <a:chExt cx="2616840" cy="610196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0E8033E-A60F-4D39-BCB0-0E3450F47184}"/>
                </a:ext>
              </a:extLst>
            </p:cNvPr>
            <p:cNvSpPr txBox="1"/>
            <p:nvPr/>
          </p:nvSpPr>
          <p:spPr>
            <a:xfrm>
              <a:off x="6201907" y="5827686"/>
              <a:ext cx="2614433" cy="312783"/>
            </a:xfrm>
            <a:prstGeom prst="roundRe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txBody>
            <a:bodyPr wrap="square" lIns="112334" tIns="56167" rIns="112334" bIns="56167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A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chievable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2C32FC9-808B-ED50-3B92-B3BC02581043}"/>
                </a:ext>
              </a:extLst>
            </p:cNvPr>
            <p:cNvSpPr txBox="1"/>
            <p:nvPr/>
          </p:nvSpPr>
          <p:spPr>
            <a:xfrm>
              <a:off x="6199500" y="6155174"/>
              <a:ext cx="2614433" cy="28270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5EC0CA"/>
              </a:solidFill>
            </a:ln>
          </p:spPr>
          <p:txBody>
            <a:bodyPr wrap="square" lIns="112334" tIns="56167" rIns="112334" bIns="56167" rtlCol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10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E283C2A-E5ED-365E-4AD5-DE5F9378E773}"/>
              </a:ext>
            </a:extLst>
          </p:cNvPr>
          <p:cNvGrpSpPr/>
          <p:nvPr/>
        </p:nvGrpSpPr>
        <p:grpSpPr>
          <a:xfrm>
            <a:off x="9225727" y="5018844"/>
            <a:ext cx="2748114" cy="770186"/>
            <a:chOff x="9388107" y="4080483"/>
            <a:chExt cx="2614433" cy="775791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0984B21-3DE4-5315-4555-1B84F67007BD}"/>
                </a:ext>
              </a:extLst>
            </p:cNvPr>
            <p:cNvSpPr txBox="1"/>
            <p:nvPr/>
          </p:nvSpPr>
          <p:spPr>
            <a:xfrm>
              <a:off x="9388107" y="4080483"/>
              <a:ext cx="2614433" cy="315059"/>
            </a:xfrm>
            <a:prstGeom prst="roundRect">
              <a:avLst/>
            </a:prstGeom>
            <a:solidFill>
              <a:srgbClr val="FFE699"/>
            </a:solidFill>
            <a:ln>
              <a:solidFill>
                <a:srgbClr val="FFE699"/>
              </a:solidFill>
            </a:ln>
          </p:spPr>
          <p:txBody>
            <a:bodyPr wrap="square" lIns="112334" tIns="56167" rIns="112334" bIns="56167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R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ealistic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71F7013-9F8E-0A33-8D9C-CE65CDA7D25F}"/>
                </a:ext>
              </a:extLst>
            </p:cNvPr>
            <p:cNvSpPr txBox="1"/>
            <p:nvPr/>
          </p:nvSpPr>
          <p:spPr>
            <a:xfrm>
              <a:off x="9388107" y="4401000"/>
              <a:ext cx="2614433" cy="45527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5EC0CA"/>
              </a:solidFill>
            </a:ln>
          </p:spPr>
          <p:txBody>
            <a:bodyPr wrap="square" lIns="112334" tIns="56167" rIns="112334" bIns="56167" rtlCol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 err="1">
                  <a:latin typeface="Arial"/>
                  <a:ea typeface="Arial"/>
                  <a:cs typeface="Arial"/>
                  <a:sym typeface="Arial"/>
                </a:rPr>
                <a:t>Mengurangi</a:t>
              </a:r>
              <a:r>
                <a:rPr lang="en-US" sz="110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100" dirty="0" err="1">
                  <a:latin typeface="Arial"/>
                  <a:ea typeface="Arial"/>
                  <a:cs typeface="Arial"/>
                  <a:sym typeface="Arial"/>
                </a:rPr>
                <a:t>pemboroson</a:t>
              </a:r>
              <a:r>
                <a:rPr lang="en-US" sz="1100" dirty="0">
                  <a:latin typeface="Arial"/>
                  <a:ea typeface="Arial"/>
                  <a:cs typeface="Arial"/>
                  <a:sym typeface="Arial"/>
                </a:rPr>
                <a:t> material dan </a:t>
              </a:r>
              <a:r>
                <a:rPr lang="en-US" sz="1100" dirty="0" err="1">
                  <a:latin typeface="Arial"/>
                  <a:ea typeface="Arial"/>
                  <a:cs typeface="Arial"/>
                  <a:sym typeface="Arial"/>
                </a:rPr>
                <a:t>penggunaan</a:t>
              </a:r>
              <a:r>
                <a:rPr lang="en-US" sz="110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100" dirty="0" err="1">
                  <a:latin typeface="Arial"/>
                  <a:ea typeface="Arial"/>
                  <a:cs typeface="Arial"/>
                  <a:sym typeface="Arial"/>
                </a:rPr>
                <a:t>tenaga</a:t>
              </a:r>
              <a:r>
                <a:rPr lang="en-US" sz="1100" dirty="0">
                  <a:latin typeface="Arial"/>
                  <a:ea typeface="Arial"/>
                  <a:cs typeface="Arial"/>
                  <a:sym typeface="Arial"/>
                </a:rPr>
                <a:t> chemist </a:t>
              </a:r>
              <a:r>
                <a:rPr lang="en-US" sz="1100" dirty="0" err="1">
                  <a:latin typeface="Arial"/>
                  <a:ea typeface="Arial"/>
                  <a:cs typeface="Arial"/>
                  <a:sym typeface="Arial"/>
                </a:rPr>
                <a:t>berlebih</a:t>
              </a:r>
              <a:endParaRPr lang="en-US" sz="1100" u="none" strike="noStrike" cap="none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E9CA227-39F5-4844-8263-3DB79CB9278B}"/>
              </a:ext>
            </a:extLst>
          </p:cNvPr>
          <p:cNvGrpSpPr/>
          <p:nvPr/>
        </p:nvGrpSpPr>
        <p:grpSpPr>
          <a:xfrm>
            <a:off x="6252389" y="6026276"/>
            <a:ext cx="5721452" cy="655475"/>
            <a:chOff x="9413701" y="4992542"/>
            <a:chExt cx="2614433" cy="65547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9A6C1F8-83FF-DD47-453B-68446A2C7C69}"/>
                </a:ext>
              </a:extLst>
            </p:cNvPr>
            <p:cNvSpPr txBox="1"/>
            <p:nvPr/>
          </p:nvSpPr>
          <p:spPr>
            <a:xfrm>
              <a:off x="9413701" y="4992542"/>
              <a:ext cx="2614433" cy="329809"/>
            </a:xfrm>
            <a:prstGeom prst="roundRect">
              <a:avLst/>
            </a:prstGeom>
            <a:solidFill>
              <a:srgbClr val="FCE696"/>
            </a:solidFill>
            <a:ln>
              <a:solidFill>
                <a:srgbClr val="FFE699"/>
              </a:solidFill>
            </a:ln>
          </p:spPr>
          <p:txBody>
            <a:bodyPr wrap="square" lIns="112334" tIns="56167" rIns="112334" bIns="56167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T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agabond" pitchFamily="2" charset="0"/>
                  <a:ea typeface="+mn-ea"/>
                  <a:cs typeface="Poppins" panose="00000500000000000000" pitchFamily="2" charset="0"/>
                </a:rPr>
                <a:t>imebond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EB618A2-A661-8C46-5CCC-9F2A67EE4E09}"/>
                </a:ext>
              </a:extLst>
            </p:cNvPr>
            <p:cNvSpPr txBox="1"/>
            <p:nvPr/>
          </p:nvSpPr>
          <p:spPr>
            <a:xfrm>
              <a:off x="9418874" y="5349920"/>
              <a:ext cx="2609260" cy="298097"/>
            </a:xfrm>
            <a:prstGeom prst="rect">
              <a:avLst/>
            </a:prstGeom>
            <a:grpFill/>
            <a:ln>
              <a:solidFill>
                <a:srgbClr val="5EC0CA"/>
              </a:solidFill>
            </a:ln>
          </p:spPr>
          <p:txBody>
            <a:bodyPr wrap="square" lIns="112334" tIns="56167" rIns="112334" bIns="56167" rtlCol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/>
                <a:t>Semester 2 </a:t>
              </a:r>
              <a:r>
                <a:rPr lang="en-US" sz="1200" dirty="0" err="1"/>
                <a:t>tahun</a:t>
              </a:r>
              <a:r>
                <a:rPr lang="en-US" sz="1200" dirty="0"/>
                <a:t> 2026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D60BFBA-38E5-E8D7-DFE3-BA9B62CA0F78}"/>
              </a:ext>
            </a:extLst>
          </p:cNvPr>
          <p:cNvSpPr txBox="1"/>
          <p:nvPr/>
        </p:nvSpPr>
        <p:spPr>
          <a:xfrm>
            <a:off x="9245600" y="3838276"/>
            <a:ext cx="2748115" cy="95981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5EC0CA"/>
            </a:solidFill>
          </a:ln>
        </p:spPr>
        <p:txBody>
          <a:bodyPr wrap="square" lIns="112334" tIns="56167" rIns="112334" bIns="56167" rtlCol="0">
            <a:spAutoFit/>
          </a:bodyPr>
          <a:lstStyle/>
          <a:p>
            <a:pPr marL="171450" marR="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u="none" strike="noStrike" cap="none" dirty="0">
                <a:latin typeface="Arial"/>
                <a:ea typeface="Arial"/>
                <a:cs typeface="Arial"/>
                <a:sym typeface="Arial"/>
              </a:rPr>
              <a:t>100% </a:t>
            </a:r>
            <a:r>
              <a:rPr lang="en-US" sz="1100" u="none" strike="noStrike" cap="none" dirty="0" err="1">
                <a:latin typeface="Arial"/>
                <a:ea typeface="Arial"/>
                <a:cs typeface="Arial"/>
                <a:sym typeface="Arial"/>
              </a:rPr>
              <a:t>pengambilan</a:t>
            </a:r>
            <a:r>
              <a:rPr lang="en-US" sz="1100" u="none" strike="noStrike" cap="none" dirty="0">
                <a:latin typeface="Arial"/>
                <a:ea typeface="Arial"/>
                <a:cs typeface="Arial"/>
                <a:sym typeface="Arial"/>
              </a:rPr>
              <a:t> material </a:t>
            </a:r>
            <a:r>
              <a:rPr lang="en-US" sz="1100" u="none" strike="noStrike" cap="none" dirty="0" err="1">
                <a:latin typeface="Arial"/>
                <a:ea typeface="Arial"/>
                <a:cs typeface="Arial"/>
                <a:sym typeface="Arial"/>
              </a:rPr>
              <a:t>terkontrol</a:t>
            </a:r>
            <a:endParaRPr lang="en-US" sz="110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u="none" strike="noStrike" cap="none" dirty="0" err="1">
                <a:latin typeface="Arial"/>
                <a:ea typeface="Arial"/>
                <a:cs typeface="Arial"/>
                <a:sym typeface="Arial"/>
              </a:rPr>
              <a:t>Deviasi</a:t>
            </a:r>
            <a:r>
              <a:rPr lang="en-US" sz="110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u="none" strike="noStrike" cap="none" dirty="0" err="1">
                <a:latin typeface="Arial"/>
                <a:ea typeface="Arial"/>
                <a:cs typeface="Arial"/>
                <a:sym typeface="Arial"/>
              </a:rPr>
              <a:t>penggunaan</a:t>
            </a:r>
            <a:r>
              <a:rPr lang="en-US" sz="110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u="none" strike="noStrike" cap="none" dirty="0" err="1">
                <a:latin typeface="Arial"/>
                <a:ea typeface="Arial"/>
                <a:cs typeface="Arial"/>
                <a:sym typeface="Arial"/>
              </a:rPr>
              <a:t>terhadap</a:t>
            </a:r>
            <a:r>
              <a:rPr lang="en-US" sz="110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u="none" strike="noStrike" cap="none" dirty="0" err="1">
                <a:latin typeface="Arial"/>
                <a:ea typeface="Arial"/>
                <a:cs typeface="Arial"/>
                <a:sym typeface="Arial"/>
              </a:rPr>
              <a:t>rekomendasi</a:t>
            </a:r>
            <a:r>
              <a:rPr lang="en-US" sz="1100" u="none" strike="noStrike" cap="none" dirty="0">
                <a:latin typeface="Arial"/>
                <a:ea typeface="Arial"/>
                <a:cs typeface="Arial"/>
                <a:sym typeface="Arial"/>
              </a:rPr>
              <a:t> &lt;5%</a:t>
            </a:r>
          </a:p>
          <a:p>
            <a:pPr marL="171450" indent="-171450" algn="ctr" rtl="0">
              <a:buFont typeface="Arial" panose="020B0604020202020204" pitchFamily="34" charset="0"/>
              <a:buChar char="•"/>
            </a:pPr>
            <a:r>
              <a:rPr lang="en-US" sz="1100" u="none" strike="noStrike" cap="none" dirty="0">
                <a:latin typeface="Arial"/>
                <a:ea typeface="Arial"/>
                <a:cs typeface="Arial"/>
                <a:sym typeface="Arial"/>
              </a:rPr>
              <a:t>Waktu </a:t>
            </a:r>
            <a:r>
              <a:rPr lang="en-US" sz="1100" u="none" strike="noStrike" cap="none" dirty="0" err="1">
                <a:latin typeface="Arial"/>
                <a:ea typeface="Arial"/>
                <a:cs typeface="Arial"/>
                <a:sym typeface="Arial"/>
              </a:rPr>
              <a:t>pelaporan</a:t>
            </a:r>
            <a:r>
              <a:rPr lang="en-US" sz="1100" u="none" strike="noStrike" cap="none" dirty="0">
                <a:latin typeface="Arial"/>
                <a:ea typeface="Arial"/>
                <a:cs typeface="Arial"/>
                <a:sym typeface="Arial"/>
              </a:rPr>
              <a:t> dan monitoring </a:t>
            </a:r>
            <a:r>
              <a:rPr lang="en-US" sz="1100" u="none" strike="noStrike" cap="none" dirty="0" err="1">
                <a:latin typeface="Arial"/>
                <a:ea typeface="Arial"/>
                <a:cs typeface="Arial"/>
                <a:sym typeface="Arial"/>
              </a:rPr>
              <a:t>berkurang</a:t>
            </a:r>
            <a:r>
              <a:rPr lang="en-US" sz="1100" u="none" strike="noStrike" cap="none" dirty="0">
                <a:latin typeface="Arial"/>
                <a:ea typeface="Arial"/>
                <a:cs typeface="Arial"/>
                <a:sym typeface="Arial"/>
              </a:rPr>
              <a:t> 70%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21CD885-1EB8-6B7F-2DFD-8C113714617E}"/>
              </a:ext>
            </a:extLst>
          </p:cNvPr>
          <p:cNvSpPr txBox="1"/>
          <p:nvPr/>
        </p:nvSpPr>
        <p:spPr>
          <a:xfrm>
            <a:off x="6207051" y="1141805"/>
            <a:ext cx="2883366" cy="312783"/>
          </a:xfrm>
          <a:prstGeom prst="roundRect">
            <a:avLst/>
          </a:prstGeom>
          <a:solidFill>
            <a:srgbClr val="FFE699"/>
          </a:solidFill>
          <a:ln>
            <a:solidFill>
              <a:srgbClr val="FFE699"/>
            </a:solidFill>
          </a:ln>
        </p:spPr>
        <p:txBody>
          <a:bodyPr wrap="square" lIns="112334" tIns="56167" rIns="112334" bIns="56167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TARGET PROSES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0F95F75-3063-78B5-613F-935B4FA39059}"/>
              </a:ext>
            </a:extLst>
          </p:cNvPr>
          <p:cNvSpPr txBox="1"/>
          <p:nvPr/>
        </p:nvSpPr>
        <p:spPr>
          <a:xfrm>
            <a:off x="9245600" y="1138180"/>
            <a:ext cx="2766341" cy="312783"/>
          </a:xfrm>
          <a:prstGeom prst="roundRect">
            <a:avLst/>
          </a:prstGeom>
          <a:solidFill>
            <a:srgbClr val="FFE699"/>
          </a:solidFill>
          <a:ln>
            <a:solidFill>
              <a:srgbClr val="FFE699"/>
            </a:solidFill>
          </a:ln>
        </p:spPr>
        <p:txBody>
          <a:bodyPr wrap="square" lIns="112334" tIns="56167" rIns="112334" bIns="56167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TARGET HASIL</a:t>
            </a:r>
          </a:p>
        </p:txBody>
      </p:sp>
      <p:grpSp>
        <p:nvGrpSpPr>
          <p:cNvPr id="112" name="object 65">
            <a:extLst>
              <a:ext uri="{FF2B5EF4-FFF2-40B4-BE49-F238E27FC236}">
                <a16:creationId xmlns:a16="http://schemas.microsoft.com/office/drawing/2014/main" id="{BBFB5C2E-D490-1C67-5F3D-F58C708911A8}"/>
              </a:ext>
            </a:extLst>
          </p:cNvPr>
          <p:cNvGrpSpPr/>
          <p:nvPr/>
        </p:nvGrpSpPr>
        <p:grpSpPr>
          <a:xfrm>
            <a:off x="216217" y="754125"/>
            <a:ext cx="246811" cy="195580"/>
            <a:chOff x="7051040" y="4323079"/>
            <a:chExt cx="195580" cy="195580"/>
          </a:xfrm>
        </p:grpSpPr>
        <p:sp>
          <p:nvSpPr>
            <p:cNvPr id="113" name="object 66">
              <a:extLst>
                <a:ext uri="{FF2B5EF4-FFF2-40B4-BE49-F238E27FC236}">
                  <a16:creationId xmlns:a16="http://schemas.microsoft.com/office/drawing/2014/main" id="{FE35EE7F-DC17-FE06-F780-BF88EC90791E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  <p:sp>
          <p:nvSpPr>
            <p:cNvPr id="114" name="object 67">
              <a:extLst>
                <a:ext uri="{FF2B5EF4-FFF2-40B4-BE49-F238E27FC236}">
                  <a16:creationId xmlns:a16="http://schemas.microsoft.com/office/drawing/2014/main" id="{72DC6850-88BB-5739-F560-F5B53BE1D142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7641DFC7-528A-634B-4746-421DBA6D0937}"/>
              </a:ext>
            </a:extLst>
          </p:cNvPr>
          <p:cNvSpPr txBox="1"/>
          <p:nvPr/>
        </p:nvSpPr>
        <p:spPr>
          <a:xfrm>
            <a:off x="438352" y="669122"/>
            <a:ext cx="3801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PQCDSM SEBELUM PERBAIKAN</a:t>
            </a:r>
          </a:p>
        </p:txBody>
      </p:sp>
      <p:sp>
        <p:nvSpPr>
          <p:cNvPr id="118" name="object 36">
            <a:extLst>
              <a:ext uri="{FF2B5EF4-FFF2-40B4-BE49-F238E27FC236}">
                <a16:creationId xmlns:a16="http://schemas.microsoft.com/office/drawing/2014/main" id="{547F7A9B-1575-2F82-9346-A7E55FC3B04B}"/>
              </a:ext>
            </a:extLst>
          </p:cNvPr>
          <p:cNvSpPr/>
          <p:nvPr/>
        </p:nvSpPr>
        <p:spPr>
          <a:xfrm>
            <a:off x="1641895" y="2072663"/>
            <a:ext cx="625842" cy="755161"/>
          </a:xfrm>
          <a:custGeom>
            <a:avLst/>
            <a:gdLst/>
            <a:ahLst/>
            <a:cxnLst/>
            <a:rect l="l" t="t" r="r" b="b"/>
            <a:pathLst>
              <a:path w="640080" h="650239">
                <a:moveTo>
                  <a:pt x="640080" y="0"/>
                </a:moveTo>
                <a:lnTo>
                  <a:pt x="0" y="0"/>
                </a:lnTo>
                <a:lnTo>
                  <a:pt x="0" y="650239"/>
                </a:lnTo>
                <a:lnTo>
                  <a:pt x="640080" y="650239"/>
                </a:lnTo>
                <a:lnTo>
                  <a:pt x="64008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0" name="object 37">
            <a:extLst>
              <a:ext uri="{FF2B5EF4-FFF2-40B4-BE49-F238E27FC236}">
                <a16:creationId xmlns:a16="http://schemas.microsoft.com/office/drawing/2014/main" id="{FDFEC651-8418-EB19-6D3A-C98461105079}"/>
              </a:ext>
            </a:extLst>
          </p:cNvPr>
          <p:cNvSpPr/>
          <p:nvPr/>
        </p:nvSpPr>
        <p:spPr>
          <a:xfrm>
            <a:off x="1722216" y="2213610"/>
            <a:ext cx="453390" cy="453390"/>
          </a:xfrm>
          <a:custGeom>
            <a:avLst/>
            <a:gdLst/>
            <a:ahLst/>
            <a:cxnLst/>
            <a:rect l="l" t="t" r="r" b="b"/>
            <a:pathLst>
              <a:path w="453389" h="453389">
                <a:moveTo>
                  <a:pt x="431419" y="377825"/>
                </a:moveTo>
                <a:lnTo>
                  <a:pt x="377951" y="431419"/>
                </a:lnTo>
                <a:lnTo>
                  <a:pt x="393192" y="446659"/>
                </a:lnTo>
                <a:lnTo>
                  <a:pt x="400385" y="451445"/>
                </a:lnTo>
                <a:lnTo>
                  <a:pt x="408543" y="453040"/>
                </a:lnTo>
                <a:lnTo>
                  <a:pt x="416677" y="451445"/>
                </a:lnTo>
                <a:lnTo>
                  <a:pt x="423799" y="446659"/>
                </a:lnTo>
                <a:lnTo>
                  <a:pt x="446786" y="423799"/>
                </a:lnTo>
                <a:lnTo>
                  <a:pt x="451500" y="416605"/>
                </a:lnTo>
                <a:lnTo>
                  <a:pt x="453072" y="408447"/>
                </a:lnTo>
                <a:lnTo>
                  <a:pt x="451500" y="400313"/>
                </a:lnTo>
                <a:lnTo>
                  <a:pt x="446786" y="393191"/>
                </a:lnTo>
                <a:lnTo>
                  <a:pt x="431419" y="377825"/>
                </a:lnTo>
                <a:close/>
              </a:path>
              <a:path w="453389" h="453389">
                <a:moveTo>
                  <a:pt x="347471" y="293877"/>
                </a:moveTo>
                <a:lnTo>
                  <a:pt x="240411" y="293877"/>
                </a:lnTo>
                <a:lnTo>
                  <a:pt x="372237" y="425703"/>
                </a:lnTo>
                <a:lnTo>
                  <a:pt x="425831" y="372237"/>
                </a:lnTo>
                <a:lnTo>
                  <a:pt x="347471" y="293877"/>
                </a:lnTo>
                <a:close/>
              </a:path>
              <a:path w="453389" h="453389">
                <a:moveTo>
                  <a:pt x="159638" y="0"/>
                </a:moveTo>
                <a:lnTo>
                  <a:pt x="109191" y="8128"/>
                </a:lnTo>
                <a:lnTo>
                  <a:pt x="65370" y="30764"/>
                </a:lnTo>
                <a:lnTo>
                  <a:pt x="30809" y="65288"/>
                </a:lnTo>
                <a:lnTo>
                  <a:pt x="8141" y="109077"/>
                </a:lnTo>
                <a:lnTo>
                  <a:pt x="0" y="159512"/>
                </a:lnTo>
                <a:lnTo>
                  <a:pt x="8141" y="209946"/>
                </a:lnTo>
                <a:lnTo>
                  <a:pt x="30809" y="253735"/>
                </a:lnTo>
                <a:lnTo>
                  <a:pt x="65370" y="288259"/>
                </a:lnTo>
                <a:lnTo>
                  <a:pt x="109191" y="310896"/>
                </a:lnTo>
                <a:lnTo>
                  <a:pt x="159638" y="319024"/>
                </a:lnTo>
                <a:lnTo>
                  <a:pt x="181778" y="317470"/>
                </a:lnTo>
                <a:lnTo>
                  <a:pt x="202834" y="312785"/>
                </a:lnTo>
                <a:lnTo>
                  <a:pt x="222486" y="304932"/>
                </a:lnTo>
                <a:lnTo>
                  <a:pt x="240411" y="293877"/>
                </a:lnTo>
                <a:lnTo>
                  <a:pt x="347471" y="293877"/>
                </a:lnTo>
                <a:lnTo>
                  <a:pt x="336677" y="283083"/>
                </a:lnTo>
                <a:lnTo>
                  <a:pt x="159638" y="283083"/>
                </a:lnTo>
                <a:lnTo>
                  <a:pt x="111506" y="273365"/>
                </a:lnTo>
                <a:lnTo>
                  <a:pt x="72231" y="246872"/>
                </a:lnTo>
                <a:lnTo>
                  <a:pt x="45767" y="207591"/>
                </a:lnTo>
                <a:lnTo>
                  <a:pt x="36068" y="159512"/>
                </a:lnTo>
                <a:lnTo>
                  <a:pt x="45767" y="111452"/>
                </a:lnTo>
                <a:lnTo>
                  <a:pt x="72231" y="72215"/>
                </a:lnTo>
                <a:lnTo>
                  <a:pt x="111505" y="45765"/>
                </a:lnTo>
                <a:lnTo>
                  <a:pt x="159638" y="36067"/>
                </a:lnTo>
                <a:lnTo>
                  <a:pt x="259114" y="36067"/>
                </a:lnTo>
                <a:lnTo>
                  <a:pt x="253807" y="30764"/>
                </a:lnTo>
                <a:lnTo>
                  <a:pt x="210024" y="8128"/>
                </a:lnTo>
                <a:lnTo>
                  <a:pt x="159638" y="0"/>
                </a:lnTo>
                <a:close/>
              </a:path>
              <a:path w="453389" h="453389">
                <a:moveTo>
                  <a:pt x="259114" y="36067"/>
                </a:moveTo>
                <a:lnTo>
                  <a:pt x="159638" y="36067"/>
                </a:lnTo>
                <a:lnTo>
                  <a:pt x="207698" y="45765"/>
                </a:lnTo>
                <a:lnTo>
                  <a:pt x="246935" y="72215"/>
                </a:lnTo>
                <a:lnTo>
                  <a:pt x="273385" y="111452"/>
                </a:lnTo>
                <a:lnTo>
                  <a:pt x="283082" y="159512"/>
                </a:lnTo>
                <a:lnTo>
                  <a:pt x="273385" y="207591"/>
                </a:lnTo>
                <a:lnTo>
                  <a:pt x="246935" y="246872"/>
                </a:lnTo>
                <a:lnTo>
                  <a:pt x="207698" y="273365"/>
                </a:lnTo>
                <a:lnTo>
                  <a:pt x="159638" y="283083"/>
                </a:lnTo>
                <a:lnTo>
                  <a:pt x="336677" y="283083"/>
                </a:lnTo>
                <a:lnTo>
                  <a:pt x="294005" y="240411"/>
                </a:lnTo>
                <a:lnTo>
                  <a:pt x="305006" y="222466"/>
                </a:lnTo>
                <a:lnTo>
                  <a:pt x="312864" y="202771"/>
                </a:lnTo>
                <a:lnTo>
                  <a:pt x="317579" y="181671"/>
                </a:lnTo>
                <a:lnTo>
                  <a:pt x="319150" y="159512"/>
                </a:lnTo>
                <a:lnTo>
                  <a:pt x="311010" y="109077"/>
                </a:lnTo>
                <a:lnTo>
                  <a:pt x="288349" y="65288"/>
                </a:lnTo>
                <a:lnTo>
                  <a:pt x="259114" y="36067"/>
                </a:lnTo>
                <a:close/>
              </a:path>
              <a:path w="453389" h="453389">
                <a:moveTo>
                  <a:pt x="224253" y="67921"/>
                </a:moveTo>
                <a:lnTo>
                  <a:pt x="166925" y="67921"/>
                </a:lnTo>
                <a:lnTo>
                  <a:pt x="186594" y="71691"/>
                </a:lnTo>
                <a:lnTo>
                  <a:pt x="204978" y="79652"/>
                </a:lnTo>
                <a:lnTo>
                  <a:pt x="234795" y="106787"/>
                </a:lnTo>
                <a:lnTo>
                  <a:pt x="250043" y="143609"/>
                </a:lnTo>
                <a:lnTo>
                  <a:pt x="251332" y="163829"/>
                </a:lnTo>
                <a:lnTo>
                  <a:pt x="272288" y="164846"/>
                </a:lnTo>
                <a:lnTo>
                  <a:pt x="270676" y="139955"/>
                </a:lnTo>
                <a:lnTo>
                  <a:pt x="263778" y="116316"/>
                </a:lnTo>
                <a:lnTo>
                  <a:pt x="251928" y="94747"/>
                </a:lnTo>
                <a:lnTo>
                  <a:pt x="235457" y="76073"/>
                </a:lnTo>
                <a:lnTo>
                  <a:pt x="224253" y="67921"/>
                </a:lnTo>
                <a:close/>
              </a:path>
              <a:path w="453389" h="453389">
                <a:moveTo>
                  <a:pt x="168646" y="47069"/>
                </a:moveTo>
                <a:lnTo>
                  <a:pt x="143763" y="47878"/>
                </a:lnTo>
                <a:lnTo>
                  <a:pt x="146684" y="68579"/>
                </a:lnTo>
                <a:lnTo>
                  <a:pt x="166925" y="67921"/>
                </a:lnTo>
                <a:lnTo>
                  <a:pt x="224253" y="67921"/>
                </a:lnTo>
                <a:lnTo>
                  <a:pt x="215362" y="61452"/>
                </a:lnTo>
                <a:lnTo>
                  <a:pt x="192801" y="51688"/>
                </a:lnTo>
                <a:lnTo>
                  <a:pt x="168646" y="470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25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150B-9C7E-2238-DEFF-1BD2606C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568CF7-68E5-9C04-313C-EAD67F2EF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217" y="96773"/>
            <a:ext cx="960215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Singkat</a:t>
            </a:r>
            <a:r>
              <a:rPr lang="en-US" dirty="0"/>
              <a:t> </a:t>
            </a:r>
            <a:r>
              <a:rPr lang="en-US" dirty="0" err="1"/>
              <a:t>HERBISense</a:t>
            </a:r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524B06B-1B21-52C3-D15A-DAA2D9F7FD3B}"/>
              </a:ext>
            </a:extLst>
          </p:cNvPr>
          <p:cNvGrpSpPr/>
          <p:nvPr/>
        </p:nvGrpSpPr>
        <p:grpSpPr>
          <a:xfrm>
            <a:off x="227329" y="629919"/>
            <a:ext cx="10821670" cy="58419"/>
            <a:chOff x="227329" y="629919"/>
            <a:chExt cx="10821670" cy="58419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993346F-9612-E254-FD82-B919B63EE581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37864C-3E23-928F-23E9-6DA83E9EA58F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5FCA7496-EC20-54FA-E00B-26FABCACDB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6846" y="76200"/>
            <a:ext cx="654627" cy="685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B70FC4-2D32-4681-AA63-86A4D1763F3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590" r="83" b="78479"/>
          <a:stretch/>
        </p:blipFill>
        <p:spPr>
          <a:xfrm>
            <a:off x="4076372" y="2743200"/>
            <a:ext cx="3948703" cy="930067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D1B38834-EE23-48C3-9F47-DAC15E073D9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590" r="83" b="78479"/>
          <a:stretch/>
        </p:blipFill>
        <p:spPr>
          <a:xfrm>
            <a:off x="4106086" y="3670337"/>
            <a:ext cx="3948703" cy="930067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66B781E0-DB58-410E-9BB0-8E98429C803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590" r="83" b="78479"/>
          <a:stretch/>
        </p:blipFill>
        <p:spPr>
          <a:xfrm>
            <a:off x="4121883" y="4533974"/>
            <a:ext cx="3984789" cy="930067"/>
          </a:xfrm>
          <a:prstGeom prst="rect">
            <a:avLst/>
          </a:prstGeom>
        </p:spPr>
      </p:pic>
      <p:sp>
        <p:nvSpPr>
          <p:cNvPr id="126" name="object 39">
            <a:extLst>
              <a:ext uri="{FF2B5EF4-FFF2-40B4-BE49-F238E27FC236}">
                <a16:creationId xmlns:a16="http://schemas.microsoft.com/office/drawing/2014/main" id="{AD8DD613-ECCB-4548-AF49-FD497C647525}"/>
              </a:ext>
            </a:extLst>
          </p:cNvPr>
          <p:cNvSpPr txBox="1"/>
          <p:nvPr/>
        </p:nvSpPr>
        <p:spPr>
          <a:xfrm>
            <a:off x="4258571" y="3881765"/>
            <a:ext cx="328492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lvl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2.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Digitalisasi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penggunaan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dan stock material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herbisida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di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gudang</a:t>
            </a:r>
            <a:endParaRPr kumimoji="0" lang="en-ID" sz="1400" b="1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abond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7" name="object 39">
            <a:extLst>
              <a:ext uri="{FF2B5EF4-FFF2-40B4-BE49-F238E27FC236}">
                <a16:creationId xmlns:a16="http://schemas.microsoft.com/office/drawing/2014/main" id="{CD83AB14-4BED-4650-8FEE-72DC7868E9BC}"/>
              </a:ext>
            </a:extLst>
          </p:cNvPr>
          <p:cNvSpPr txBox="1"/>
          <p:nvPr/>
        </p:nvSpPr>
        <p:spPr>
          <a:xfrm>
            <a:off x="4236524" y="4810691"/>
            <a:ext cx="368782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lvl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D" sz="1400" b="1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3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. Monitoring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hasil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pekerjaan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rawat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chemist</a:t>
            </a:r>
          </a:p>
        </p:txBody>
      </p:sp>
      <p:sp>
        <p:nvSpPr>
          <p:cNvPr id="129" name="object 2">
            <a:extLst>
              <a:ext uri="{FF2B5EF4-FFF2-40B4-BE49-F238E27FC236}">
                <a16:creationId xmlns:a16="http://schemas.microsoft.com/office/drawing/2014/main" id="{0D46D77E-561F-487F-8634-6FCF246742FE}"/>
              </a:ext>
            </a:extLst>
          </p:cNvPr>
          <p:cNvSpPr txBox="1">
            <a:spLocks/>
          </p:cNvSpPr>
          <p:nvPr/>
        </p:nvSpPr>
        <p:spPr>
          <a:xfrm>
            <a:off x="4268096" y="2326598"/>
            <a:ext cx="35242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D3C00"/>
                </a:solidFill>
                <a:latin typeface="Ebrima"/>
                <a:ea typeface="+mj-ea"/>
                <a:cs typeface="Ebri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dirty="0"/>
              <a:t>HERBI Sense Fitur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E217C5-7B98-A4B5-A9DC-7819E56A88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29" y="943144"/>
            <a:ext cx="3939598" cy="56100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object 39">
            <a:extLst>
              <a:ext uri="{FF2B5EF4-FFF2-40B4-BE49-F238E27FC236}">
                <a16:creationId xmlns:a16="http://schemas.microsoft.com/office/drawing/2014/main" id="{4D49F6FB-9EFF-D1FB-B506-9BB0EA121C2A}"/>
              </a:ext>
            </a:extLst>
          </p:cNvPr>
          <p:cNvSpPr txBox="1"/>
          <p:nvPr/>
        </p:nvSpPr>
        <p:spPr>
          <a:xfrm>
            <a:off x="4268096" y="2899627"/>
            <a:ext cx="328492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lvl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D" sz="1400" b="1" kern="1200" spc="-5" dirty="0">
                <a:solidFill>
                  <a:schemeClr val="tx1"/>
                </a:solidFill>
                <a:latin typeface="Vagabond" pitchFamily="2" charset="0"/>
                <a:ea typeface="+mn-ea"/>
                <a:cs typeface="Poppins" panose="00000500000000000000" pitchFamily="2" charset="0"/>
              </a:rPr>
              <a:t>1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.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Rekomendasi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pekerjaan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chemist </a:t>
            </a:r>
            <a:r>
              <a:rPr kumimoji="0" lang="en-ID" sz="1400" b="1" i="0" u="none" strike="noStrike" kern="1200" cap="none" spc="-5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berdasarkan</a:t>
            </a:r>
            <a:r>
              <a:rPr kumimoji="0" lang="en-ID" sz="1400" b="1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agabond" pitchFamily="2" charset="0"/>
                <a:ea typeface="+mn-ea"/>
                <a:cs typeface="Poppins" panose="00000500000000000000" pitchFamily="2" charset="0"/>
              </a:rPr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3659636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150B-9C7E-2238-DEFF-1BD2606C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524B06B-1B21-52C3-D15A-DAA2D9F7FD3B}"/>
              </a:ext>
            </a:extLst>
          </p:cNvPr>
          <p:cNvGrpSpPr/>
          <p:nvPr/>
        </p:nvGrpSpPr>
        <p:grpSpPr>
          <a:xfrm>
            <a:off x="227329" y="629919"/>
            <a:ext cx="10821670" cy="58419"/>
            <a:chOff x="227329" y="629919"/>
            <a:chExt cx="10821670" cy="58419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993346F-9612-E254-FD82-B919B63EE581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37864C-3E23-928F-23E9-6DA83E9EA58F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5FCA7496-EC20-54FA-E00B-26FABCACDB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6846" y="76200"/>
            <a:ext cx="654627" cy="68580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27CE882F-4174-FE68-4228-953322FEE184}"/>
              </a:ext>
            </a:extLst>
          </p:cNvPr>
          <p:cNvSpPr txBox="1"/>
          <p:nvPr/>
        </p:nvSpPr>
        <p:spPr>
          <a:xfrm>
            <a:off x="0" y="793935"/>
            <a:ext cx="5942733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/>
              <a:t>  A. PLAN PEKERJAAN</a:t>
            </a:r>
            <a:endParaRPr lang="en-ID" sz="16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DAE3E0-11E6-8CA3-8086-2A03105787AD}"/>
              </a:ext>
            </a:extLst>
          </p:cNvPr>
          <p:cNvSpPr txBox="1"/>
          <p:nvPr/>
        </p:nvSpPr>
        <p:spPr>
          <a:xfrm>
            <a:off x="3380853" y="1499692"/>
            <a:ext cx="25396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HERBI Sense Apps,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alat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menentukan</a:t>
            </a:r>
            <a:r>
              <a:rPr lang="en-US" sz="1400" dirty="0"/>
              <a:t> plan </a:t>
            </a:r>
            <a:r>
              <a:rPr lang="en-US" sz="1400" dirty="0" err="1"/>
              <a:t>pekerjaan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meeting sore </a:t>
            </a:r>
            <a:r>
              <a:rPr lang="en-US" sz="1400" dirty="0" err="1"/>
              <a:t>hari</a:t>
            </a:r>
            <a:r>
              <a:rPr lang="en-US" sz="1400" dirty="0"/>
              <a:t>, </a:t>
            </a:r>
            <a:r>
              <a:rPr lang="en-US" sz="1400" dirty="0" err="1"/>
              <a:t>terkait</a:t>
            </a:r>
            <a:r>
              <a:rPr lang="en-US" sz="1400" dirty="0"/>
              <a:t> </a:t>
            </a:r>
            <a:r>
              <a:rPr lang="en-US" sz="1400" dirty="0" err="1"/>
              <a:t>pekerjaan</a:t>
            </a:r>
            <a:r>
              <a:rPr lang="en-US" sz="1400" dirty="0"/>
              <a:t> </a:t>
            </a:r>
            <a:r>
              <a:rPr lang="en-US" sz="1400" dirty="0" err="1"/>
              <a:t>perawatan</a:t>
            </a:r>
            <a:r>
              <a:rPr lang="en-US" sz="1400" dirty="0"/>
              <a:t> chemist (CPT dan WDC)</a:t>
            </a:r>
          </a:p>
          <a:p>
            <a:pPr algn="just"/>
            <a:endParaRPr lang="en-ID" sz="1600" dirty="0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BABCF2D-906B-470D-831B-A9C32D850B52}"/>
              </a:ext>
            </a:extLst>
          </p:cNvPr>
          <p:cNvCxnSpPr>
            <a:cxnSpLocks/>
          </p:cNvCxnSpPr>
          <p:nvPr/>
        </p:nvCxnSpPr>
        <p:spPr>
          <a:xfrm flipH="1">
            <a:off x="5946676" y="800288"/>
            <a:ext cx="1041" cy="60375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811DFCB5-732C-4350-970E-A011B3DE34B3}"/>
              </a:ext>
            </a:extLst>
          </p:cNvPr>
          <p:cNvSpPr txBox="1"/>
          <p:nvPr/>
        </p:nvSpPr>
        <p:spPr>
          <a:xfrm>
            <a:off x="6096000" y="781050"/>
            <a:ext cx="5942733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/>
              <a:t>  B. MONITORING PENGGUNAAN DAN STOCK GUDANG</a:t>
            </a:r>
            <a:endParaRPr lang="en-ID" sz="1600" b="1" dirty="0"/>
          </a:p>
        </p:txBody>
      </p:sp>
      <p:sp>
        <p:nvSpPr>
          <p:cNvPr id="174" name="object 2">
            <a:extLst>
              <a:ext uri="{FF2B5EF4-FFF2-40B4-BE49-F238E27FC236}">
                <a16:creationId xmlns:a16="http://schemas.microsoft.com/office/drawing/2014/main" id="{244581C3-E498-43CB-8E89-21DEC3293919}"/>
              </a:ext>
            </a:extLst>
          </p:cNvPr>
          <p:cNvSpPr txBox="1">
            <a:spLocks/>
          </p:cNvSpPr>
          <p:nvPr/>
        </p:nvSpPr>
        <p:spPr>
          <a:xfrm>
            <a:off x="216217" y="96773"/>
            <a:ext cx="960215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D3C00"/>
                </a:solidFill>
                <a:latin typeface="Ebrima"/>
                <a:ea typeface="+mj-ea"/>
                <a:cs typeface="Ebri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Singkat</a:t>
            </a:r>
            <a:r>
              <a:rPr lang="en-US" dirty="0"/>
              <a:t> HERBI Sense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71FABE-64AC-738D-A77D-498C16EEC4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24"/>
          <a:stretch/>
        </p:blipFill>
        <p:spPr>
          <a:xfrm>
            <a:off x="101761" y="1385940"/>
            <a:ext cx="1450536" cy="32946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136430-9F1C-2F7A-2B56-1BF3879132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1878824" y="1385940"/>
            <a:ext cx="1475832" cy="32634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40688F-7D92-40FD-9E10-76EA85785F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04" t="70001" r="17" b="9611"/>
          <a:stretch/>
        </p:blipFill>
        <p:spPr>
          <a:xfrm>
            <a:off x="6053451" y="4812054"/>
            <a:ext cx="6077984" cy="1398271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1FE23753-F2F7-5DB1-A290-F0D53C3D094C}"/>
              </a:ext>
            </a:extLst>
          </p:cNvPr>
          <p:cNvSpPr/>
          <p:nvPr/>
        </p:nvSpPr>
        <p:spPr>
          <a:xfrm>
            <a:off x="1552297" y="2476668"/>
            <a:ext cx="336450" cy="47119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24AC62-A34D-EADC-84E6-15CB5FB39AD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700" y="1278573"/>
            <a:ext cx="2992404" cy="3199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675669-BF80-B088-5145-052ED6E9F0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48050"/>
          <a:stretch/>
        </p:blipFill>
        <p:spPr>
          <a:xfrm>
            <a:off x="9509702" y="3262531"/>
            <a:ext cx="2184457" cy="1386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79D066-077E-C22D-A948-0DA6175828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" t="68995" r="52555" b="8889"/>
          <a:stretch/>
        </p:blipFill>
        <p:spPr>
          <a:xfrm>
            <a:off x="0" y="4741715"/>
            <a:ext cx="5682891" cy="15167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63E80D-73AE-C564-8B4A-5EED71BCCB68}"/>
              </a:ext>
            </a:extLst>
          </p:cNvPr>
          <p:cNvSpPr txBox="1"/>
          <p:nvPr/>
        </p:nvSpPr>
        <p:spPr>
          <a:xfrm>
            <a:off x="9469941" y="1402058"/>
            <a:ext cx="25396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HERBI Sense Apps,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alat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memonitoring</a:t>
            </a:r>
            <a:r>
              <a:rPr lang="en-US" sz="1400" dirty="0"/>
              <a:t> </a:t>
            </a:r>
            <a:r>
              <a:rPr lang="en-US" sz="1400" dirty="0" err="1"/>
              <a:t>penggunaan</a:t>
            </a:r>
            <a:r>
              <a:rPr lang="en-US" sz="1400" dirty="0"/>
              <a:t> material </a:t>
            </a:r>
            <a:r>
              <a:rPr lang="en-US" sz="1400" dirty="0" err="1"/>
              <a:t>herbisida</a:t>
            </a:r>
            <a:r>
              <a:rPr lang="en-US" sz="1400" dirty="0"/>
              <a:t> di </a:t>
            </a:r>
            <a:r>
              <a:rPr lang="en-US" sz="1400" dirty="0" err="1"/>
              <a:t>afdeling</a:t>
            </a:r>
            <a:r>
              <a:rPr lang="en-US" sz="1400" dirty="0"/>
              <a:t>,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memanfaatkan</a:t>
            </a:r>
            <a:r>
              <a:rPr lang="en-US" sz="1400" dirty="0"/>
              <a:t> QR code di masing </a:t>
            </a:r>
            <a:r>
              <a:rPr lang="en-US" sz="1400" dirty="0" err="1"/>
              <a:t>masing</a:t>
            </a:r>
            <a:r>
              <a:rPr lang="en-US" sz="1400" dirty="0"/>
              <a:t> material.</a:t>
            </a:r>
          </a:p>
          <a:p>
            <a:pPr algn="just"/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909859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9" descr="https://www.astra-agro.co.id/wp-content/uploads/2019/11/logo-AAL-we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800" y="76201"/>
            <a:ext cx="685800" cy="6858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739FAFA-7077-4FCD-C16D-164B98AAAD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217" y="96773"/>
            <a:ext cx="80613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rgbClr val="205868"/>
                </a:solidFill>
              </a:rPr>
              <a:t>IMPLEMENTASI IDE</a:t>
            </a:r>
            <a:endParaRPr spc="-10" dirty="0">
              <a:solidFill>
                <a:srgbClr val="205868"/>
              </a:solidFill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7E55A98E-B550-5F65-E812-A52D4E4C72AC}"/>
              </a:ext>
            </a:extLst>
          </p:cNvPr>
          <p:cNvGrpSpPr/>
          <p:nvPr/>
        </p:nvGrpSpPr>
        <p:grpSpPr>
          <a:xfrm>
            <a:off x="236597" y="530472"/>
            <a:ext cx="10821670" cy="58419"/>
            <a:chOff x="227329" y="629919"/>
            <a:chExt cx="10821670" cy="58419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52327531-8483-65C4-AC25-0BD0C1527A26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23C130C-21CE-8955-5571-EEC6E17954C5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099296D-D91D-DA2A-885A-CBE30B571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b="28091"/>
          <a:stretch/>
        </p:blipFill>
        <p:spPr>
          <a:xfrm>
            <a:off x="152400" y="752477"/>
            <a:ext cx="11547158" cy="45092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F45D2A-B98A-83B3-B84A-B5D0B723BA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36"/>
          <a:stretch/>
        </p:blipFill>
        <p:spPr>
          <a:xfrm>
            <a:off x="1219201" y="5261687"/>
            <a:ext cx="8458200" cy="1610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85FB2-68EC-B079-18DA-96DAEFE0D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E0AFD7-C201-3D6D-5CD7-F72153718D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D" dirty="0">
                <a:latin typeface="Calibri" panose="020F0502020204030204" pitchFamily="34" charset="0"/>
                <a:cs typeface="Calibri" panose="020F0502020204030204" pitchFamily="34" charset="0"/>
              </a:rPr>
              <a:t>EVALUASI HASIL PERBAIKAN</a:t>
            </a:r>
            <a:endParaRPr spc="-10" dirty="0">
              <a:solidFill>
                <a:srgbClr val="205868"/>
              </a:solidFill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D0C0701D-9E2A-C767-FA31-0F0ACC1CA6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6846" y="76200"/>
            <a:ext cx="654627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891719-3E7F-2EB4-38EE-08BBBD1049E7}"/>
              </a:ext>
            </a:extLst>
          </p:cNvPr>
          <p:cNvSpPr txBox="1"/>
          <p:nvPr/>
        </p:nvSpPr>
        <p:spPr>
          <a:xfrm>
            <a:off x="4017818" y="828311"/>
            <a:ext cx="848309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defTabSz="914446"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BEFORE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D0A4DE-8A7F-140A-3DBF-6D0A2F5A3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064802"/>
              </p:ext>
            </p:extLst>
          </p:nvPr>
        </p:nvGraphicFramePr>
        <p:xfrm>
          <a:off x="246651" y="1295400"/>
          <a:ext cx="11702895" cy="5235111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065265">
                  <a:extLst>
                    <a:ext uri="{9D8B030D-6E8A-4147-A177-3AD203B41FA5}">
                      <a16:colId xmlns:a16="http://schemas.microsoft.com/office/drawing/2014/main" val="2892158814"/>
                    </a:ext>
                  </a:extLst>
                </a:gridCol>
                <a:gridCol w="4818815">
                  <a:extLst>
                    <a:ext uri="{9D8B030D-6E8A-4147-A177-3AD203B41FA5}">
                      <a16:colId xmlns:a16="http://schemas.microsoft.com/office/drawing/2014/main" val="3734454787"/>
                    </a:ext>
                  </a:extLst>
                </a:gridCol>
                <a:gridCol w="4818815">
                  <a:extLst>
                    <a:ext uri="{9D8B030D-6E8A-4147-A177-3AD203B41FA5}">
                      <a16:colId xmlns:a16="http://schemas.microsoft.com/office/drawing/2014/main" val="1652770209"/>
                    </a:ext>
                  </a:extLst>
                </a:gridCol>
              </a:tblGrid>
              <a:tr h="12250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Penggunaan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herbisida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berdasarkan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budget dan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ketentuan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dari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IK dan SOP,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belum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memperhatikan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gulma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kerapatan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dilapangan</a:t>
                      </a:r>
                      <a:endParaRPr lang="en-ID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Aplikasi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merekomendasikan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dosis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berdasarkan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kebutuhan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 masing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masing</a:t>
                      </a:r>
                      <a:r>
                        <a:rPr lang="en-ID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blok</a:t>
                      </a:r>
                      <a:endParaRPr lang="en-ID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065256"/>
                  </a:ext>
                </a:extLst>
              </a:tr>
              <a:tr h="96712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Ketepatan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pemilihan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herbisida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hanya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berdasarkan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pengetahuan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pengalaman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mandor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ketepatan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dosis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rendah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Pemilihan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herbisida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berdasarkan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kondisi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real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dilapangan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mendapatkan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dosis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yg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lebih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tepat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dan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menghindari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gulma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resisten</a:t>
                      </a:r>
                      <a:endParaRPr lang="en-ID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809197"/>
                  </a:ext>
                </a:extLst>
              </a:tr>
              <a:tr h="77369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penggunaan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material 15%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dari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kebutuhan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sehingga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sering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terjadi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selisih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pemborosan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Alur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keluar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masuk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material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afdeling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melalui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satu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system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dilengkapi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dgn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scan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kartu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material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menghindari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kesalahan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input data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8101"/>
                  </a:ext>
                </a:extLst>
              </a:tr>
              <a:tr h="96712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Laporan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penggunaan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material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secara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manual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tidak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rutin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dilakukan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hasil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pekerjaan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chemist pada SIC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mandor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rawat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tidak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menggambarkan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kualitas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pekerjaan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penggunaan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material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hasil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pekerjaan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dapat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dilihat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real-time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melalui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dashboard app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272325"/>
                  </a:ext>
                </a:extLst>
              </a:tr>
              <a:tr h="64541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Resiko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kesalahan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penggunaan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dosis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berpotensi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membahayakan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lingkungan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Aplikasi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memberikan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rekomendasi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herbisida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dosis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sesuai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kebutuhan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184581"/>
                  </a:ext>
                </a:extLst>
              </a:tr>
              <a:tr h="65673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Banyaknya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mandor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rawat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bertugas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sehingga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sulit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menentukan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tanggung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jawab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saat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terjadi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selisih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data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terintegrasi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lebih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cepat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diakses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oleh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siapa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Dimana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saja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5201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0215281-E4A1-703F-30FA-7A5FAA672C33}"/>
              </a:ext>
            </a:extLst>
          </p:cNvPr>
          <p:cNvSpPr txBox="1"/>
          <p:nvPr/>
        </p:nvSpPr>
        <p:spPr>
          <a:xfrm>
            <a:off x="9220200" y="836081"/>
            <a:ext cx="720069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defTabSz="914446"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642942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8DDB3-9B2C-B352-7FD1-FBCBF5CD2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590;p9">
            <a:extLst>
              <a:ext uri="{FF2B5EF4-FFF2-40B4-BE49-F238E27FC236}">
                <a16:creationId xmlns:a16="http://schemas.microsoft.com/office/drawing/2014/main" id="{F8CA5D08-1EB7-3D06-6ADA-7FBE52D14E73}"/>
              </a:ext>
            </a:extLst>
          </p:cNvPr>
          <p:cNvSpPr/>
          <p:nvPr/>
        </p:nvSpPr>
        <p:spPr>
          <a:xfrm>
            <a:off x="600861" y="2717666"/>
            <a:ext cx="5876139" cy="307778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1330"/>
            <a:endParaRPr dirty="0"/>
          </a:p>
        </p:txBody>
      </p:sp>
      <p:sp>
        <p:nvSpPr>
          <p:cNvPr id="64" name="Google Shape;590;p9">
            <a:extLst>
              <a:ext uri="{FF2B5EF4-FFF2-40B4-BE49-F238E27FC236}">
                <a16:creationId xmlns:a16="http://schemas.microsoft.com/office/drawing/2014/main" id="{B0026FFB-79FC-B13E-4693-76469CF933FE}"/>
              </a:ext>
            </a:extLst>
          </p:cNvPr>
          <p:cNvSpPr/>
          <p:nvPr/>
        </p:nvSpPr>
        <p:spPr>
          <a:xfrm>
            <a:off x="477994" y="4043390"/>
            <a:ext cx="5999006" cy="307778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1330"/>
            <a:endParaRPr dirty="0"/>
          </a:p>
        </p:txBody>
      </p:sp>
      <p:sp>
        <p:nvSpPr>
          <p:cNvPr id="37" name="Google Shape;590;p9">
            <a:extLst>
              <a:ext uri="{FF2B5EF4-FFF2-40B4-BE49-F238E27FC236}">
                <a16:creationId xmlns:a16="http://schemas.microsoft.com/office/drawing/2014/main" id="{6107BA2D-E777-D786-5348-5A49C5009BB2}"/>
              </a:ext>
            </a:extLst>
          </p:cNvPr>
          <p:cNvSpPr/>
          <p:nvPr/>
        </p:nvSpPr>
        <p:spPr>
          <a:xfrm>
            <a:off x="477483" y="5559622"/>
            <a:ext cx="5999006" cy="307778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1330"/>
            <a:endParaRPr dirty="0"/>
          </a:p>
        </p:txBody>
      </p:sp>
      <p:sp>
        <p:nvSpPr>
          <p:cNvPr id="36" name="Google Shape;590;p9">
            <a:extLst>
              <a:ext uri="{FF2B5EF4-FFF2-40B4-BE49-F238E27FC236}">
                <a16:creationId xmlns:a16="http://schemas.microsoft.com/office/drawing/2014/main" id="{9906568C-4459-7B43-9672-4BA4335B6FA6}"/>
              </a:ext>
            </a:extLst>
          </p:cNvPr>
          <p:cNvSpPr/>
          <p:nvPr/>
        </p:nvSpPr>
        <p:spPr>
          <a:xfrm>
            <a:off x="466486" y="1092028"/>
            <a:ext cx="11259028" cy="307778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1330"/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62B9AE4-AE61-DF94-9978-96C1BE922A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Result and Impact In The Cost</a:t>
            </a:r>
            <a:endParaRPr spc="-10" dirty="0">
              <a:solidFill>
                <a:srgbClr val="205868"/>
              </a:solidFill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02DFBBA-DBE0-5F29-356E-365CF2484A2E}"/>
              </a:ext>
            </a:extLst>
          </p:cNvPr>
          <p:cNvGrpSpPr/>
          <p:nvPr/>
        </p:nvGrpSpPr>
        <p:grpSpPr>
          <a:xfrm>
            <a:off x="227329" y="629919"/>
            <a:ext cx="10821670" cy="58419"/>
            <a:chOff x="227329" y="629919"/>
            <a:chExt cx="10821670" cy="58419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EE7097-5284-8DF5-2AF7-D823D75AF2EF}"/>
                </a:ext>
              </a:extLst>
            </p:cNvPr>
            <p:cNvSpPr/>
            <p:nvPr/>
          </p:nvSpPr>
          <p:spPr>
            <a:xfrm>
              <a:off x="227329" y="659129"/>
              <a:ext cx="2145665" cy="0"/>
            </a:xfrm>
            <a:custGeom>
              <a:avLst/>
              <a:gdLst/>
              <a:ahLst/>
              <a:cxnLst/>
              <a:rect l="l" t="t" r="r" b="b"/>
              <a:pathLst>
                <a:path w="2145665">
                  <a:moveTo>
                    <a:pt x="0" y="0"/>
                  </a:moveTo>
                  <a:lnTo>
                    <a:pt x="2145411" y="0"/>
                  </a:lnTo>
                </a:path>
              </a:pathLst>
            </a:custGeom>
            <a:ln w="58419">
              <a:solidFill>
                <a:srgbClr val="17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5E5C2DC-F8BC-28C8-8151-00BC724493F7}"/>
                </a:ext>
              </a:extLst>
            </p:cNvPr>
            <p:cNvSpPr/>
            <p:nvPr/>
          </p:nvSpPr>
          <p:spPr>
            <a:xfrm>
              <a:off x="2373629" y="659129"/>
              <a:ext cx="8675370" cy="0"/>
            </a:xfrm>
            <a:custGeom>
              <a:avLst/>
              <a:gdLst/>
              <a:ahLst/>
              <a:cxnLst/>
              <a:rect l="l" t="t" r="r" b="b"/>
              <a:pathLst>
                <a:path w="8675370">
                  <a:moveTo>
                    <a:pt x="0" y="0"/>
                  </a:moveTo>
                  <a:lnTo>
                    <a:pt x="8674989" y="0"/>
                  </a:lnTo>
                </a:path>
              </a:pathLst>
            </a:custGeom>
            <a:ln w="58419">
              <a:solidFill>
                <a:srgbClr val="DDD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9DAFE9DE-60A2-5C8F-2F98-D3CD3E6440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6846" y="76200"/>
            <a:ext cx="654627" cy="685800"/>
          </a:xfrm>
          <a:prstGeom prst="rect">
            <a:avLst/>
          </a:prstGeom>
        </p:spPr>
      </p:pic>
      <p:sp>
        <p:nvSpPr>
          <p:cNvPr id="65" name="object 64">
            <a:extLst>
              <a:ext uri="{FF2B5EF4-FFF2-40B4-BE49-F238E27FC236}">
                <a16:creationId xmlns:a16="http://schemas.microsoft.com/office/drawing/2014/main" id="{543A3EC8-CC23-4D8A-9C42-71FAE9F20080}"/>
              </a:ext>
            </a:extLst>
          </p:cNvPr>
          <p:cNvSpPr txBox="1"/>
          <p:nvPr/>
        </p:nvSpPr>
        <p:spPr>
          <a:xfrm>
            <a:off x="934337" y="1112176"/>
            <a:ext cx="538622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>
                <a:latin typeface="Vagabond" pitchFamily="2" charset="0"/>
                <a:cs typeface="Calibri"/>
              </a:rPr>
              <a:t>TANGIABLE BENEFIT</a:t>
            </a:r>
            <a:endParaRPr sz="1600" dirty="0">
              <a:latin typeface="Vagabond" pitchFamily="2" charset="0"/>
              <a:cs typeface="Calibri"/>
            </a:endParaRPr>
          </a:p>
        </p:txBody>
      </p:sp>
      <p:grpSp>
        <p:nvGrpSpPr>
          <p:cNvPr id="67" name="object 65">
            <a:extLst>
              <a:ext uri="{FF2B5EF4-FFF2-40B4-BE49-F238E27FC236}">
                <a16:creationId xmlns:a16="http://schemas.microsoft.com/office/drawing/2014/main" id="{311D7F65-8BA1-20F6-0118-40F0CF2E8465}"/>
              </a:ext>
            </a:extLst>
          </p:cNvPr>
          <p:cNvGrpSpPr/>
          <p:nvPr/>
        </p:nvGrpSpPr>
        <p:grpSpPr>
          <a:xfrm>
            <a:off x="667001" y="1158150"/>
            <a:ext cx="246811" cy="195580"/>
            <a:chOff x="7051040" y="4323079"/>
            <a:chExt cx="195580" cy="195580"/>
          </a:xfrm>
        </p:grpSpPr>
        <p:sp>
          <p:nvSpPr>
            <p:cNvPr id="68" name="object 66">
              <a:extLst>
                <a:ext uri="{FF2B5EF4-FFF2-40B4-BE49-F238E27FC236}">
                  <a16:creationId xmlns:a16="http://schemas.microsoft.com/office/drawing/2014/main" id="{B649C917-E5BE-9F74-E06D-15BF405BCDC7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  <p:sp>
          <p:nvSpPr>
            <p:cNvPr id="69" name="object 67">
              <a:extLst>
                <a:ext uri="{FF2B5EF4-FFF2-40B4-BE49-F238E27FC236}">
                  <a16:creationId xmlns:a16="http://schemas.microsoft.com/office/drawing/2014/main" id="{DAD8E2B7-2D46-B3ED-195B-A04BB2EB4345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151ABAB7-814F-BBBD-8D97-C0775C72B907}"/>
              </a:ext>
            </a:extLst>
          </p:cNvPr>
          <p:cNvSpPr txBox="1"/>
          <p:nvPr/>
        </p:nvSpPr>
        <p:spPr>
          <a:xfrm>
            <a:off x="937586" y="2725382"/>
            <a:ext cx="1951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Vagabond" pitchFamily="2" charset="0"/>
                <a:cs typeface="Arial" panose="020B0604020202020204" pitchFamily="34" charset="0"/>
              </a:rPr>
              <a:t>COST OF REDUCTION</a:t>
            </a:r>
          </a:p>
        </p:txBody>
      </p:sp>
      <p:grpSp>
        <p:nvGrpSpPr>
          <p:cNvPr id="107" name="object 65">
            <a:extLst>
              <a:ext uri="{FF2B5EF4-FFF2-40B4-BE49-F238E27FC236}">
                <a16:creationId xmlns:a16="http://schemas.microsoft.com/office/drawing/2014/main" id="{4CF6FF1D-3B90-FEEE-22AA-3B922C44BEF5}"/>
              </a:ext>
            </a:extLst>
          </p:cNvPr>
          <p:cNvGrpSpPr/>
          <p:nvPr/>
        </p:nvGrpSpPr>
        <p:grpSpPr>
          <a:xfrm>
            <a:off x="679000" y="2786617"/>
            <a:ext cx="246811" cy="195580"/>
            <a:chOff x="7051040" y="4323079"/>
            <a:chExt cx="195580" cy="195580"/>
          </a:xfrm>
        </p:grpSpPr>
        <p:sp>
          <p:nvSpPr>
            <p:cNvPr id="108" name="object 66">
              <a:extLst>
                <a:ext uri="{FF2B5EF4-FFF2-40B4-BE49-F238E27FC236}">
                  <a16:creationId xmlns:a16="http://schemas.microsoft.com/office/drawing/2014/main" id="{9C42220E-C3D2-A4F8-D867-F58C4B96A5A6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  <p:sp>
          <p:nvSpPr>
            <p:cNvPr id="109" name="object 67">
              <a:extLst>
                <a:ext uri="{FF2B5EF4-FFF2-40B4-BE49-F238E27FC236}">
                  <a16:creationId xmlns:a16="http://schemas.microsoft.com/office/drawing/2014/main" id="{12703F31-5ED3-8BF3-1A08-F4BAC91C6E9C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DF72692-0331-F6F7-E1B0-B5E47210209C}"/>
              </a:ext>
            </a:extLst>
          </p:cNvPr>
          <p:cNvSpPr txBox="1"/>
          <p:nvPr/>
        </p:nvSpPr>
        <p:spPr>
          <a:xfrm>
            <a:off x="814208" y="4074923"/>
            <a:ext cx="1754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Vagabond" pitchFamily="2" charset="0"/>
                <a:cs typeface="Arial" panose="020B0604020202020204" pitchFamily="34" charset="0"/>
              </a:rPr>
              <a:t> COST OF PROJECT</a:t>
            </a:r>
          </a:p>
        </p:txBody>
      </p:sp>
      <p:grpSp>
        <p:nvGrpSpPr>
          <p:cNvPr id="23" name="object 65">
            <a:extLst>
              <a:ext uri="{FF2B5EF4-FFF2-40B4-BE49-F238E27FC236}">
                <a16:creationId xmlns:a16="http://schemas.microsoft.com/office/drawing/2014/main" id="{359043D7-080D-949D-D66A-F83748ED1B7D}"/>
              </a:ext>
            </a:extLst>
          </p:cNvPr>
          <p:cNvGrpSpPr/>
          <p:nvPr/>
        </p:nvGrpSpPr>
        <p:grpSpPr>
          <a:xfrm>
            <a:off x="555961" y="4099489"/>
            <a:ext cx="246811" cy="195580"/>
            <a:chOff x="7051040" y="4323079"/>
            <a:chExt cx="195580" cy="195580"/>
          </a:xfrm>
        </p:grpSpPr>
        <p:sp>
          <p:nvSpPr>
            <p:cNvPr id="24" name="object 66">
              <a:extLst>
                <a:ext uri="{FF2B5EF4-FFF2-40B4-BE49-F238E27FC236}">
                  <a16:creationId xmlns:a16="http://schemas.microsoft.com/office/drawing/2014/main" id="{2780968D-B06D-BEC9-BBEC-45EE65821969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  <p:sp>
          <p:nvSpPr>
            <p:cNvPr id="25" name="object 67">
              <a:extLst>
                <a:ext uri="{FF2B5EF4-FFF2-40B4-BE49-F238E27FC236}">
                  <a16:creationId xmlns:a16="http://schemas.microsoft.com/office/drawing/2014/main" id="{F0E4B3C5-7198-BC1A-3E74-F3E352D7B86F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5541E67-E7B9-0BC2-B808-D7BAE0361043}"/>
              </a:ext>
            </a:extLst>
          </p:cNvPr>
          <p:cNvSpPr txBox="1"/>
          <p:nvPr/>
        </p:nvSpPr>
        <p:spPr>
          <a:xfrm>
            <a:off x="814208" y="5559622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Vagabond" pitchFamily="2" charset="0"/>
                <a:cs typeface="Arial" panose="020B0604020202020204" pitchFamily="34" charset="0"/>
              </a:rPr>
              <a:t>NQI </a:t>
            </a:r>
          </a:p>
        </p:txBody>
      </p:sp>
      <p:grpSp>
        <p:nvGrpSpPr>
          <p:cNvPr id="27" name="object 65">
            <a:extLst>
              <a:ext uri="{FF2B5EF4-FFF2-40B4-BE49-F238E27FC236}">
                <a16:creationId xmlns:a16="http://schemas.microsoft.com/office/drawing/2014/main" id="{8D3EB221-DFE4-0DFA-DC2C-563A5652FE86}"/>
              </a:ext>
            </a:extLst>
          </p:cNvPr>
          <p:cNvGrpSpPr/>
          <p:nvPr/>
        </p:nvGrpSpPr>
        <p:grpSpPr>
          <a:xfrm>
            <a:off x="543595" y="5598649"/>
            <a:ext cx="246811" cy="195580"/>
            <a:chOff x="7051040" y="4323079"/>
            <a:chExt cx="195580" cy="195580"/>
          </a:xfrm>
        </p:grpSpPr>
        <p:sp>
          <p:nvSpPr>
            <p:cNvPr id="28" name="object 66">
              <a:extLst>
                <a:ext uri="{FF2B5EF4-FFF2-40B4-BE49-F238E27FC236}">
                  <a16:creationId xmlns:a16="http://schemas.microsoft.com/office/drawing/2014/main" id="{B7431590-08EB-F5AC-0BFA-C161CE5C4D03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82879" y="18288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  <p:sp>
          <p:nvSpPr>
            <p:cNvPr id="29" name="object 67">
              <a:extLst>
                <a:ext uri="{FF2B5EF4-FFF2-40B4-BE49-F238E27FC236}">
                  <a16:creationId xmlns:a16="http://schemas.microsoft.com/office/drawing/2014/main" id="{60E49A5F-70FE-05A0-2AD0-0B994C4E4F51}"/>
                </a:ext>
              </a:extLst>
            </p:cNvPr>
            <p:cNvSpPr/>
            <p:nvPr/>
          </p:nvSpPr>
          <p:spPr>
            <a:xfrm>
              <a:off x="7057390" y="432942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880"/>
                  </a:moveTo>
                  <a:lnTo>
                    <a:pt x="182879" y="18288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182880"/>
                  </a:lnTo>
                  <a:close/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Vagabond" pitchFamily="2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E1CBB27-299F-BCBC-5A7C-4B1611A13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06" y="1515955"/>
            <a:ext cx="5103969" cy="10553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D0992E-A0FB-3754-1E40-8775D2A09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405" y="3111197"/>
            <a:ext cx="5194157" cy="8627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E54885-FE1F-8012-1CDE-EEB7C8EB2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023" y="4462561"/>
            <a:ext cx="5099352" cy="1054442"/>
          </a:xfrm>
          <a:prstGeom prst="rect">
            <a:avLst/>
          </a:prstGeom>
        </p:spPr>
      </p:pic>
      <p:sp>
        <p:nvSpPr>
          <p:cNvPr id="11" name="object 64">
            <a:extLst>
              <a:ext uri="{FF2B5EF4-FFF2-40B4-BE49-F238E27FC236}">
                <a16:creationId xmlns:a16="http://schemas.microsoft.com/office/drawing/2014/main" id="{839614ED-9275-C340-DFC8-E4718B58B725}"/>
              </a:ext>
            </a:extLst>
          </p:cNvPr>
          <p:cNvSpPr txBox="1"/>
          <p:nvPr/>
        </p:nvSpPr>
        <p:spPr>
          <a:xfrm>
            <a:off x="1046479" y="5948321"/>
            <a:ext cx="64008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lphaUcPeriod"/>
            </a:pPr>
            <a:r>
              <a:rPr lang="en-US" sz="1600" dirty="0">
                <a:latin typeface="Vagabond" pitchFamily="2" charset="0"/>
                <a:cs typeface="Calibri"/>
              </a:rPr>
              <a:t>COST OF REDUCTION – COST OF PROJECT</a:t>
            </a:r>
          </a:p>
        </p:txBody>
      </p:sp>
      <p:sp>
        <p:nvSpPr>
          <p:cNvPr id="12" name="object 64">
            <a:extLst>
              <a:ext uri="{FF2B5EF4-FFF2-40B4-BE49-F238E27FC236}">
                <a16:creationId xmlns:a16="http://schemas.microsoft.com/office/drawing/2014/main" id="{17C42F6C-4CD7-3BE1-5D9B-4EFBB4753669}"/>
              </a:ext>
            </a:extLst>
          </p:cNvPr>
          <p:cNvSpPr txBox="1"/>
          <p:nvPr/>
        </p:nvSpPr>
        <p:spPr>
          <a:xfrm>
            <a:off x="1447800" y="6228148"/>
            <a:ext cx="64008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600" b="1" dirty="0">
                <a:latin typeface="Vagabond" pitchFamily="2" charset="0"/>
                <a:cs typeface="Calibri"/>
              </a:rPr>
              <a:t>10.564.286 – 3.921.429 = Rp </a:t>
            </a:r>
            <a:r>
              <a:rPr lang="en-US" sz="1600" b="1" dirty="0"/>
              <a:t> 6.642.857 </a:t>
            </a:r>
            <a:r>
              <a:rPr lang="en-US" sz="1600" b="1" dirty="0">
                <a:latin typeface="Vagabond" pitchFamily="2" charset="0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1641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digital_illustration_features_a_lush_palm_oil_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7400</TotalTime>
  <Words>1022</Words>
  <Application>Microsoft Office PowerPoint</Application>
  <PresentationFormat>Widescreen</PresentationFormat>
  <Paragraphs>184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MT</vt:lpstr>
      <vt:lpstr>Calibri</vt:lpstr>
      <vt:lpstr>Ebrima</vt:lpstr>
      <vt:lpstr>MgOpen Modata</vt:lpstr>
      <vt:lpstr>Vagabond</vt:lpstr>
      <vt:lpstr>Wingdings</vt:lpstr>
      <vt:lpstr>Office Theme</vt:lpstr>
      <vt:lpstr>PowerPoint Presentation</vt:lpstr>
      <vt:lpstr>PROFILE TEAM </vt:lpstr>
      <vt:lpstr>MENENTUKAN TEMA</vt:lpstr>
      <vt:lpstr>MENENTUKAN TEMA – ANALYZE SITUATION</vt:lpstr>
      <vt:lpstr>PowerPoint Presentation</vt:lpstr>
      <vt:lpstr>ANALISA AKAR PEMASALAHAN </vt:lpstr>
      <vt:lpstr>MENENTUKAN TARGET</vt:lpstr>
      <vt:lpstr>Pengenalan Singkat HERBISense</vt:lpstr>
      <vt:lpstr>PowerPoint Presentation</vt:lpstr>
      <vt:lpstr>IMPLEMENTASI IDE</vt:lpstr>
      <vt:lpstr>EVALUASI HASIL PERBAIKAN</vt:lpstr>
      <vt:lpstr>Result and Impact In The Cost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Satrio Arif Kurniawan</dc:creator>
  <cp:lastModifiedBy>Hanifah Ainur Diena</cp:lastModifiedBy>
  <cp:revision>168</cp:revision>
  <dcterms:created xsi:type="dcterms:W3CDTF">2025-06-30T03:39:03Z</dcterms:created>
  <dcterms:modified xsi:type="dcterms:W3CDTF">2026-07-23T02:04:54Z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2016</vt:lpwstr>
  </property>
</Properties>
</file>